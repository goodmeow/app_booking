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Deck pelatihan untuk resepsionis, admin, dan operator tablet. Versi acuan: CMS 3.13.0 (Ver 3 Rev 14) dan APK 1.4.5 (26), per 30 Oktober 2026. Gunakan bahasa sederhana; tekankan alur booking → check-in → ruangan kembali tersedia. Screenshot diambil dari UAT local; data pengguna disamarkan.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Jelaskan bahwa deck ini bukan manual teknis. Fokus pada tiga hal: cara memesan, cara check-in, dan apa yang dilakukan kalau ada masalah. Beri tahu peserta bahwa contoh memakai data UAT yang sudah disamarkan.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Gunakan diagram ini sebagai peta besar. CMS = tempat mengatur; tablet = tempat orang datang. Tekankan bahwa tablet bukan mesin terpisah: ia membaca jadwal dari server yang sama.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Jangan berhenti di definisi. Beri contoh: “Meeting 10–11 di Lt 5” adalah booking; “menempel kartu di tablet” adalah check-in; kalau tidak check-in, no-show. Organizer adalah karyawan pemilik meeting; booked by adalah resepsionis yang mencatat.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Tekankan perbedaan resepsionis dan admin. Resepsionis bukan admin penuh; ia membantu booking di lantai yang dipegang. Super Admin hanya untuk perubahan akses dan audit.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Tunjukkan posisi email, password, remember me, dan forgot password. Ingatkan bahwa browser bersama tidak boleh memakai “stay signed in”. Jika akun terkunci, eskalasi ke admin, jangan mencoba berulang kali.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Minta peserta menemukan: tombol Add Meeting, mode Saya/Ruangan/Semua, dan status ruangan. Jelaskan bahwa kalender hanya menampilkan ruangan yang boleh diakses; jika ruangan tidak muncul, cek lantai akun.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Beri contoh nyata untuk setiap mode. Resepsionis biasanya memakai Semua; karyawan memakai Saya; teknisi yang mengecek satu ruangan memakai Ruangan.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Status OFFLINE adalah yang paling berbahaya: orang bisa mengira ruangan kosong padahal tablet hanya kehilangan koneksi. Ajarkan cek last seen di Tablet Devices.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Tunjukkan form asli. Tekankan bahwa tanggal dan jam terpisah; format 24 jam. Lokasi wajib, bukan opsional. Setelah Save, event langsung muncul di tablet.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Bahas contoh salah dan benar. Judul yang spesifik membantu agenda dan laporan. Tamu tanpa akun wajib email lengkap; ini sering salah.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Tunjukkan autocomplete dan validasi email. Jika tamu salah format, editor menampilkan chip merah. Peserta terdaftar memakai akun; tamu cukup email.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Beri contoh: Rani minta resepsionis membuatkan meeting. Resepsionis memilih Rani, bukan dirinya. Kalau field kosong, meeting menjadi milik resepsionis.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Tunjukkan bahwa recurring membuat banyak event nyata. Jika satu slot bentrok, semua dibatalkan.Untuk rapat mingguan, pilih hari; untuk bulanan, pilih tanggal atau hari ke-N.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Jelaskan bahwa database yang mencegah bentrok, bukan sekadar tampilan. Jika server menolak, jangan mencoba berulang; pilih alternatif.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Tunjukkan drawer detail. Tekankan perbedaan scope. Untuk meeting yang sudah lewat, edit mungkin dibatasi; gunakan Cancel hanya untuk booking yang salah.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adalah tampilan favorit resepsionis. Lantai di kanan kartu membantu menyiapkan ruangan tanpa membuka detail. Gunakan agenda untuk briefing pagi.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 checklist operasional, bukan teknis. Sesuaikan jam dengan jam kantor. Tekankan kartu master harus aman dan hanya dipakai orang berwenang.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Tablet bukan sekadar hiasan. Status OFFLINE berarti data tidak bisa dipercaya. Jelaskan privasi: peserta lain tidak melihat subjek/nama lengkap.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Tunjukkan tiga foto tablet. Warna besar membantu orang di depan pintu. Ingatkan bahwa status OFFLINE tidak terlihat di foto ini; jelaskan bahwa tablet abu-abu berarti data tidak bisa dipercaya.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Tunjukkan urutan check-in dan error umum. Kartu master hanya untuk orang berwenang. Jika kartu tidak dikenali, cek status kartu dan batas 2 kartu aktif.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Banyak orang mengira +15 hanya tombol UI. Tekankan server memverifikasi kartu. Jika kartu salah, perpanjangan ditolak.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 easter egg operator untuk mencegah anggota rapat menyelesaikan meeting orang lain. Syarat: sudah check-in dan jam mulai sudah lewat. Jangan restart aplikasi.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Cocok untuk rapat dadakan. Tetap wajib kartu dan aturan lantai. Jika ruangan segera dipakai meeting lain, gunakan “until next” agar tidak menabrak.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Urutan troubleshooting: jaringan/alamat → akun → data. Jangan mengubah pengaturan server tanpa admin. Untuk tablet, revoke/pairing adalah langkah terakhir.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Sesuaikan dengan jam operasional. Tekankan peran resepsionis sebagai helping hand, bukan admin teknis.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Deck CMS akan membahas tiap area lebih dalam. Di training ini, cukup tahu di mana mengelola dan apa yang tidak boleh.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Keamanan bukan hanya IT. Resepsionis memegang kartu master; admin memegang akun. Tekankan pemisahan akun dan pelaporan kartu hilang.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Gunakan checklist ini saat serah terima. Jangan tandai selesai sebelum uji alur end-to-end dan backup restore.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Tutup dengan 10 aturan. Minta peserta memilih tiga yang paling relevan dengan pekerjaannya.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Tutup dengan menegaskan siapa yang dihubungi dan di mana panduan disimpan. Jangan mencantumkan password atau data pribadi di versi cetak.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5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0"/>
            <a:ext cx="7315" cy="6858000"/>
          </a:xfrm>
          <a:prstGeom prst="rect">
            <a:avLst/>
          </a:prstGeom>
          <a:solidFill>
            <a:srgbClr val="25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34440" y="0"/>
            <a:ext cx="7315" cy="6858000"/>
          </a:xfrm>
          <a:prstGeom prst="rect">
            <a:avLst/>
          </a:prstGeom>
          <a:solidFill>
            <a:srgbClr val="25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25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0080"/>
            <a:ext cx="12161520" cy="7315"/>
          </a:xfrm>
          <a:prstGeom prst="rect">
            <a:avLst/>
          </a:prstGeom>
          <a:solidFill>
            <a:srgbClr val="25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61520" cy="7315"/>
          </a:xfrm>
          <a:prstGeom prst="rect">
            <a:avLst/>
          </a:prstGeom>
          <a:solidFill>
            <a:srgbClr val="25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828800"/>
            <a:ext cx="12161520" cy="7315"/>
          </a:xfrm>
          <a:prstGeom prst="rect">
            <a:avLst/>
          </a:prstGeom>
          <a:solidFill>
            <a:srgbClr val="25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09360"/>
            <a:ext cx="12161520" cy="7315"/>
          </a:xfrm>
          <a:prstGeom prst="rect">
            <a:avLst/>
          </a:prstGeom>
          <a:solidFill>
            <a:srgbClr val="25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321040" y="-1005840"/>
            <a:ext cx="5029200" cy="5029200"/>
          </a:xfrm>
          <a:prstGeom prst="ellipse">
            <a:avLst/>
          </a:prstGeom>
          <a:noFill/>
          <a:ln w="15240">
            <a:solidFill>
              <a:srgbClr val="2FB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235440" y="3657600"/>
            <a:ext cx="3931920" cy="3931920"/>
          </a:xfrm>
          <a:prstGeom prst="ellipse">
            <a:avLst/>
          </a:prstGeom>
          <a:noFill/>
          <a:ln w="10160">
            <a:solidFill>
              <a:srgbClr val="3DD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1965960" cy="958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0" y="56692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19" b="1" i="0">
                <a:solidFill>
                  <a:srgbClr val="3DDC84"/>
                </a:solidFill>
                <a:latin typeface="Arial"/>
              </a:rPr>
              <a:t>PANDUAN OPERASIONAL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783080"/>
            <a:ext cx="8046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Arial"/>
              </a:rPr>
              <a:t>RoomBooking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51760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 i="0">
                <a:solidFill>
                  <a:srgbClr val="3DDC84"/>
                </a:solidFill>
                <a:latin typeface="Arial"/>
              </a:rPr>
              <a:t>Panduan CMS &amp; Tablet Kiosk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401568"/>
            <a:ext cx="749807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C9D3CC"/>
                </a:solidFill>
                <a:latin typeface="Arial"/>
              </a:rPr>
              <a:t>Cara memesan ruang meeting, mengelola pengguna dan kartu,
serta memakai tablet di depan ruangan.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52628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1E3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1">
                <a:solidFill>
                  <a:srgbClr val="3DDC84"/>
                </a:solidFill>
                <a:latin typeface="Arial"/>
              </a:rPr>
              <a:t>CMS 3.13.0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30552" y="452628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1E3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1">
                <a:solidFill>
                  <a:srgbClr val="3DDC84"/>
                </a:solidFill>
                <a:latin typeface="Arial"/>
              </a:rPr>
              <a:t>APK 1.4.5 (26)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4526280"/>
            <a:ext cx="1691640" cy="274320"/>
          </a:xfrm>
          <a:prstGeom prst="roundRect">
            <a:avLst>
              <a:gd name="adj" fmla="val 50000"/>
            </a:avLst>
          </a:prstGeom>
          <a:solidFill>
            <a:srgbClr val="1E3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1">
                <a:solidFill>
                  <a:srgbClr val="C9D3CC"/>
                </a:solidFill>
                <a:latin typeface="Arial"/>
              </a:rPr>
              <a:t>30 Oktober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0936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A195"/>
                </a:solidFill>
                <a:latin typeface="Arial"/>
              </a:rPr>
              <a:t>The Prasada · RoomBooking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CARA MEMAKAI PANDUAN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Tiga menit untuk paham alurnya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Panduan ini dibuat untuk orang non-teknis. Baca berurutan, lalu simpan di dekat tablet/resepsionis.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00200"/>
            <a:ext cx="342900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00200"/>
            <a:ext cx="68580" cy="178308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5528" y="180136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7864" y="179222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Untuk siapa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258568"/>
            <a:ext cx="30175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7737F"/>
                </a:solidFill>
                <a:latin typeface="Arial"/>
              </a:rPr>
              <a:t>Karyawan, resepsionis, admin, dan operator tablet yang memakai meeting room The Prasada.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600200"/>
            <a:ext cx="342900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1600200"/>
            <a:ext cx="68580" cy="178308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44568" y="180136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6904" y="179222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Cara membaca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258568"/>
            <a:ext cx="30175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7737F"/>
                </a:solidFill>
                <a:latin typeface="Arial"/>
              </a:rPr>
              <a:t>Setiap bagian punya langkah bernomor. Contoh dan peringatan ditandai kotak warna.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600200"/>
            <a:ext cx="342900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1600200"/>
            <a:ext cx="68580" cy="178308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93608" y="180136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5944" y="179222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Legenda warna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258568"/>
            <a:ext cx="30175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7737F"/>
                </a:solidFill>
                <a:latin typeface="Arial"/>
              </a:rPr>
              <a:t>Hijau = aman/dilakukan. Kuning = perhatian. Merah = jangan/berhenti.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" y="3767328"/>
            <a:ext cx="1920240" cy="274320"/>
          </a:xfrm>
          <a:prstGeom prst="roundRect">
            <a:avLst>
              <a:gd name="adj" fmla="val 50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1">
                <a:solidFill>
                  <a:srgbClr val="2FB46A"/>
                </a:solidFill>
                <a:latin typeface="Arial"/>
              </a:rPr>
              <a:t>HIJAU · aman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97480" y="3767328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FFF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1">
                <a:solidFill>
                  <a:srgbClr val="7A5A00"/>
                </a:solidFill>
                <a:latin typeface="Arial"/>
              </a:rPr>
              <a:t>KUNING · perhatian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12080" y="3767328"/>
            <a:ext cx="1920240" cy="274320"/>
          </a:xfrm>
          <a:prstGeom prst="roundRect">
            <a:avLst>
              <a:gd name="adj" fmla="val 50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1">
                <a:solidFill>
                  <a:srgbClr val="C94B45"/>
                </a:solidFill>
                <a:latin typeface="Arial"/>
              </a:rPr>
              <a:t>MERAH · jangan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443484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" y="4434840"/>
            <a:ext cx="64008" cy="114300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572000"/>
            <a:ext cx="105613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E6B3D"/>
                </a:solidFill>
                <a:latin typeface="Arial"/>
              </a:rPr>
              <a:t>YANG PERLU DIINGAT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8" y="4818888"/>
            <a:ext cx="1056131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E6B3D"/>
                </a:solidFill>
                <a:latin typeface="Arial"/>
              </a:rPr>
              <a:t>Ruangan dipakai bersama. Booking yang benar dan check-in tepat waktu membuat ruangan cepat tersedia untuk orang lain.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833872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67737F"/>
                </a:solidFill>
                <a:latin typeface="Arial"/>
              </a:rPr>
              <a:t>Catatan pembicara ada di setiap slide — buka View → Notes di PowerPoint.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GAMBARAN UMUM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Satu alur, dua alat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CMS untuk mengatur. Tablet untuk dipakai di lapangan. Keduanya membaca data yang sama.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737360"/>
            <a:ext cx="32461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737360"/>
            <a:ext cx="68580" cy="1874519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5528" y="193852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7864" y="1929384"/>
            <a:ext cx="24688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1 · Pesan di CMS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395728"/>
            <a:ext cx="2834639" cy="114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7737F"/>
                </a:solidFill>
                <a:latin typeface="Arial"/>
              </a:rPr>
              <a:t>Buat meeting, pilih ruangan, tanggal, jam, dan peserta. Sistem cek bentrok.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77639" y="2487168"/>
            <a:ext cx="457200" cy="384048"/>
          </a:xfrm>
          <a:prstGeom prst="rightArrow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26280" y="1737360"/>
            <a:ext cx="31089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26280" y="1737360"/>
            <a:ext cx="68580" cy="1874519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727448" y="193852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9784" y="1929384"/>
            <a:ext cx="2331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2 · Server menyimpan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395728"/>
            <a:ext cx="2697479" cy="114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7737F"/>
                </a:solidFill>
                <a:latin typeface="Arial"/>
              </a:rPr>
              <a:t>Booking dicek lantai dan bentroknya, lalu dikirim ke kalender dan tablet.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772400" y="2487168"/>
            <a:ext cx="457200" cy="384048"/>
          </a:xfrm>
          <a:prstGeom prst="rightArrow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21040" y="1737360"/>
            <a:ext cx="32461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21040" y="1737360"/>
            <a:ext cx="68580" cy="1874519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22208" y="193852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4544" y="1929384"/>
            <a:ext cx="24688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3 · Tablet menampilkan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2395728"/>
            <a:ext cx="2834639" cy="114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7737F"/>
                </a:solidFill>
                <a:latin typeface="Arial"/>
              </a:rPr>
              <a:t>Peserta melihat status ruangan, lalu check-in dengan kartu saat meeting mulai.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3977639"/>
            <a:ext cx="10954512" cy="137160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16052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FB46A"/>
                </a:solidFill>
                <a:latin typeface="Arial"/>
              </a:rPr>
              <a:t>HASILNYA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448056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2933"/>
                </a:solidFill>
                <a:latin typeface="Arial"/>
              </a:rPr>
              <a:t>Ruangan terpakai sesuai jadwal,
tidak bentrok, dan kembali tersedia.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4187952"/>
            <a:ext cx="6309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30" b="0" i="0">
                <a:solidFill>
                  <a:srgbClr val="67737F"/>
                </a:solidFill>
                <a:latin typeface="Arial"/>
              </a:rPr>
              <a:t>Tanpa check-in, booking no-show dilepas otomatis setelah 15 menit (default). Event tetap ada di kalender, tetapi ruangan bisa dipakai orang lain.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ISTILAH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Enam kata yang sering muncul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Tidak perlu hafal istilah teknis. Cukup pahami enam hal ini.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554480"/>
            <a:ext cx="33375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554480"/>
            <a:ext cx="68580" cy="178308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5528" y="175564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7864" y="1746504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Meeting / booking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212848"/>
            <a:ext cx="292607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Rapat yang dipesan untuk satu ruangan dan satu rentang waktu.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1554480"/>
            <a:ext cx="33375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5968" y="1554480"/>
            <a:ext cx="68580" cy="178308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17136" y="175564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1746504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PIC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2212848"/>
            <a:ext cx="292607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Orang yang bertanggung jawab dan melakukan check-in.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7575" y="1554480"/>
            <a:ext cx="33375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37575" y="1554480"/>
            <a:ext cx="68580" cy="178308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38744" y="175564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1746504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Check-in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5" y="2212848"/>
            <a:ext cx="292607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Menempelkan kartu di tablet agar meeting dianggap dimulai.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3675887"/>
            <a:ext cx="33375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" y="3675887"/>
            <a:ext cx="68580" cy="178308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5528" y="3877055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97864" y="3867911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No-show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334255"/>
            <a:ext cx="292607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Booking tidak di-check-in sampai batas waktu.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5968" y="3675887"/>
            <a:ext cx="33375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15968" y="3675887"/>
            <a:ext cx="68580" cy="178308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17136" y="3877055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19472" y="3867911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Kiosk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44568" y="4334255"/>
            <a:ext cx="292607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Tablet di depan ruangan yang menampilkan status.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37575" y="3675887"/>
            <a:ext cx="33375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37575" y="3675887"/>
            <a:ext cx="68580" cy="178308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38744" y="3877055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3867911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Organizer / booked by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66175" y="4334255"/>
            <a:ext cx="292607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Pemilik meeting / orang yang mencatat booking.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650992"/>
            <a:ext cx="10954512" cy="566928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4360" y="5650992"/>
            <a:ext cx="64008" cy="566928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788152"/>
            <a:ext cx="105887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E6B3D"/>
                </a:solidFill>
                <a:latin typeface="Arial"/>
              </a:rPr>
              <a:t>INTINYA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528" y="6035040"/>
            <a:ext cx="1058875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E6B3D"/>
                </a:solidFill>
                <a:latin typeface="Arial"/>
              </a:rPr>
              <a:t>Kalau ragu, ingat: booking = janji pakai ruangan; check-in = bukti orangnya datang.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PERAN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Siapa boleh melakukan apa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Satu aturan utama: karyawan hanya memakai lantai yang tercantum di akunnya.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00200"/>
            <a:ext cx="2542032" cy="2880360"/>
          </a:xfrm>
          <a:prstGeom prst="roundRect">
            <a:avLst>
              <a:gd name="adj" fmla="val 8000"/>
            </a:avLst>
          </a:prstGeom>
          <a:solidFill>
            <a:srgbClr val="111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810512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SUPER 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395728"/>
            <a:ext cx="214884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Semua menu, matrix peran, audit. Akun dilindungi. Jangan untuk harian.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9272" y="1600200"/>
            <a:ext cx="2542032" cy="2880360"/>
          </a:xfrm>
          <a:prstGeom prst="roundRect">
            <a:avLst>
              <a:gd name="adj" fmla="val 8000"/>
            </a:avLst>
          </a:prstGeom>
          <a:solidFill>
            <a:srgbClr val="2E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ADMIN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395728"/>
            <a:ext cx="214884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Kelola pengguna, kartu, ruangan, tablet, pengaturan. Bebas lintas lantai.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44184" y="1600200"/>
            <a:ext cx="2542032" cy="2880360"/>
          </a:xfrm>
          <a:prstGeom prst="roundRect">
            <a:avLst>
              <a:gd name="adj" fmla="val 8000"/>
            </a:avLst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5352" y="1810512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RESEPSIONIS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5352" y="2395728"/>
            <a:ext cx="214884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Buat booking atas nama karyawan; lihat/ubah di lantai yang dipegang.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69096" y="1600200"/>
            <a:ext cx="2542032" cy="2880360"/>
          </a:xfrm>
          <a:prstGeom prst="roundRect">
            <a:avLst>
              <a:gd name="adj" fmla="val 8000"/>
            </a:avLst>
          </a:prstGeom>
          <a:solidFill>
            <a:srgbClr val="E8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70264" y="1810512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FB46A"/>
                </a:solidFill>
                <a:latin typeface="Arial"/>
              </a:rPr>
              <a:t>USER / KARYAWAN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0264" y="2395728"/>
            <a:ext cx="214884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2933"/>
                </a:solidFill>
                <a:latin typeface="Arial"/>
              </a:rPr>
              <a:t>Booking sendiri; hanya ruangan di lantai akun; event tempat ia peserta.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4709160"/>
            <a:ext cx="10954512" cy="822960"/>
          </a:xfrm>
          <a:prstGeom prst="roundRect">
            <a:avLst>
              <a:gd name="adj" fmla="val 8000"/>
            </a:avLst>
          </a:prstGeom>
          <a:solidFill>
            <a:srgbClr val="FFF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4709160"/>
            <a:ext cx="64008" cy="822960"/>
          </a:xfrm>
          <a:prstGeom prst="rect">
            <a:avLst/>
          </a:prstGeom>
          <a:solidFill>
            <a:srgbClr val="E8A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8" y="4846320"/>
            <a:ext cx="105887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1" i="0">
                <a:solidFill>
                  <a:srgbClr val="7A5A00"/>
                </a:solidFill>
                <a:latin typeface="Arial"/>
              </a:rPr>
              <a:t>ATURAN LANTAI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" y="5093208"/>
            <a:ext cx="10588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7A5A00"/>
                </a:solidFill>
                <a:latin typeface="Arial"/>
              </a:rPr>
              <a:t>Karyawan yang butuh ruangan di lantai lain menghubungi resepsionis lantai tujuan. Admin bebas lintas lantai. Akun tanpa lantai tidak bisa memesan.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77900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 i="1">
                <a:solidFill>
                  <a:srgbClr val="67737F"/>
                </a:solidFill>
                <a:latin typeface="Arial"/>
              </a:rPr>
              <a:t>Super Admin adalah akun pengaman, bukan akun operasional harian.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CMS · MASUK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Masuk dan mulai dari kalender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Gunakan email kantor. Jangan menyimpan sandi di komputer bersama.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7360"/>
            <a:ext cx="3703320" cy="44032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hot-login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83080"/>
            <a:ext cx="3611880" cy="4311857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480560" y="1591056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9472" y="1572768"/>
            <a:ext cx="6647688" cy="667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0" i="0">
                <a:solidFill>
                  <a:srgbClr val="1F2933"/>
                </a:solidFill>
                <a:latin typeface="Arial"/>
              </a:rPr>
              <a:t>Buka alamat CMS yang diberikan admin di Chrome/Edge/Firefox.</a:t>
            </a:r>
          </a:p>
        </p:txBody>
      </p:sp>
      <p:sp>
        <p:nvSpPr>
          <p:cNvPr id="14" name="Oval 13"/>
          <p:cNvSpPr/>
          <p:nvPr/>
        </p:nvSpPr>
        <p:spPr>
          <a:xfrm>
            <a:off x="4480560" y="2304288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2286000"/>
            <a:ext cx="6647688" cy="667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0" i="0">
                <a:solidFill>
                  <a:srgbClr val="1F2933"/>
                </a:solidFill>
                <a:latin typeface="Arial"/>
              </a:rPr>
              <a:t>Masuk dengan email dan kata sandi akun.</a:t>
            </a:r>
          </a:p>
        </p:txBody>
      </p:sp>
      <p:sp>
        <p:nvSpPr>
          <p:cNvPr id="16" name="Oval 15"/>
          <p:cNvSpPr/>
          <p:nvPr/>
        </p:nvSpPr>
        <p:spPr>
          <a:xfrm>
            <a:off x="4480560" y="3017520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9472" y="2999232"/>
            <a:ext cx="6647688" cy="667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0" i="0">
                <a:solidFill>
                  <a:srgbClr val="1F2933"/>
                </a:solidFill>
                <a:latin typeface="Arial"/>
              </a:rPr>
              <a:t>Centang “Stay signed in” hanya di perangkat pribadi.</a:t>
            </a:r>
          </a:p>
        </p:txBody>
      </p:sp>
      <p:sp>
        <p:nvSpPr>
          <p:cNvPr id="18" name="Oval 17"/>
          <p:cNvSpPr/>
          <p:nvPr/>
        </p:nvSpPr>
        <p:spPr>
          <a:xfrm>
            <a:off x="4480560" y="3730751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19472" y="3712463"/>
            <a:ext cx="6647688" cy="667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0" i="0">
                <a:solidFill>
                  <a:srgbClr val="1F2933"/>
                </a:solidFill>
                <a:latin typeface="Arial"/>
              </a:rPr>
              <a:t>Kalender langsung terbuka; menu Management hanya untuk admin/resepsionis.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60" y="4160520"/>
            <a:ext cx="7086600" cy="868680"/>
          </a:xfrm>
          <a:prstGeom prst="roundRect">
            <a:avLst>
              <a:gd name="adj" fmla="val 8000"/>
            </a:avLst>
          </a:prstGeom>
          <a:solidFill>
            <a:srgbClr val="FFF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80560" y="4160520"/>
            <a:ext cx="64008" cy="868680"/>
          </a:xfrm>
          <a:prstGeom prst="rect">
            <a:avLst/>
          </a:prstGeom>
          <a:solidFill>
            <a:srgbClr val="E8A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1728" y="4297680"/>
            <a:ext cx="6720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7A5A00"/>
                </a:solidFill>
                <a:latin typeface="Arial"/>
              </a:rPr>
              <a:t>LUPA SANDI?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81728" y="4544568"/>
            <a:ext cx="6720840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A5A00"/>
                </a:solidFill>
                <a:latin typeface="Arial"/>
              </a:rPr>
              <a:t>Gunakan tautan “Forgot password?” lalu hubungi admin. Jangan menulis sandi di chat/dokumen.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144768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1">
                <a:solidFill>
                  <a:srgbClr val="67737F"/>
                </a:solidFill>
                <a:latin typeface="Arial"/>
              </a:rPr>
              <a:t>Halaman masuk CMS 3.13.0.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CMS · KALENDER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Membaca layar kalender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Kiri untuk mengatur tampilan; kanan untuk melihat jadwal.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7360"/>
            <a:ext cx="7040879" cy="4493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hot-calendar-week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83080"/>
            <a:ext cx="6949440" cy="440221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4360" y="6217920"/>
            <a:ext cx="6949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1">
                <a:solidFill>
                  <a:srgbClr val="67737F"/>
                </a:solidFill>
                <a:latin typeface="Arial"/>
              </a:rPr>
              <a:t>Kalender mingguan dengan mode Semua. Data contoh; nama pengguna disamarkan.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155448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B46A"/>
                </a:solidFill>
                <a:latin typeface="Arial"/>
              </a:rPr>
              <a:t>Yang perlu dilihat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1938528"/>
            <a:ext cx="315468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80" b="1">
                <a:solidFill>
                  <a:srgbClr val="2FB46A"/>
                </a:solidFill>
                <a:latin typeface="Arial"/>
              </a:rPr>
              <a:t>•  </a:t>
            </a:r>
            <a:r>
              <a:rPr sz="1080" b="1">
                <a:solidFill>
                  <a:srgbClr val="1F2933"/>
                </a:solidFill>
                <a:latin typeface="Arial"/>
              </a:rPr>
              <a:t>Add Meeting — </a:t>
            </a:r>
            <a:r>
              <a:rPr sz="1080">
                <a:solidFill>
                  <a:srgbClr val="1F2933"/>
                </a:solidFill>
                <a:latin typeface="Arial"/>
              </a:rPr>
              <a:t>tombol untuk membuat booking baru.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80" b="1">
                <a:solidFill>
                  <a:srgbClr val="2FB46A"/>
                </a:solidFill>
                <a:latin typeface="Arial"/>
              </a:rPr>
              <a:t>•  </a:t>
            </a:r>
            <a:r>
              <a:rPr sz="1080" b="1">
                <a:solidFill>
                  <a:srgbClr val="1F2933"/>
                </a:solidFill>
                <a:latin typeface="Arial"/>
              </a:rPr>
              <a:t>View — </a:t>
            </a:r>
            <a:r>
              <a:rPr sz="1080">
                <a:solidFill>
                  <a:srgbClr val="1F2933"/>
                </a:solidFill>
                <a:latin typeface="Arial"/>
              </a:rPr>
              <a:t>Saya, Ruangan, atau Semua.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80" b="1">
                <a:solidFill>
                  <a:srgbClr val="2FB46A"/>
                </a:solidFill>
                <a:latin typeface="Arial"/>
              </a:rPr>
              <a:t>•  </a:t>
            </a:r>
            <a:r>
              <a:rPr sz="1080" b="1">
                <a:solidFill>
                  <a:srgbClr val="1F2933"/>
                </a:solidFill>
                <a:latin typeface="Arial"/>
              </a:rPr>
              <a:t>Week / Day / Agenda — </a:t>
            </a:r>
            <a:r>
              <a:rPr sz="1080">
                <a:solidFill>
                  <a:srgbClr val="1F2933"/>
                </a:solidFill>
                <a:latin typeface="Arial"/>
              </a:rPr>
              <a:t>cara melihat jadwal.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80" b="1">
                <a:solidFill>
                  <a:srgbClr val="2FB46A"/>
                </a:solidFill>
                <a:latin typeface="Arial"/>
              </a:rPr>
              <a:t>•  </a:t>
            </a:r>
            <a:r>
              <a:rPr sz="1080" b="1">
                <a:solidFill>
                  <a:srgbClr val="1F2933"/>
                </a:solidFill>
                <a:latin typeface="Arial"/>
              </a:rPr>
              <a:t>Room status — </a:t>
            </a:r>
            <a:r>
              <a:rPr sz="1080">
                <a:solidFill>
                  <a:srgbClr val="1F2933"/>
                </a:solidFill>
                <a:latin typeface="Arial"/>
              </a:rPr>
              <a:t>berapa ruangan dipakai/kosong dan tablet offline.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80" b="1">
                <a:solidFill>
                  <a:srgbClr val="2FB46A"/>
                </a:solidFill>
                <a:latin typeface="Arial"/>
              </a:rPr>
              <a:t>•  </a:t>
            </a:r>
            <a:r>
              <a:rPr sz="1080" b="1">
                <a:solidFill>
                  <a:srgbClr val="1F2933"/>
                </a:solidFill>
                <a:latin typeface="Arial"/>
              </a:rPr>
              <a:t>Refresh — </a:t>
            </a:r>
            <a:r>
              <a:rPr sz="1080">
                <a:solidFill>
                  <a:srgbClr val="1F2933"/>
                </a:solidFill>
                <a:latin typeface="Arial"/>
              </a:rPr>
              <a:t>ambil data terbaru.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5074920"/>
            <a:ext cx="3154680" cy="91440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58200" y="5074920"/>
            <a:ext cx="64008" cy="91440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59368" y="5212080"/>
            <a:ext cx="2788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E6B3D"/>
                </a:solidFill>
                <a:latin typeface="Arial"/>
              </a:rPr>
              <a:t>KLIK EVENT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59368" y="5458968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0" i="0">
                <a:solidFill>
                  <a:srgbClr val="1E6B3D"/>
                </a:solidFill>
                <a:latin typeface="Arial"/>
              </a:rPr>
              <a:t>Detail meeting terbuka di panel kanan: waktu, ruangan, peserta, Edit, dan Cancel.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CMS · MODE JADWAL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Tiga cara melihat jadwal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Pilih mode sesuai pertanyaan yang ingin dijawab.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45920"/>
            <a:ext cx="342900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45920"/>
            <a:ext cx="68580" cy="210312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5528" y="184708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7864" y="183794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Saya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304288"/>
            <a:ext cx="301752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7737F"/>
                </a:solidFill>
                <a:latin typeface="Arial"/>
              </a:rPr>
              <a:t>“Apa jadwal saya hari ini?”
Hanya meeting yang terkait akun Anda — sebagai organizer atau peserta.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645920"/>
            <a:ext cx="342900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1645920"/>
            <a:ext cx="68580" cy="210312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44568" y="184708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6904" y="183794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Ruangan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304288"/>
            <a:ext cx="301752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7737F"/>
                </a:solidFill>
                <a:latin typeface="Arial"/>
              </a:rPr>
              <a:t>“Ruangan ini kosong jam berapa?”
Satu ruangan yang dipilih; cocok untuk mengecek ruangan tertentu.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645920"/>
            <a:ext cx="342900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1645920"/>
            <a:ext cx="68580" cy="210312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93608" y="184708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5944" y="183794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Semua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304288"/>
            <a:ext cx="301752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7737F"/>
                </a:solidFill>
                <a:latin typeface="Arial"/>
              </a:rPr>
              <a:t>“Ruangan mana yang masih kosong?”
Seluruh ruangan yang boleh dilihat; cocok untuk resepsionis/admin.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94360" y="4069080"/>
          <a:ext cx="10927079" cy="15361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49039"/>
                <a:gridCol w="2194560"/>
                <a:gridCol w="4983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FFFFFF"/>
                          </a:solidFill>
                          <a:latin typeface="Arial"/>
                        </a:rPr>
                        <a:t>Kalau pertanyaannya…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FFFFFF"/>
                          </a:solidFill>
                          <a:latin typeface="Arial"/>
                        </a:rPr>
                        <a:t>Pilih mode…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FFFFFF"/>
                          </a:solidFill>
                          <a:latin typeface="Arial"/>
                        </a:rPr>
                        <a:t>Contoh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1F2933"/>
                          </a:solidFill>
                          <a:latin typeface="Arial"/>
                        </a:rPr>
                        <a:t>Jadwal saya sendiri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1F2933"/>
                          </a:solidFill>
                          <a:latin typeface="Arial"/>
                        </a:rPr>
                        <a:t>Saya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1F2933"/>
                          </a:solidFill>
                          <a:latin typeface="Arial"/>
                        </a:rPr>
                        <a:t>Mengecek meeting pribadi sebelum hari ini.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1F2933"/>
                          </a:solidFill>
                          <a:latin typeface="Arial"/>
                        </a:rPr>
                        <a:t>Ruangan tertentu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1F2933"/>
                          </a:solidFill>
                          <a:latin typeface="Arial"/>
                        </a:rPr>
                        <a:t>Ruangan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1F2933"/>
                          </a:solidFill>
                          <a:latin typeface="Arial"/>
                        </a:rPr>
                        <a:t>Melihat apakah Lt 5 MR1 kosong jam 14.00.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1F2933"/>
                          </a:solidFill>
                          <a:latin typeface="Arial"/>
                        </a:rPr>
                        <a:t>Semua ruangan di lantai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1F2933"/>
                          </a:solidFill>
                          <a:latin typeface="Arial"/>
                        </a:rPr>
                        <a:t>Semua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1F2933"/>
                          </a:solidFill>
                          <a:latin typeface="Arial"/>
                        </a:rPr>
                        <a:t>Resepsionis menyiapkan ruangan hari ini.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94360" y="5513832"/>
            <a:ext cx="10927080" cy="566928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4360" y="5513832"/>
            <a:ext cx="64008" cy="566928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" y="5650992"/>
            <a:ext cx="105613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E6B3D"/>
                </a:solidFill>
                <a:latin typeface="Arial"/>
              </a:rPr>
              <a:t>TIPS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" y="5897880"/>
            <a:ext cx="1056131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E6B3D"/>
                </a:solidFill>
                <a:latin typeface="Arial"/>
              </a:rPr>
              <a:t>Di layar sempit, Agenda menjadi tampilan default. Gunakan Agenda untuk melihat rapat berurutan per tanggal.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CMS ·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Empat status yang harus dikenali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Warna yang sama dipakai di CMS dan tablet. Jangan menebak dari warna saja — baca labelnya.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91640"/>
            <a:ext cx="2606040" cy="150876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91640"/>
            <a:ext cx="2606040" cy="9144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1947672"/>
            <a:ext cx="2240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6B3D"/>
                </a:solidFill>
                <a:latin typeface="Arial"/>
              </a:rPr>
              <a:t>TERSEDIA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2313432"/>
            <a:ext cx="22402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E6B3D"/>
                </a:solidFill>
                <a:latin typeface="Arial"/>
              </a:rPr>
              <a:t>Ruangan kosong dan bisa dipakai sekarang.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01568" y="1691640"/>
            <a:ext cx="2606040" cy="1508760"/>
          </a:xfrm>
          <a:prstGeom prst="roundRect">
            <a:avLst>
              <a:gd name="adj" fmla="val 8000"/>
            </a:avLst>
          </a:prstGeom>
          <a:solidFill>
            <a:srgbClr val="FFF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606040" cy="91440"/>
          </a:xfrm>
          <a:prstGeom prst="rect">
            <a:avLst/>
          </a:prstGeom>
          <a:solidFill>
            <a:srgbClr val="E8A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2736" y="1947672"/>
            <a:ext cx="2240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7A5A00"/>
                </a:solidFill>
                <a:latin typeface="Arial"/>
              </a:rPr>
              <a:t>SEGERA MULAI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2313432"/>
            <a:ext cx="22402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A5A00"/>
                </a:solidFill>
                <a:latin typeface="Arial"/>
              </a:rPr>
              <a:t>Meeting berikutnya dekat; check-in sudah dibuka.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1691640"/>
            <a:ext cx="2606040" cy="150876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1691640"/>
            <a:ext cx="2606040" cy="91440"/>
          </a:xfrm>
          <a:prstGeom prst="rect">
            <a:avLst/>
          </a:prstGeom>
          <a:solidFill>
            <a:srgbClr val="C9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9944" y="1947672"/>
            <a:ext cx="2240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8A2D28"/>
                </a:solidFill>
                <a:latin typeface="Arial"/>
              </a:rPr>
              <a:t>SEDANG DIPAKAI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2313432"/>
            <a:ext cx="22402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2D28"/>
                </a:solidFill>
                <a:latin typeface="Arial"/>
              </a:rPr>
              <a:t>Meeting berjalan dan sudah check-in.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5984" y="1691640"/>
            <a:ext cx="2542032" cy="1508760"/>
          </a:xfrm>
          <a:prstGeom prst="roundRect">
            <a:avLst>
              <a:gd name="adj" fmla="val 8000"/>
            </a:avLst>
          </a:prstGeom>
          <a:solidFill>
            <a:srgbClr val="EC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15984" y="1691640"/>
            <a:ext cx="2542032" cy="91440"/>
          </a:xfrm>
          <a:prstGeom prst="rect">
            <a:avLst/>
          </a:prstGeom>
          <a:solidFill>
            <a:srgbClr val="8A9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17152" y="1947672"/>
            <a:ext cx="21762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D454C"/>
                </a:solidFill>
                <a:latin typeface="Arial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313432"/>
            <a:ext cx="2176272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D454C"/>
                </a:solidFill>
                <a:latin typeface="Arial"/>
              </a:rPr>
              <a:t>Tablet tidak terhubung server. Jangan anggap ruangan kosong.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11880"/>
            <a:ext cx="10954512" cy="105156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4360" y="3611880"/>
            <a:ext cx="64008" cy="105156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" y="3749040"/>
            <a:ext cx="105887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1" i="0">
                <a:solidFill>
                  <a:srgbClr val="1E6B3D"/>
                </a:solidFill>
                <a:latin typeface="Arial"/>
              </a:rPr>
              <a:t>CARA AMAN MEMBACA STATUS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" y="3995928"/>
            <a:ext cx="10588752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1E6B3D"/>
                </a:solidFill>
                <a:latin typeface="Arial"/>
              </a:rPr>
              <a:t>Hijau = boleh dipakai. Kuning = siap-siap, jangan mulai meeting baru tanpa cek. Merah = sedang dipakai. Abu = data tidak bisa dipercaya; cek tablet/jaringan.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594360" y="4892040"/>
          <a:ext cx="10927080" cy="11521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26080"/>
                <a:gridCol w="4754880"/>
                <a:gridCol w="32461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</a:rPr>
                        <a:t>Di CMS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</a:rPr>
                        <a:t>Artinya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</a:rPr>
                        <a:t>Tindakan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1F2933"/>
                          </a:solidFill>
                          <a:latin typeface="Arial"/>
                        </a:rPr>
                        <a:t>0 in use / 11 free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1F2933"/>
                          </a:solidFill>
                          <a:latin typeface="Arial"/>
                        </a:rPr>
                        <a:t>Tidak ada meeting berjalan; 11 ruangan bebas.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1F2933"/>
                          </a:solidFill>
                          <a:latin typeface="Arial"/>
                        </a:rPr>
                        <a:t>Bisa booking ruangan yang free.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1F2933"/>
                          </a:solidFill>
                          <a:latin typeface="Arial"/>
                        </a:rPr>
                        <a:t>Tablet offline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1F2933"/>
                          </a:solidFill>
                          <a:latin typeface="Arial"/>
                        </a:rPr>
                        <a:t>Tablet tidak mengirim heartbeat.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1F2933"/>
                          </a:solidFill>
                          <a:latin typeface="Arial"/>
                        </a:rPr>
                        <a:t>Cek Wi-Fi/URL; jangan anggap ruangan kosong.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CMS · BOOKING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Membuat meeting: 6 langkah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Semua field wajib ditandai bintang merah. Lokasi tidak boleh kosong.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7360"/>
            <a:ext cx="6492240" cy="414611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hot-add-meeting-filled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83080"/>
            <a:ext cx="6400800" cy="405467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4360" y="5925312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1">
                <a:solidFill>
                  <a:srgbClr val="67737F"/>
                </a:solidFill>
                <a:latin typeface="Arial"/>
              </a:rPr>
              <a:t>Form Add Meeting dengan data contoh. Field wajib: judul, tanggal/jam, booking type, dan Location.</a:t>
            </a:r>
          </a:p>
        </p:txBody>
      </p:sp>
      <p:sp>
        <p:nvSpPr>
          <p:cNvPr id="13" name="Oval 12"/>
          <p:cNvSpPr/>
          <p:nvPr/>
        </p:nvSpPr>
        <p:spPr>
          <a:xfrm>
            <a:off x="7360920" y="1554480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9832" y="1536192"/>
            <a:ext cx="3721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Klik Add Meeting.</a:t>
            </a:r>
          </a:p>
        </p:txBody>
      </p:sp>
      <p:sp>
        <p:nvSpPr>
          <p:cNvPr id="15" name="Oval 14"/>
          <p:cNvSpPr/>
          <p:nvPr/>
        </p:nvSpPr>
        <p:spPr>
          <a:xfrm>
            <a:off x="7360920" y="2167128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9832" y="2148840"/>
            <a:ext cx="3721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Isi judul yang jelas.</a:t>
            </a:r>
          </a:p>
        </p:txBody>
      </p:sp>
      <p:sp>
        <p:nvSpPr>
          <p:cNvPr id="17" name="Oval 16"/>
          <p:cNvSpPr/>
          <p:nvPr/>
        </p:nvSpPr>
        <p:spPr>
          <a:xfrm>
            <a:off x="7360920" y="2779776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99832" y="2761488"/>
            <a:ext cx="3721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Pilih tanggal &amp; jam mulai/selesai.</a:t>
            </a:r>
          </a:p>
        </p:txBody>
      </p:sp>
      <p:sp>
        <p:nvSpPr>
          <p:cNvPr id="19" name="Oval 18"/>
          <p:cNvSpPr/>
          <p:nvPr/>
        </p:nvSpPr>
        <p:spPr>
          <a:xfrm>
            <a:off x="7360920" y="3392424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99832" y="3374136"/>
            <a:ext cx="3721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Pilih One Time atau Recurring.</a:t>
            </a:r>
          </a:p>
        </p:txBody>
      </p:sp>
      <p:sp>
        <p:nvSpPr>
          <p:cNvPr id="21" name="Oval 20"/>
          <p:cNvSpPr/>
          <p:nvPr/>
        </p:nvSpPr>
        <p:spPr>
          <a:xfrm>
            <a:off x="7360920" y="4005072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99832" y="3986784"/>
            <a:ext cx="3721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Pilih Location — wajib.</a:t>
            </a:r>
          </a:p>
        </p:txBody>
      </p:sp>
      <p:sp>
        <p:nvSpPr>
          <p:cNvPr id="23" name="Oval 22"/>
          <p:cNvSpPr/>
          <p:nvPr/>
        </p:nvSpPr>
        <p:spPr>
          <a:xfrm>
            <a:off x="7360920" y="4617720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9832" y="4599432"/>
            <a:ext cx="3721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Tambahkan peserta, lalu Save.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60920" y="5349240"/>
            <a:ext cx="4160520" cy="73152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60920" y="5349240"/>
            <a:ext cx="64008" cy="73152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62088" y="5486400"/>
            <a:ext cx="379475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E6B3D"/>
                </a:solidFill>
                <a:latin typeface="Arial"/>
              </a:rPr>
              <a:t>CEK CEPAT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62088" y="5733288"/>
            <a:ext cx="37947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1E6B3D"/>
                </a:solidFill>
                <a:latin typeface="Arial"/>
              </a:rPr>
              <a:t>Judul jelas • waktu 24 jam • lokasi benar • peserta sesuai.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CMS · 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Isi form dengan benar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Kesalahan kecil bisa membuat meeting tidak muncul di tablet atau salah ruangan.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11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" y="1572768"/>
          <a:ext cx="10927079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8800"/>
                <a:gridCol w="5120640"/>
                <a:gridCol w="3977639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Bagian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Lakukan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Hindari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Judul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“Rapat Koordinasi Lantai 5”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“Meeting” atau “Rapat” saja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Tanggal/jam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Cek tanggal mulai dan selesai; format 24 jam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Jam selesai lebih awal dari jam mulai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Lokasi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Pilih ruangan yang benar; cek lantai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Mengosongkan Location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Peserta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Pilih akun karyawan; tamu pakai email lengkap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Menulis nama tamu tanpa domain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Berulang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Pilih pola dan “Ulangi sampai”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Membuat 200+ occurrence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94360" y="4736592"/>
            <a:ext cx="5349240" cy="1005840"/>
          </a:xfrm>
          <a:prstGeom prst="roundRect">
            <a:avLst>
              <a:gd name="adj" fmla="val 8000"/>
            </a:avLst>
          </a:prstGeom>
          <a:solidFill>
            <a:srgbClr val="FFF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4736592"/>
            <a:ext cx="64008" cy="1005840"/>
          </a:xfrm>
          <a:prstGeom prst="rect">
            <a:avLst/>
          </a:prstGeom>
          <a:solidFill>
            <a:srgbClr val="E8A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4873752"/>
            <a:ext cx="49834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1" i="0">
                <a:solidFill>
                  <a:srgbClr val="7A5A00"/>
                </a:solidFill>
                <a:latin typeface="Arial"/>
              </a:rPr>
              <a:t>BINTANG MERAH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5120640"/>
            <a:ext cx="49834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A5A00"/>
                </a:solidFill>
                <a:latin typeface="Arial"/>
              </a:rPr>
              <a:t>Semua field wajib harus diisi. Save tidak akan berhasil bila ada yang kosong.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736592"/>
            <a:ext cx="5349240" cy="100584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736592"/>
            <a:ext cx="64008" cy="1005840"/>
          </a:xfrm>
          <a:prstGeom prst="rect">
            <a:avLst/>
          </a:prstGeom>
          <a:solidFill>
            <a:srgbClr val="C9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3368" y="4873752"/>
            <a:ext cx="49834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1" i="0">
                <a:solidFill>
                  <a:srgbClr val="8A2D28"/>
                </a:solidFill>
                <a:latin typeface="Arial"/>
              </a:rPr>
              <a:t>KONFLIK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120640"/>
            <a:ext cx="49834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2D28"/>
                </a:solidFill>
                <a:latin typeface="Arial"/>
              </a:rPr>
              <a:t>Jika ruangan dipakai, jangan paksa. Pilih ruangan lain yang ditawarkan atau ubah jam.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CMS · PESERTA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Mengundang orang dan tamu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Peserta terdaftar cukup dipilih. Tamu tanpa akun memakai email lengkap.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00200"/>
            <a:ext cx="521208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9222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2933"/>
                </a:solidFill>
                <a:latin typeface="Arial"/>
              </a:rPr>
              <a:t>Peserta terdaftar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176272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Ketik minimal 2 huruf, lalu pilih dari daftar.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2697480"/>
            <a:ext cx="2788920" cy="292608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734056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E6B3D"/>
                </a:solidFill>
                <a:latin typeface="Arial"/>
              </a:rPr>
              <a:t>Rani · rani@contoh.id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081528"/>
            <a:ext cx="2788920" cy="292608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118104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E6B3D"/>
                </a:solidFill>
                <a:latin typeface="Arial"/>
              </a:rPr>
              <a:t>Budi · budi@contoh.id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3465576"/>
            <a:ext cx="2788920" cy="292608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502152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E6B3D"/>
                </a:solidFill>
                <a:latin typeface="Arial"/>
              </a:rPr>
              <a:t>Sari · sari@contoh.id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7033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67737F"/>
                </a:solidFill>
                <a:latin typeface="Arial"/>
              </a:rPr>
              <a:t>Muncul sebagai chip; bisa dihapus dengan ×.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1600200"/>
            <a:ext cx="539496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179222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2933"/>
                </a:solidFill>
                <a:latin typeface="Arial"/>
              </a:rPr>
              <a:t>Tamu tanpa akun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176272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Tulis alamat email lengkap, bukan nama saja.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2697480"/>
            <a:ext cx="4526280" cy="384048"/>
          </a:xfrm>
          <a:prstGeom prst="roundRect">
            <a:avLst>
              <a:gd name="adj" fmla="val 8000"/>
            </a:avLst>
          </a:prstGeom>
          <a:solidFill>
            <a:srgbClr val="FFF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74320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7A5A00"/>
                </a:solidFill>
                <a:latin typeface="Arial"/>
              </a:rPr>
              <a:t>tamu@contoh.id  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3182112"/>
            <a:ext cx="4526280" cy="384048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22783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8A2D28"/>
                </a:solidFill>
                <a:latin typeface="Arial"/>
              </a:rPr>
              <a:t>“Pak Tamu”  ✗  tidak ada domain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4343400"/>
            <a:ext cx="5349240" cy="114300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4360" y="4343400"/>
            <a:ext cx="64008" cy="114300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528" y="4480560"/>
            <a:ext cx="49834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E6B3D"/>
                </a:solidFill>
                <a:latin typeface="Arial"/>
              </a:rPr>
              <a:t>MENGAPA PENTING?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" y="4727448"/>
            <a:ext cx="49834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E6B3D"/>
                </a:solidFill>
                <a:latin typeface="Arial"/>
              </a:rPr>
              <a:t>Peserta terdaftar mendapat meeting di kalender dan bisa check-in dengan kartu. Tamu hanya menerima informasi, tidak perlu akun CMS.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26480" y="4343400"/>
            <a:ext cx="5394960" cy="1143000"/>
          </a:xfrm>
          <a:prstGeom prst="roundRect">
            <a:avLst>
              <a:gd name="adj" fmla="val 8000"/>
            </a:avLst>
          </a:prstGeom>
          <a:solidFill>
            <a:srgbClr val="FFF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4343400"/>
            <a:ext cx="64008" cy="1143000"/>
          </a:xfrm>
          <a:prstGeom prst="rect">
            <a:avLst/>
          </a:prstGeom>
          <a:solidFill>
            <a:srgbClr val="E8A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448056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7A5A00"/>
                </a:solidFill>
                <a:latin typeface="Arial"/>
              </a:rPr>
              <a:t>JANGAN LUPA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4727448"/>
            <a:ext cx="5029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A5A00"/>
                </a:solidFill>
                <a:latin typeface="Arial"/>
              </a:rPr>
              <a:t>Peserta yang diundang tetap harus datang dan check-in. Undangan bukan pengganti check-in.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CMS · RESEPSIONIS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Booking untuk karyawan lain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Organizer tetap karyawan. Resepsionis tercatat sebagai “booked by”.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27632"/>
            <a:ext cx="338328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27632"/>
            <a:ext cx="68580" cy="214884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5528" y="1828800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7864" y="1819656"/>
            <a:ext cx="2606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1 · Cari karyawan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286000"/>
            <a:ext cx="29718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7737F"/>
                </a:solidFill>
                <a:latin typeface="Arial"/>
              </a:rPr>
              <a:t>Ketik minimal 2 huruf di “Booking for an employee”, lalu pilih karyawan yang benar.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087368" y="2651760"/>
            <a:ext cx="411480" cy="329184"/>
          </a:xfrm>
          <a:prstGeom prst="rightArrow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17720" y="1627632"/>
            <a:ext cx="338328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17720" y="1627632"/>
            <a:ext cx="68580" cy="214884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818888" y="1828800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21224" y="1819656"/>
            <a:ext cx="2606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2 · Isi meeting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286000"/>
            <a:ext cx="29718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7737F"/>
                </a:solidFill>
                <a:latin typeface="Arial"/>
              </a:rPr>
              <a:t>Judul, tanggal, jam, dan lokasi. Ruangan mengikuti lantai resepsionis.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110727" y="2651760"/>
            <a:ext cx="411480" cy="329184"/>
          </a:xfrm>
          <a:prstGeom prst="rightArrow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41080" y="1627632"/>
            <a:ext cx="288036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41080" y="1627632"/>
            <a:ext cx="68580" cy="214884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842248" y="1828800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4584" y="1819656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3 · Simpan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286000"/>
            <a:ext cx="2468879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7737F"/>
                </a:solidFill>
                <a:latin typeface="Arial"/>
              </a:rPr>
              <a:t>Organizer = karyawan; booked by = resepsionis. Karyawan melihat di kalendernya.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94360" y="4096512"/>
          <a:ext cx="10927080" cy="17556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4389120"/>
                <a:gridCol w="416052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Yang tercatat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Siapa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Contoh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Organizer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Karyawan pemilik meeting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Rani (HC)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Booked by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Resepsionis yang mencatat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Resepsionis Lt 5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Ruangan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Harus di lantai resepsionis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Lt 5 Meeting Room 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94360" y="5596128"/>
            <a:ext cx="10927080" cy="530352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" y="5596128"/>
            <a:ext cx="64008" cy="530352"/>
          </a:xfrm>
          <a:prstGeom prst="rect">
            <a:avLst/>
          </a:prstGeom>
          <a:solidFill>
            <a:srgbClr val="C9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5733288"/>
            <a:ext cx="105613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8A2D28"/>
                </a:solidFill>
                <a:latin typeface="Arial"/>
              </a:rPr>
              <a:t>JANGAN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8" y="5980176"/>
            <a:ext cx="10561319" cy="731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2D28"/>
                </a:solidFill>
                <a:latin typeface="Arial"/>
              </a:rPr>
              <a:t>Jangan memakai field ini saat mengedit meeting yang sudah ada — organizer tidak berpindah.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CMS · BERULANG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Meeting yang berulang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Pilih pola, interval, dan tanggal berhenti. Jangan membuat satu per satu.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00200"/>
            <a:ext cx="342900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7830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FB46A"/>
                </a:solidFill>
                <a:latin typeface="Arial"/>
              </a:rPr>
              <a:t>HARIAN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12140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2933"/>
                </a:solidFill>
                <a:latin typeface="Arial"/>
              </a:rPr>
              <a:t>Setiap 1–N hari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2542032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67737F"/>
                </a:solidFill>
                <a:latin typeface="Arial"/>
              </a:rPr>
              <a:t>Cocok untuk stand-up harian.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600200"/>
            <a:ext cx="342900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5696" y="17830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FB46A"/>
                </a:solidFill>
                <a:latin typeface="Arial"/>
              </a:rPr>
              <a:t>MINGGUAN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696" y="212140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2933"/>
                </a:solidFill>
                <a:latin typeface="Arial"/>
              </a:rPr>
              <a:t>Pilih Senin/Selasa/…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2542032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67737F"/>
                </a:solidFill>
                <a:latin typeface="Arial"/>
              </a:rPr>
              <a:t>Minimal satu hari; bisa beberapa.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54696" y="1600200"/>
            <a:ext cx="342900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55864" y="17830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FB46A"/>
                </a:solidFill>
                <a:latin typeface="Arial"/>
              </a:rPr>
              <a:t>BULANAN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55864" y="212140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2933"/>
                </a:solidFill>
                <a:latin typeface="Arial"/>
              </a:rPr>
              <a:t>Tanggal sama atau hari ke-N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55864" y="2542032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67737F"/>
                </a:solidFill>
                <a:latin typeface="Arial"/>
              </a:rPr>
              <a:t>Tanggal 31 melewati bulan tanpa tanggal 31.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657600"/>
            <a:ext cx="10927080" cy="132588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8404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FB46A"/>
                </a:solidFill>
                <a:latin typeface="Arial"/>
              </a:rPr>
              <a:t>CONTOH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1605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2933"/>
                </a:solidFill>
                <a:latin typeface="Arial"/>
              </a:rPr>
              <a:t>Rapat Koordinasi • setiap Senin • 10.00–11.00 • mulai 2 Nov sampai 21 Des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193792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2FB46A"/>
                </a:solidFill>
                <a:latin typeface="Arial"/>
              </a:rPr>
              <a:t>•  </a:t>
            </a:r>
            <a:r>
              <a:rPr sz="1050">
                <a:solidFill>
                  <a:srgbClr val="1F2933"/>
                </a:solidFill>
                <a:latin typeface="Arial"/>
              </a:rPr>
              <a:t>Maksimal 200 occurrence, horizon 366 hari.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2FB46A"/>
                </a:solidFill>
                <a:latin typeface="Arial"/>
              </a:rPr>
              <a:t>•  </a:t>
            </a:r>
            <a:r>
              <a:rPr sz="1050">
                <a:solidFill>
                  <a:srgbClr val="1F2933"/>
                </a:solidFill>
                <a:latin typeface="Arial"/>
              </a:rPr>
              <a:t>Bentrok satu occurrence → seluruh rangkaian gagal.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5193792"/>
            <a:ext cx="5349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2FB46A"/>
                </a:solidFill>
                <a:latin typeface="Arial"/>
              </a:rPr>
              <a:t>•  </a:t>
            </a:r>
            <a:r>
              <a:rPr sz="1050">
                <a:solidFill>
                  <a:srgbClr val="1F2933"/>
                </a:solidFill>
                <a:latin typeface="Arial"/>
              </a:rPr>
              <a:t>Ubah/batalkan: pilih satu, berikutnya, atau seluruh seri.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2FB46A"/>
                </a:solidFill>
                <a:latin typeface="Arial"/>
              </a:rPr>
              <a:t>•  </a:t>
            </a:r>
            <a:r>
              <a:rPr sz="1050">
                <a:solidFill>
                  <a:srgbClr val="1F2933"/>
                </a:solidFill>
                <a:latin typeface="Arial"/>
              </a:rPr>
              <a:t>Gunakan judul spesifik agar mudah dicari.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CMS · KONFLIK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Kalau ruangan sudah dipakai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Jangan memaksa. Sistem akan menolak, dan Anda kehilangan waktu.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45920"/>
            <a:ext cx="3246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45920"/>
            <a:ext cx="68580" cy="201168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5528" y="184708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7864" y="1837944"/>
            <a:ext cx="24688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Cek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304288"/>
            <a:ext cx="283463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7737F"/>
                </a:solidFill>
                <a:latin typeface="Arial"/>
              </a:rPr>
              <a:t>Saat Save, server memeriksa bentrok ruangan dan lantai.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77639" y="2514600"/>
            <a:ext cx="411480" cy="329184"/>
          </a:xfrm>
          <a:prstGeom prst="rightArrow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26280" y="1645920"/>
            <a:ext cx="3246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26280" y="1645920"/>
            <a:ext cx="68580" cy="2011680"/>
          </a:xfrm>
          <a:prstGeom prst="rect">
            <a:avLst/>
          </a:prstGeom>
          <a:solidFill>
            <a:srgbClr val="E8A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727448" y="1847088"/>
            <a:ext cx="310896" cy="310896"/>
          </a:xfrm>
          <a:prstGeom prst="ellipse">
            <a:avLst/>
          </a:prstGeom>
          <a:solidFill>
            <a:srgbClr val="E8A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9784" y="1837944"/>
            <a:ext cx="24688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Tawaran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304288"/>
            <a:ext cx="283463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7737F"/>
                </a:solidFill>
                <a:latin typeface="Arial"/>
              </a:rPr>
              <a:t>CMS menampilkan ruangan lain yang kosong pada jam itu.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09560" y="2514600"/>
            <a:ext cx="411480" cy="329184"/>
          </a:xfrm>
          <a:prstGeom prst="rightArrow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458200" y="1645920"/>
            <a:ext cx="30632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58200" y="1645920"/>
            <a:ext cx="68580" cy="2011680"/>
          </a:xfrm>
          <a:prstGeom prst="rect">
            <a:avLst/>
          </a:prstGeom>
          <a:solidFill>
            <a:srgbClr val="C9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59368" y="1847088"/>
            <a:ext cx="310896" cy="310896"/>
          </a:xfrm>
          <a:prstGeom prst="ellipse">
            <a:avLst/>
          </a:prstGeom>
          <a:solidFill>
            <a:srgbClr val="C9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61704" y="18379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Putuskan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2304288"/>
            <a:ext cx="26517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7737F"/>
                </a:solidFill>
                <a:latin typeface="Arial"/>
              </a:rPr>
              <a:t>Pilih alternatif, ubah jam, atau batalkan. Jangan mengakali.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3977639"/>
            <a:ext cx="5303520" cy="1051560"/>
          </a:xfrm>
          <a:prstGeom prst="roundRect">
            <a:avLst>
              <a:gd name="adj" fmla="val 8000"/>
            </a:avLst>
          </a:prstGeom>
          <a:solidFill>
            <a:srgbClr val="FFF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4360" y="3977639"/>
            <a:ext cx="64008" cy="1051560"/>
          </a:xfrm>
          <a:prstGeom prst="rect">
            <a:avLst/>
          </a:prstGeom>
          <a:solidFill>
            <a:srgbClr val="E8A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528" y="4114800"/>
            <a:ext cx="493775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7A5A00"/>
                </a:solidFill>
                <a:latin typeface="Arial"/>
              </a:rPr>
              <a:t>YANG SERING TERJADI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" y="4361688"/>
            <a:ext cx="4937759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A5A00"/>
                </a:solidFill>
                <a:latin typeface="Arial"/>
              </a:rPr>
              <a:t>Dua orang memesan ruangan yang sama pada jam yang sama. Server hanya mengizinkan satu; yang kedua harus memilih ruangan lain.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80760" y="3977639"/>
            <a:ext cx="5440680" cy="105156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80760" y="3977639"/>
            <a:ext cx="64008" cy="1051560"/>
          </a:xfrm>
          <a:prstGeom prst="rect">
            <a:avLst/>
          </a:prstGeom>
          <a:solidFill>
            <a:srgbClr val="C9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81928" y="4114800"/>
            <a:ext cx="5074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8A2D28"/>
                </a:solidFill>
                <a:latin typeface="Arial"/>
              </a:rPr>
              <a:t>YANG TIDAK BOLEH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81928" y="4361688"/>
            <a:ext cx="5074920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2D28"/>
                </a:solidFill>
                <a:latin typeface="Arial"/>
              </a:rPr>
              <a:t>Menyimpan paksa, mengganti nama ruangan, atau memakai ruangan tanpa booking. Ini membuat jadwal tablet tidak akurat.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3035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67737F"/>
                </a:solidFill>
                <a:latin typeface="Arial"/>
              </a:rPr>
              <a:t>Preview konflik membantu, tetapi keputusan akhir tetap saat Save. Jika preview tampak kosong, tetap perhatikan pesan server.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CMS · UBAH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Mengubah atau membatalkan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Klik event, lalu pilih Edit atau Cancel. Untuk seri, pilih cakupannya.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00200"/>
            <a:ext cx="342900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00200"/>
            <a:ext cx="68580" cy="164592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5528" y="180136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7864" y="179222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Satu kejadian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258568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Hanya event yang dipilih. Cocok untuk perubahan sekali.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8" y="1600200"/>
            <a:ext cx="342900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8" y="1600200"/>
            <a:ext cx="68580" cy="164592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25696" y="180136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8032" y="179222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Ini dan berikutnya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8" y="2258568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Semua occurrence mulai dari tanggal yang dipilih.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54696" y="1600200"/>
            <a:ext cx="342900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54696" y="1600200"/>
            <a:ext cx="68580" cy="164592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55864" y="180136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179222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Seluruh seri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83296" y="2258568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Semua occurrence dalam seri berubah.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94360" y="3520440"/>
          <a:ext cx="10927080" cy="17556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8800"/>
                <a:gridCol w="5212080"/>
                <a:gridCol w="388620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Arial"/>
                        </a:rPr>
                        <a:t>Aksi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Arial"/>
                        </a:rPr>
                        <a:t>Siapa yang boleh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Arial"/>
                        </a:rPr>
                        <a:t>Efek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1F2933"/>
                          </a:solidFill>
                          <a:latin typeface="Arial"/>
                        </a:rPr>
                        <a:t>Edit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1F2933"/>
                          </a:solidFill>
                          <a:latin typeface="Arial"/>
                        </a:rPr>
                        <a:t>Organizer, resepsionis lantai terkait, admin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1F2933"/>
                          </a:solidFill>
                          <a:latin typeface="Arial"/>
                        </a:rPr>
                        <a:t>Tablet &amp; kalender peserta diperbarui.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1F2933"/>
                          </a:solidFill>
                          <a:latin typeface="Arial"/>
                        </a:rPr>
                        <a:t>Cancel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1F2933"/>
                          </a:solidFill>
                          <a:latin typeface="Arial"/>
                        </a:rPr>
                        <a:t>Sama seperti Edit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1F2933"/>
                          </a:solidFill>
                          <a:latin typeface="Arial"/>
                        </a:rPr>
                        <a:t>Ruangan langsung bebas; event tidak dihapus.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1F2933"/>
                          </a:solidFill>
                          <a:latin typeface="Arial"/>
                        </a:rPr>
                        <a:t>Lihat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1F2933"/>
                          </a:solidFill>
                          <a:latin typeface="Arial"/>
                        </a:rPr>
                        <a:t>Peserta dan pengguna berhak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1F2933"/>
                          </a:solidFill>
                          <a:latin typeface="Arial"/>
                        </a:rPr>
                        <a:t>Tidak bisa mengubah.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94360" y="5257800"/>
            <a:ext cx="10927080" cy="658368"/>
          </a:xfrm>
          <a:prstGeom prst="roundRect">
            <a:avLst>
              <a:gd name="adj" fmla="val 8000"/>
            </a:avLst>
          </a:prstGeom>
          <a:solidFill>
            <a:srgbClr val="FFF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4360" y="5257800"/>
            <a:ext cx="64008" cy="658368"/>
          </a:xfrm>
          <a:prstGeom prst="rect">
            <a:avLst/>
          </a:prstGeom>
          <a:solidFill>
            <a:srgbClr val="E8A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" y="5394960"/>
            <a:ext cx="105613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 i="0">
                <a:solidFill>
                  <a:srgbClr val="7A5A00"/>
                </a:solidFill>
                <a:latin typeface="Arial"/>
              </a:rPr>
              <a:t>RAPAT BERULANG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" y="5641848"/>
            <a:ext cx="10561319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 i="0">
                <a:solidFill>
                  <a:srgbClr val="7A5A00"/>
                </a:solidFill>
                <a:latin typeface="Arial"/>
              </a:rPr>
              <a:t>Perubahan “seluruh seri” tidak bisa dibatalkan per kejadian. Pastikan cakupan sebelum Save.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CMS ·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Agenda: siapkan ruangan hari ini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Agenda menampilkan rapat berurutan per tanggal. Lantai ada di sisi kanan kartu.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7360"/>
            <a:ext cx="6675120" cy="424932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hot-agenda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83080"/>
            <a:ext cx="6583680" cy="415788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4360" y="6016752"/>
            <a:ext cx="6583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1">
                <a:solidFill>
                  <a:srgbClr val="67737F"/>
                </a:solidFill>
                <a:latin typeface="Arial"/>
              </a:rPr>
              <a:t>Contoh agenda; data UAT disamarkan.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15544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B46A"/>
                </a:solidFill>
                <a:latin typeface="Arial"/>
              </a:rPr>
              <a:t>Rutinitas 5 menit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938528"/>
            <a:ext cx="38862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80" b="1">
                <a:solidFill>
                  <a:srgbClr val="2FB46A"/>
                </a:solidFill>
                <a:latin typeface="Arial"/>
              </a:rPr>
              <a:t>•  </a:t>
            </a:r>
            <a:r>
              <a:rPr sz="1080" b="1">
                <a:solidFill>
                  <a:srgbClr val="1F2933"/>
                </a:solidFill>
                <a:latin typeface="Arial"/>
              </a:rPr>
              <a:t>Pagi — </a:t>
            </a:r>
            <a:r>
              <a:rPr sz="1080">
                <a:solidFill>
                  <a:srgbClr val="1F2933"/>
                </a:solidFill>
                <a:latin typeface="Arial"/>
              </a:rPr>
              <a:t>buka Agenda, cek 3 rapat pertama.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80" b="1">
                <a:solidFill>
                  <a:srgbClr val="2FB46A"/>
                </a:solidFill>
                <a:latin typeface="Arial"/>
              </a:rPr>
              <a:t>•  </a:t>
            </a:r>
            <a:r>
              <a:rPr sz="1080" b="1">
                <a:solidFill>
                  <a:srgbClr val="1F2933"/>
                </a:solidFill>
                <a:latin typeface="Arial"/>
              </a:rPr>
              <a:t>Sebelum rapat — </a:t>
            </a:r>
            <a:r>
              <a:rPr sz="1080">
                <a:solidFill>
                  <a:srgbClr val="1F2933"/>
                </a:solidFill>
                <a:latin typeface="Arial"/>
              </a:rPr>
              <a:t>pastikan ruangan &amp; tablet siap.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80" b="1">
                <a:solidFill>
                  <a:srgbClr val="2FB46A"/>
                </a:solidFill>
                <a:latin typeface="Arial"/>
              </a:rPr>
              <a:t>•  </a:t>
            </a:r>
            <a:r>
              <a:rPr sz="1080" b="1">
                <a:solidFill>
                  <a:srgbClr val="1F2933"/>
                </a:solidFill>
                <a:latin typeface="Arial"/>
              </a:rPr>
              <a:t>Saat rapat — </a:t>
            </a:r>
            <a:r>
              <a:rPr sz="1080">
                <a:solidFill>
                  <a:srgbClr val="1F2933"/>
                </a:solidFill>
                <a:latin typeface="Arial"/>
              </a:rPr>
              <a:t>pantau check-in dan +15.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80" b="1">
                <a:solidFill>
                  <a:srgbClr val="2FB46A"/>
                </a:solidFill>
                <a:latin typeface="Arial"/>
              </a:rPr>
              <a:t>•  </a:t>
            </a:r>
            <a:r>
              <a:rPr sz="1080" b="1">
                <a:solidFill>
                  <a:srgbClr val="1F2933"/>
                </a:solidFill>
                <a:latin typeface="Arial"/>
              </a:rPr>
              <a:t>Sore — </a:t>
            </a:r>
            <a:r>
              <a:rPr sz="1080">
                <a:solidFill>
                  <a:srgbClr val="1F2933"/>
                </a:solidFill>
                <a:latin typeface="Arial"/>
              </a:rPr>
              <a:t>cek besok dan tablet offline.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80" b="1">
                <a:solidFill>
                  <a:srgbClr val="2FB46A"/>
                </a:solidFill>
                <a:latin typeface="Arial"/>
              </a:rPr>
              <a:t>•  </a:t>
            </a:r>
            <a:r>
              <a:rPr sz="1080" b="1">
                <a:solidFill>
                  <a:srgbClr val="1F2933"/>
                </a:solidFill>
                <a:latin typeface="Arial"/>
              </a:rPr>
              <a:t>Lantai — </a:t>
            </a:r>
            <a:r>
              <a:rPr sz="1080">
                <a:solidFill>
                  <a:srgbClr val="1F2933"/>
                </a:solidFill>
                <a:latin typeface="Arial"/>
              </a:rPr>
              <a:t>lihat chip lantai di kanan kartu.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5074920"/>
            <a:ext cx="3886200" cy="86868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35240" y="5074920"/>
            <a:ext cx="64008" cy="86868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36408" y="5212080"/>
            <a:ext cx="3520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E6B3D"/>
                </a:solidFill>
                <a:latin typeface="Arial"/>
              </a:rPr>
              <a:t>TIPS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36408" y="5458968"/>
            <a:ext cx="3520440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1E6B3D"/>
                </a:solidFill>
                <a:latin typeface="Arial"/>
              </a:rPr>
              <a:t>Agenda lebih mudah dibaca di ponsel/tablet daripada grid mingguan.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RUTINITAS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Persiapan ruangan hari ini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Lima menit di pagi hari menghemat banyak gangguan di siang hari.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572768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1">
                <a:solidFill>
                  <a:srgbClr val="2FB46A"/>
                </a:solidFill>
                <a:latin typeface="Arial"/>
              </a:rPr>
              <a:t>07.45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709928"/>
            <a:ext cx="320040" cy="18288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15544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2933"/>
                </a:solidFill>
                <a:latin typeface="Arial"/>
              </a:rPr>
              <a:t>Cek tablet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1847088"/>
            <a:ext cx="9052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Online? Status ruangan sesuai? Ada tablet offline?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46888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1">
                <a:solidFill>
                  <a:srgbClr val="2FB46A"/>
                </a:solidFill>
                <a:latin typeface="Arial"/>
              </a:rPr>
              <a:t>08.00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00200" y="2606040"/>
            <a:ext cx="320040" cy="18288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24505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2933"/>
                </a:solidFill>
                <a:latin typeface="Arial"/>
              </a:rPr>
              <a:t>Cek agenda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2743200"/>
            <a:ext cx="9052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Tiga rapat pertama: ruangan, jam, peserta.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364991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1">
                <a:solidFill>
                  <a:srgbClr val="2FB46A"/>
                </a:solidFill>
                <a:latin typeface="Arial"/>
              </a:rPr>
              <a:t>08.15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3502151"/>
            <a:ext cx="320040" cy="18288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3346703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2933"/>
                </a:solidFill>
                <a:latin typeface="Arial"/>
              </a:rPr>
              <a:t>Siapkan kartu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3639311"/>
            <a:ext cx="9052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Kartu master di tempat yang aman; kartu tamu?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4261104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1">
                <a:solidFill>
                  <a:srgbClr val="2FB46A"/>
                </a:solidFill>
                <a:latin typeface="Arial"/>
              </a:rPr>
              <a:t>Sepanjang hari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00200" y="4398264"/>
            <a:ext cx="320040" cy="18288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80" y="424281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2933"/>
                </a:solidFill>
                <a:latin typeface="Arial"/>
              </a:rPr>
              <a:t>Pantau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535424"/>
            <a:ext cx="9052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Check-in, +15, no-show, ruangan kosong.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1572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1">
                <a:solidFill>
                  <a:srgbClr val="2FB46A"/>
                </a:solidFill>
                <a:latin typeface="Arial"/>
              </a:rPr>
              <a:t>16.30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00200" y="5294376"/>
            <a:ext cx="320040" cy="18288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11680" y="513892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2933"/>
                </a:solidFill>
                <a:latin typeface="Arial"/>
              </a:rPr>
              <a:t>Tutup hari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5431536"/>
            <a:ext cx="9052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Cek besok; laporkan tablet/ruangan bermasalah.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989320"/>
            <a:ext cx="10927080" cy="384048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4360" y="5989320"/>
            <a:ext cx="64008" cy="384048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8" y="6126480"/>
            <a:ext cx="105613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1E6B3D"/>
                </a:solidFill>
                <a:latin typeface="Arial"/>
              </a:rPr>
              <a:t>PRINSIP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8" y="6373368"/>
            <a:ext cx="10561319" cy="-73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0" i="0">
                <a:solidFill>
                  <a:srgbClr val="1E6B3D"/>
                </a:solidFill>
                <a:latin typeface="Arial"/>
              </a:rPr>
              <a:t>Lebih baik mencegah no-show daripada menjelaskan ke orang yang kehilangan ruangan.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TABLET ·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Apa yang dilihat peserta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Tablet di depan ruangan adalah sumber informasi pertama — pastikan statusnya benar.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1737360"/>
            <a:ext cx="4297679" cy="249382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ablet-available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83080"/>
            <a:ext cx="4206240" cy="240238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94360" y="1783080"/>
            <a:ext cx="2971800" cy="118872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1783080"/>
            <a:ext cx="2971800" cy="9144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039112"/>
            <a:ext cx="2606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6B3D"/>
                </a:solidFill>
                <a:latin typeface="Arial"/>
              </a:rPr>
              <a:t>TERSEDIA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240487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E6B3D"/>
                </a:solidFill>
                <a:latin typeface="Arial"/>
              </a:rPr>
              <a:t>Hijau — ruangan kosong.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03320" y="1783080"/>
            <a:ext cx="2971800" cy="1188720"/>
          </a:xfrm>
          <a:prstGeom prst="roundRect">
            <a:avLst>
              <a:gd name="adj" fmla="val 8000"/>
            </a:avLst>
          </a:prstGeom>
          <a:solidFill>
            <a:srgbClr val="FFF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1783080"/>
            <a:ext cx="2971800" cy="91440"/>
          </a:xfrm>
          <a:prstGeom prst="rect">
            <a:avLst/>
          </a:prstGeom>
          <a:solidFill>
            <a:srgbClr val="E8A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04487" y="2039112"/>
            <a:ext cx="2606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7A5A00"/>
                </a:solidFill>
                <a:latin typeface="Arial"/>
              </a:rPr>
              <a:t>SEGERA MULAI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4487" y="240487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A5A00"/>
                </a:solidFill>
                <a:latin typeface="Arial"/>
              </a:rPr>
              <a:t>Kuning — check-in dibuka.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154680"/>
            <a:ext cx="2971800" cy="118872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4360" y="3154680"/>
            <a:ext cx="2971800" cy="91440"/>
          </a:xfrm>
          <a:prstGeom prst="rect">
            <a:avLst/>
          </a:prstGeom>
          <a:solidFill>
            <a:srgbClr val="C9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10712"/>
            <a:ext cx="2606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8A2D28"/>
                </a:solidFill>
                <a:latin typeface="Arial"/>
              </a:rPr>
              <a:t>SEDANG DIPAKAI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" y="377647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2D28"/>
                </a:solidFill>
                <a:latin typeface="Arial"/>
              </a:rPr>
              <a:t>Merah — meeting berjalan.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03320" y="3154680"/>
            <a:ext cx="2971800" cy="1188720"/>
          </a:xfrm>
          <a:prstGeom prst="roundRect">
            <a:avLst>
              <a:gd name="adj" fmla="val 8000"/>
            </a:avLst>
          </a:prstGeom>
          <a:solidFill>
            <a:srgbClr val="EC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03320" y="3154680"/>
            <a:ext cx="2971800" cy="91440"/>
          </a:xfrm>
          <a:prstGeom prst="rect">
            <a:avLst/>
          </a:prstGeom>
          <a:solidFill>
            <a:srgbClr val="8A9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04487" y="3410712"/>
            <a:ext cx="2606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D454C"/>
                </a:solidFill>
                <a:latin typeface="Arial"/>
              </a:rPr>
              <a:t>OFFLINE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4487" y="377647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D454C"/>
                </a:solidFill>
                <a:latin typeface="Arial"/>
              </a:rPr>
              <a:t>Abu — jangan anggap kosong.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4526280"/>
            <a:ext cx="6035040" cy="82296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" y="4526280"/>
            <a:ext cx="64008" cy="82296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663440"/>
            <a:ext cx="5669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1E6B3D"/>
                </a:solidFill>
                <a:latin typeface="Arial"/>
              </a:rPr>
              <a:t>PRIVASI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8" y="4910328"/>
            <a:ext cx="5669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0" i="0">
                <a:solidFill>
                  <a:srgbClr val="1E6B3D"/>
                </a:solidFill>
                <a:latin typeface="Arial"/>
              </a:rPr>
              <a:t>Tablet hanya menampilkan nama depan dan jam. Subjek lengkap hanya muncul jika admin mengaktifkan “tampilkan judul”.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TABLET · FOTO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Tiga status di layar tablet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Screenshot APK 1.4.5 dari UAT; nama organizer disamarkan menjadi “Tim”.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7360"/>
            <a:ext cx="3337560" cy="194545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ablet-available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83080"/>
            <a:ext cx="3246120" cy="18540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4360" y="4041648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F2933"/>
                </a:solidFill>
                <a:latin typeface="Arial"/>
              </a:rPr>
              <a:t>TERSEDIA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31596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30" b="0" i="0">
                <a:solidFill>
                  <a:srgbClr val="67737F"/>
                </a:solidFill>
                <a:latin typeface="Arial"/>
              </a:rPr>
              <a:t>Hijau — ruangan kosong.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6200" y="1737360"/>
            <a:ext cx="3337560" cy="194545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ablet-starting-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1783080"/>
            <a:ext cx="3246120" cy="185401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31920" y="4041648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F2933"/>
                </a:solidFill>
                <a:latin typeface="Arial"/>
              </a:rPr>
              <a:t>SEGERA MULAI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31596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30" b="0" i="0">
                <a:solidFill>
                  <a:srgbClr val="67737F"/>
                </a:solidFill>
                <a:latin typeface="Arial"/>
              </a:rPr>
              <a:t>Kuning — check-in dibuka.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1737360"/>
            <a:ext cx="3337560" cy="194545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ablet-inuse-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783080"/>
            <a:ext cx="3246120" cy="185401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269480" y="4041648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F2933"/>
                </a:solidFill>
                <a:latin typeface="Arial"/>
              </a:rPr>
              <a:t>SEDANG DIPAKAI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1596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30" b="0" i="0">
                <a:solidFill>
                  <a:srgbClr val="67737F"/>
                </a:solidFill>
                <a:latin typeface="Arial"/>
              </a:rPr>
              <a:t>Merah — meeting berjalan.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4709160"/>
            <a:ext cx="10927080" cy="86868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4709160"/>
            <a:ext cx="64008" cy="86868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8" y="4846320"/>
            <a:ext cx="105613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 i="0">
                <a:solidFill>
                  <a:srgbClr val="1E6B3D"/>
                </a:solidFill>
                <a:latin typeface="Arial"/>
              </a:rPr>
              <a:t>MENGAPA FOTO INI PENTING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" y="5093208"/>
            <a:ext cx="10561319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E6B3D"/>
                </a:solidFill>
                <a:latin typeface="Arial"/>
              </a:rPr>
              <a:t>Status di tablet harus cocok dengan CMS. Jika tablet OFFLINE atau warna tidak sesuai, jangan menebak — cek koneksi dan status perangkat.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7607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 i="1">
                <a:solidFill>
                  <a:srgbClr val="67737F"/>
                </a:solidFill>
                <a:latin typeface="Arial"/>
              </a:rPr>
              <a:t>Screenshot langsung dari APK 1.4.5 (26) di UAT; data uji, bukan data produksi.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TABLET · CHECK-IN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Check-in dengan kartu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Check-in membuktikan orangnya benar-benar datang. Tanpa itu, ruangan bisa dilepas.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21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1801368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1783080"/>
            <a:ext cx="4498848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1F2933"/>
                </a:solidFill>
                <a:latin typeface="Arial"/>
              </a:rPr>
              <a:t>Tempelkan kartu organizer/peserta ke pembaca NFC.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2578608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1" y="2560320"/>
            <a:ext cx="4498848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1F2933"/>
                </a:solidFill>
                <a:latin typeface="Arial"/>
              </a:rPr>
              <a:t>Atau ketik nomor kartu bila diminta tablet.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3355848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1" y="3337560"/>
            <a:ext cx="4498848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1F2933"/>
                </a:solidFill>
                <a:latin typeface="Arial"/>
              </a:rPr>
              <a:t>Kartu master juga diterima.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4133087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1" y="4114800"/>
            <a:ext cx="4498848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1F2933"/>
                </a:solidFill>
                <a:latin typeface="Arial"/>
              </a:rPr>
              <a:t>Tunggu status berubah menjadi IN USE; waktu check-in tercatat.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852160" y="1783080"/>
          <a:ext cx="5577840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320040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Kartu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Boleh untuk check-in?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933"/>
                          </a:solidFill>
                          <a:latin typeface="Arial"/>
                        </a:rPr>
                        <a:t>Organizer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Ya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933"/>
                          </a:solidFill>
                          <a:latin typeface="Arial"/>
                        </a:rPr>
                        <a:t>Peserta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Ya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933"/>
                          </a:solidFill>
                          <a:latin typeface="Arial"/>
                        </a:rPr>
                        <a:t>Kartu master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Ya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933"/>
                          </a:solidFill>
                          <a:latin typeface="Arial"/>
                        </a:rPr>
                        <a:t>Kartu lain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Tidak — 403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5852160" y="4160520"/>
            <a:ext cx="5669280" cy="822960"/>
          </a:xfrm>
          <a:prstGeom prst="roundRect">
            <a:avLst>
              <a:gd name="adj" fmla="val 8000"/>
            </a:avLst>
          </a:prstGeom>
          <a:solidFill>
            <a:srgbClr val="FFF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52160" y="4160520"/>
            <a:ext cx="64008" cy="822960"/>
          </a:xfrm>
          <a:prstGeom prst="rect">
            <a:avLst/>
          </a:prstGeom>
          <a:solidFill>
            <a:srgbClr val="E8A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53328" y="4297680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7A5A00"/>
                </a:solidFill>
                <a:latin typeface="Arial"/>
              </a:rPr>
              <a:t>JENDELA CHECK-IN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53328" y="4544568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7A5A00"/>
                </a:solidFill>
                <a:latin typeface="Arial"/>
              </a:rPr>
              <a:t>Default: 10 menit sebelum mulai sampai 15 menit setelah mulai. Di luar itu: 409 CHECK_IN_WINDOW.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5166360"/>
            <a:ext cx="4937760" cy="82296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5166360"/>
            <a:ext cx="64008" cy="822960"/>
          </a:xfrm>
          <a:prstGeom prst="rect">
            <a:avLst/>
          </a:prstGeom>
          <a:solidFill>
            <a:srgbClr val="C9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8" y="5303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8A2D28"/>
                </a:solidFill>
                <a:latin typeface="Arial"/>
              </a:rPr>
              <a:t>KARTU HILANG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8" y="55504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0" i="0">
                <a:solidFill>
                  <a:srgbClr val="8A2D28"/>
                </a:solidFill>
                <a:latin typeface="Arial"/>
              </a:rPr>
              <a:t>Jangan pakai kartu yang sudah ditandai hilang. Hubungi admin; kartu bisa diaktifkan kembali bila ditemukan.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TABLET · +15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Meeting berjalan: +15 menit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Perpanjangan hanya untuk meeting yang sudah check-in dan sedang berjalan.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00200"/>
            <a:ext cx="3063240" cy="214884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2880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2FB46A"/>
                </a:solidFill>
                <a:latin typeface="Arial"/>
              </a:rPr>
              <a:t>+15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56032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1E6B3D"/>
                </a:solidFill>
                <a:latin typeface="Arial"/>
              </a:rPr>
              <a:t>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1752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E6B3D"/>
                </a:solidFill>
                <a:latin typeface="Arial"/>
              </a:rPr>
              <a:t>Wajib kartu lagi</a:t>
            </a:r>
          </a:p>
        </p:txBody>
      </p:sp>
      <p:sp>
        <p:nvSpPr>
          <p:cNvPr id="14" name="Oval 13"/>
          <p:cNvSpPr/>
          <p:nvPr/>
        </p:nvSpPr>
        <p:spPr>
          <a:xfrm>
            <a:off x="3977639" y="1618488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1600200"/>
            <a:ext cx="66019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Tekan +15 minutes saat meeting berjalan.</a:t>
            </a:r>
          </a:p>
        </p:txBody>
      </p:sp>
      <p:sp>
        <p:nvSpPr>
          <p:cNvPr id="16" name="Oval 15"/>
          <p:cNvSpPr/>
          <p:nvPr/>
        </p:nvSpPr>
        <p:spPr>
          <a:xfrm>
            <a:off x="3977639" y="2231136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6552" y="2212848"/>
            <a:ext cx="66019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Tempelkan kartu organizer, peserta, atau master.</a:t>
            </a:r>
          </a:p>
        </p:txBody>
      </p:sp>
      <p:sp>
        <p:nvSpPr>
          <p:cNvPr id="18" name="Oval 17"/>
          <p:cNvSpPr/>
          <p:nvPr/>
        </p:nvSpPr>
        <p:spPr>
          <a:xfrm>
            <a:off x="3977639" y="2843784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2" y="2825496"/>
            <a:ext cx="66019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Server memverifikasi kartu — bukan hanya tombol UI.</a:t>
            </a:r>
          </a:p>
        </p:txBody>
      </p:sp>
      <p:sp>
        <p:nvSpPr>
          <p:cNvPr id="20" name="Oval 19"/>
          <p:cNvSpPr/>
          <p:nvPr/>
        </p:nvSpPr>
        <p:spPr>
          <a:xfrm>
            <a:off x="3977639" y="3456432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3438144"/>
            <a:ext cx="66019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Jika slot berikutnya dipakai, perpanjangan ditolak.</a:t>
            </a:r>
          </a:p>
        </p:txBody>
      </p:sp>
      <p:sp>
        <p:nvSpPr>
          <p:cNvPr id="22" name="Oval 21"/>
          <p:cNvSpPr/>
          <p:nvPr/>
        </p:nvSpPr>
        <p:spPr>
          <a:xfrm>
            <a:off x="3977639" y="4069079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6552" y="4050791"/>
            <a:ext cx="66019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Ruangan tetap IN USE sampai selesai.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77639" y="4754880"/>
            <a:ext cx="7040880" cy="777240"/>
          </a:xfrm>
          <a:prstGeom prst="roundRect">
            <a:avLst>
              <a:gd name="adj" fmla="val 8000"/>
            </a:avLst>
          </a:prstGeom>
          <a:solidFill>
            <a:srgbClr val="FFF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77639" y="4754880"/>
            <a:ext cx="64008" cy="777240"/>
          </a:xfrm>
          <a:prstGeom prst="rect">
            <a:avLst/>
          </a:prstGeom>
          <a:solidFill>
            <a:srgbClr val="E8A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8807" y="4892040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7A5A00"/>
                </a:solidFill>
                <a:latin typeface="Arial"/>
              </a:rPr>
              <a:t>BATAS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8807" y="5138928"/>
            <a:ext cx="6675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7A5A00"/>
                </a:solidFill>
                <a:latin typeface="Arial"/>
              </a:rPr>
              <a:t>Perpanjangan 5–60 menit; default 15. Tidak bisa menabrak meeting berikutnya.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4754880"/>
            <a:ext cx="3063240" cy="77724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" y="4754880"/>
            <a:ext cx="64008" cy="777240"/>
          </a:xfrm>
          <a:prstGeom prst="rect">
            <a:avLst/>
          </a:prstGeom>
          <a:solidFill>
            <a:srgbClr val="C9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892040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8A2D28"/>
                </a:solidFill>
                <a:latin typeface="Arial"/>
              </a:rPr>
              <a:t>KALAU GAGAL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8" y="5138928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0" i="0">
                <a:solidFill>
                  <a:srgbClr val="8A2D28"/>
                </a:solidFill>
                <a:latin typeface="Arial"/>
              </a:rPr>
              <a:t>Cek kartu, status meeting, dan jadwal berikutnya.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TABLET · SELESAI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Selesai lebih awal: 5 tap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Tombol Selesai sengaja disembunyikan agar tidak tersenggol.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23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1828800"/>
            <a:ext cx="438912" cy="438912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Oval 10"/>
          <p:cNvSpPr/>
          <p:nvPr/>
        </p:nvSpPr>
        <p:spPr>
          <a:xfrm>
            <a:off x="1252728" y="1828800"/>
            <a:ext cx="438912" cy="438912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1819656" y="1828800"/>
            <a:ext cx="438912" cy="438912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2386584" y="1828800"/>
            <a:ext cx="438912" cy="438912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Oval 13"/>
          <p:cNvSpPr/>
          <p:nvPr/>
        </p:nvSpPr>
        <p:spPr>
          <a:xfrm>
            <a:off x="2953512" y="1828800"/>
            <a:ext cx="438912" cy="438912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42316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tap pill IN 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889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7737F"/>
                </a:solidFill>
                <a:latin typeface="Arial"/>
              </a:rPr>
              <a:t>dalam ±4 detik</a:t>
            </a:r>
          </a:p>
        </p:txBody>
      </p:sp>
      <p:sp>
        <p:nvSpPr>
          <p:cNvPr id="17" name="Oval 16"/>
          <p:cNvSpPr/>
          <p:nvPr/>
        </p:nvSpPr>
        <p:spPr>
          <a:xfrm>
            <a:off x="3886200" y="1664208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1645920"/>
            <a:ext cx="6876288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Pastikan meeting sudah check-in dan pill berstatus IN USE.</a:t>
            </a:r>
          </a:p>
        </p:txBody>
      </p:sp>
      <p:sp>
        <p:nvSpPr>
          <p:cNvPr id="19" name="Oval 18"/>
          <p:cNvSpPr/>
          <p:nvPr/>
        </p:nvSpPr>
        <p:spPr>
          <a:xfrm>
            <a:off x="3886200" y="2304288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5112" y="2286000"/>
            <a:ext cx="6876288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Tap pill IN USE lima kali dalam ±4 detik.</a:t>
            </a:r>
          </a:p>
        </p:txBody>
      </p:sp>
      <p:sp>
        <p:nvSpPr>
          <p:cNvPr id="21" name="Oval 20"/>
          <p:cNvSpPr/>
          <p:nvPr/>
        </p:nvSpPr>
        <p:spPr>
          <a:xfrm>
            <a:off x="3886200" y="2944368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5112" y="2926080"/>
            <a:ext cx="6876288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Tombol “Selesai” muncul di bawah pill.</a:t>
            </a:r>
          </a:p>
        </p:txBody>
      </p:sp>
      <p:sp>
        <p:nvSpPr>
          <p:cNvPr id="23" name="Oval 22"/>
          <p:cNvSpPr/>
          <p:nvPr/>
        </p:nvSpPr>
        <p:spPr>
          <a:xfrm>
            <a:off x="3886200" y="3584447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5112" y="3566159"/>
            <a:ext cx="6876288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Tekan Selesai → konfirmasi → ruangan kembali AVAILABLE.</a:t>
            </a:r>
          </a:p>
        </p:txBody>
      </p:sp>
      <p:sp>
        <p:nvSpPr>
          <p:cNvPr id="25" name="Oval 24"/>
          <p:cNvSpPr/>
          <p:nvPr/>
        </p:nvSpPr>
        <p:spPr>
          <a:xfrm>
            <a:off x="3886200" y="4224527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5112" y="4206240"/>
            <a:ext cx="6876288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Jika check-in lebih awal, tombol aktif setelah jam mulai.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86200" y="4983480"/>
            <a:ext cx="7315200" cy="77724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86200" y="4983480"/>
            <a:ext cx="64008" cy="777240"/>
          </a:xfrm>
          <a:prstGeom prst="rect">
            <a:avLst/>
          </a:prstGeom>
          <a:solidFill>
            <a:srgbClr val="C9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87368" y="5120640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8A2D28"/>
                </a:solidFill>
                <a:latin typeface="Arial"/>
              </a:rPr>
              <a:t>JANGAN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87368" y="5367528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8A2D28"/>
                </a:solidFill>
                <a:latin typeface="Arial"/>
              </a:rPr>
              <a:t>Jangan menutup/restart aplikasi untuk menyelesaikan meeting. Gunakan 5 tap pill.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TABLET · PAKAI LANGSUNG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Ruangan mendadak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Saat ruangan kosong, peserta bisa langsung memakai tanpa booking lewat CMS.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45920"/>
            <a:ext cx="342900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45920"/>
            <a:ext cx="68580" cy="210312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5528" y="184708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7864" y="183794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30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304288"/>
            <a:ext cx="301752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7737F"/>
                </a:solidFill>
                <a:latin typeface="Arial"/>
              </a:rPr>
              <a:t>Langsung pakai 30 menit. Paling cepat untuk rapat dadakan.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645920"/>
            <a:ext cx="342900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1645920"/>
            <a:ext cx="68580" cy="210312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44568" y="184708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6904" y="183794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Pick a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304288"/>
            <a:ext cx="301752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7737F"/>
                </a:solidFill>
                <a:latin typeface="Arial"/>
              </a:rPr>
              <a:t>Pilih durasi atau jam sesuai kebutuhan. Maksimal 4 jam.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645920"/>
            <a:ext cx="342900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1645920"/>
            <a:ext cx="68580" cy="210312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93608" y="184708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5944" y="183794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Use for 10 minutes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304288"/>
            <a:ext cx="301752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7737F"/>
                </a:solidFill>
                <a:latin typeface="Arial"/>
              </a:rPr>
              <a:t>Saat SEGERA MULAI: pakai sampai meeting berikutnya.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4069080"/>
            <a:ext cx="5349240" cy="1005840"/>
          </a:xfrm>
          <a:prstGeom prst="roundRect">
            <a:avLst>
              <a:gd name="adj" fmla="val 8000"/>
            </a:avLst>
          </a:prstGeom>
          <a:solidFill>
            <a:srgbClr val="FFF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" y="4069080"/>
            <a:ext cx="64008" cy="1005840"/>
          </a:xfrm>
          <a:prstGeom prst="rect">
            <a:avLst/>
          </a:prstGeom>
          <a:solidFill>
            <a:srgbClr val="E8A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4206240"/>
            <a:ext cx="49834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 i="0">
                <a:solidFill>
                  <a:srgbClr val="7A5A00"/>
                </a:solidFill>
                <a:latin typeface="Arial"/>
              </a:rPr>
              <a:t>SYARAT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8" y="4453128"/>
            <a:ext cx="49834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A5A00"/>
                </a:solidFill>
                <a:latin typeface="Arial"/>
              </a:rPr>
              <a:t>Wajib kartu karyawan aktif. Lantai kartu harus sama dengan lantai ruangan.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069080"/>
            <a:ext cx="5349240" cy="100584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72200" y="4069080"/>
            <a:ext cx="64008" cy="1005840"/>
          </a:xfrm>
          <a:prstGeom prst="rect">
            <a:avLst/>
          </a:prstGeom>
          <a:solidFill>
            <a:srgbClr val="C9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3368" y="4206240"/>
            <a:ext cx="49834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 i="0">
                <a:solidFill>
                  <a:srgbClr val="8A2D28"/>
                </a:solidFill>
                <a:latin typeface="Arial"/>
              </a:rPr>
              <a:t>BATAS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4453128"/>
            <a:ext cx="49834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2D28"/>
                </a:solidFill>
                <a:latin typeface="Arial"/>
              </a:rPr>
              <a:t>Maksimal 4 jam, hari yang sama, tidak melewati tengah malam, dan tidak menabrak jadwal berikutnya.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39496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1">
                <a:solidFill>
                  <a:srgbClr val="67737F"/>
                </a:solidFill>
                <a:latin typeface="Arial"/>
              </a:rPr>
              <a:t>Pemakaian langsung otomatis check-in dan langsung tampil di CMS. Tidak perlu booking terpisah.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BANTUAN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Jika ada masalah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Cek dari yang paling murah: jaringan/alamat, akun, lalu 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25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" y="1554480"/>
          <a:ext cx="10927080" cy="4023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/>
                <a:gridCol w="5212080"/>
                <a:gridCol w="29718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FFFFFF"/>
                          </a:solidFill>
                          <a:latin typeface="Arial"/>
                        </a:rPr>
                        <a:t>Gejala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FFFFFF"/>
                          </a:solidFill>
                          <a:latin typeface="Arial"/>
                        </a:rPr>
                        <a:t>Cek pertama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FFFFFF"/>
                          </a:solidFill>
                          <a:latin typeface="Arial"/>
                        </a:rPr>
                        <a:t>Eskalasi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Tidak bisa masuk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Alamat CMS, jaringan, email/sandi, akun aktif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Admin; jangan spam login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Tablet OFFLINE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Wi-Fi, URL server, last seen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Revoke + pairing ulang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Kartu tidak dikenali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Terdaftar? aktif? maks. 2 kartu?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Admin/IT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Event tidak muncul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Mode Saya/Ruangan/Semua, tanggal, lantai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Cek auto-release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Tidak bisa Selesai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Sudah check-in? jam mulai lewat?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Five-tap pill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+15 gagal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Kartu benar? slot berikutnya bentrok?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Pilih waktu lain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Ruangan bentrok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Pilih alternatif yang ditawarkan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Jangan paksa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94360" y="5760720"/>
            <a:ext cx="10927080" cy="50292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5760720"/>
            <a:ext cx="64008" cy="50292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5897880"/>
            <a:ext cx="105613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1E6B3D"/>
                </a:solidFill>
                <a:latin typeface="Arial"/>
              </a:rPr>
              <a:t>SAAT MELAPOR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6144768"/>
            <a:ext cx="10561319" cy="4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1E6B3D"/>
                </a:solidFill>
                <a:latin typeface="Arial"/>
              </a:rPr>
              <a:t>Sertakan ruangan, waktu, dan screenshot pesan. Jangan kirim sandi/kartu.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RUTINITAS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Tugas harian resepsionis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Tiga waktu: buka, tengah hari, tutup.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8" y="18288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19" b="1">
                <a:solidFill>
                  <a:srgbClr val="2FB46A"/>
                </a:solidFill>
                <a:latin typeface="Arial"/>
              </a:rPr>
              <a:t>PAGI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28600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 i="0">
                <a:solidFill>
                  <a:srgbClr val="1F2933"/>
                </a:solidFill>
                <a:latin typeface="Arial"/>
              </a:rPr>
              <a:t>Cek tablet online, status ruangan, agenda hari ini, dan kartu master.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24528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25696" y="18288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19" b="1">
                <a:solidFill>
                  <a:srgbClr val="2FB46A"/>
                </a:solidFill>
                <a:latin typeface="Arial"/>
              </a:rPr>
              <a:t>TENGAH HARI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228600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 i="0">
                <a:solidFill>
                  <a:srgbClr val="1F2933"/>
                </a:solidFill>
                <a:latin typeface="Arial"/>
              </a:rPr>
              <a:t>Pantau check-in, +15, no-show, dan ruangan yang selesai lebih awal.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54696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55864" y="18288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19" b="1">
                <a:solidFill>
                  <a:srgbClr val="2FB46A"/>
                </a:solidFill>
                <a:latin typeface="Arial"/>
              </a:rPr>
              <a:t>SORE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55864" y="228600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 i="0">
                <a:solidFill>
                  <a:srgbClr val="1F2933"/>
                </a:solidFill>
                <a:latin typeface="Arial"/>
              </a:rPr>
              <a:t>Cek booking besok, tablet offline, dan laporan pemakaian bila diminta.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977639"/>
            <a:ext cx="10927080" cy="82296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3977639"/>
            <a:ext cx="64008" cy="82296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4114800"/>
            <a:ext cx="105613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E6B3D"/>
                </a:solidFill>
                <a:latin typeface="Arial"/>
              </a:rPr>
              <a:t>SAAT ADA YANG BERTANYA “RUANGAN INI KOSONG?”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361688"/>
            <a:ext cx="10561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E6B3D"/>
                </a:solidFill>
                <a:latin typeface="Arial"/>
              </a:rPr>
              <a:t>Cek CMS mode Ruangan/Semua, lalu lihat tablet. Jangan hanya melihat pintu tertutup.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074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1">
                <a:solidFill>
                  <a:srgbClr val="67737F"/>
                </a:solidFill>
                <a:latin typeface="Arial"/>
              </a:rPr>
              <a:t>Resepsionis adalah penghubung antara karyawan, admin, dan tablet. Komunikasi cepat lebih penting daripada menghafal menu.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ADMIN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Lima area yang dikelola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Pengguna, ruangan, tablet, pengaturan, dan audit.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0020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00200"/>
            <a:ext cx="68580" cy="160020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0136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Pengguna &amp; kartu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28600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 i="0">
                <a:solidFill>
                  <a:srgbClr val="67737F"/>
                </a:solidFill>
                <a:latin typeface="Arial"/>
              </a:rPr>
              <a:t>Cari/filter, role, lantai, maks. 2 kartu, kartu hilang/master.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60020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4528" y="1600200"/>
            <a:ext cx="68580" cy="160020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8" y="180136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Ruangan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28600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 i="0">
                <a:solidFill>
                  <a:srgbClr val="67737F"/>
                </a:solidFill>
                <a:latin typeface="Arial"/>
              </a:rPr>
              <a:t>Nama, lantai, kapasitas, email, fitur; tablet online/offline.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54696" y="160020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54696" y="1600200"/>
            <a:ext cx="68580" cy="160020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83296" y="180136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Perangkat tablet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83296" y="228600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 i="0">
                <a:solidFill>
                  <a:srgbClr val="67737F"/>
                </a:solidFill>
                <a:latin typeface="Arial"/>
              </a:rPr>
              <a:t>LED, judul, last seen, revoke, unduh APK.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42900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3429000"/>
            <a:ext cx="68580" cy="160020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63016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Pengaturan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11480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 i="0">
                <a:solidFill>
                  <a:srgbClr val="67737F"/>
                </a:solidFill>
                <a:latin typeface="Arial"/>
              </a:rPr>
              <a:t>Timer, week start, backup, branding, self signup.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24528" y="342900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24528" y="3429000"/>
            <a:ext cx="68580" cy="1600200"/>
          </a:xfrm>
          <a:prstGeom prst="rect">
            <a:avLst/>
          </a:prstGeom>
          <a:solidFill>
            <a:srgbClr val="111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53128" y="363016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Matrix &amp; audit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411480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 i="0">
                <a:solidFill>
                  <a:srgbClr val="67737F"/>
                </a:solidFill>
                <a:latin typeface="Arial"/>
              </a:rPr>
              <a:t>Super Admin: menu per role, 100 audit terbaru.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349240"/>
            <a:ext cx="10927080" cy="731520"/>
          </a:xfrm>
          <a:prstGeom prst="roundRect">
            <a:avLst>
              <a:gd name="adj" fmla="val 8000"/>
            </a:avLst>
          </a:prstGeom>
          <a:solidFill>
            <a:srgbClr val="FFF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4360" y="5349240"/>
            <a:ext cx="64008" cy="731520"/>
          </a:xfrm>
          <a:prstGeom prst="rect">
            <a:avLst/>
          </a:prstGeom>
          <a:solidFill>
            <a:srgbClr val="E8A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8" y="5486400"/>
            <a:ext cx="105613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7A5A00"/>
                </a:solidFill>
                <a:latin typeface="Arial"/>
              </a:rPr>
              <a:t>JANGAN LUPA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8" y="5733288"/>
            <a:ext cx="10561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A5A00"/>
                </a:solidFill>
                <a:latin typeface="Arial"/>
              </a:rPr>
              <a:t>Backup wajib diuji restore. Audit tidak bisa diubah dari CMS. Super Admin bukan akun harian.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KEAMANAN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Jaga akses dan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Sandi, kartu, dan UID adalah kunci fisik dan digital.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28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" y="1600200"/>
          <a:ext cx="10881360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Arial"/>
                        </a:rPr>
                        <a:t>Lakukan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Arial"/>
                        </a:rPr>
                        <a:t>Jangan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80" b="0">
                          <a:solidFill>
                            <a:srgbClr val="1F2933"/>
                          </a:solidFill>
                          <a:latin typeface="Arial"/>
                        </a:rPr>
                        <a:t>Logout dari komputer bersama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0" b="0">
                          <a:solidFill>
                            <a:srgbClr val="1F2933"/>
                          </a:solidFill>
                          <a:latin typeface="Arial"/>
                        </a:rPr>
                        <a:t>Menulis sandi di sticky note/chat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80" b="0">
                          <a:solidFill>
                            <a:srgbClr val="1F2933"/>
                          </a:solidFill>
                          <a:latin typeface="Arial"/>
                        </a:rPr>
                        <a:t>Laporkan kartu hilang ke admin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0" b="0">
                          <a:solidFill>
                            <a:srgbClr val="1F2933"/>
                          </a:solidFill>
                          <a:latin typeface="Arial"/>
                        </a:rPr>
                        <a:t>Memakai kartu yang sudah ditandai hilang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80" b="0">
                          <a:solidFill>
                            <a:srgbClr val="1F2933"/>
                          </a:solidFill>
                          <a:latin typeface="Arial"/>
                        </a:rPr>
                        <a:t>Minta akun terpisah untuk resepsionis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0" b="0">
                          <a:solidFill>
                            <a:srgbClr val="1F2933"/>
                          </a:solidFill>
                          <a:latin typeface="Arial"/>
                        </a:rPr>
                        <a:t>Meminjam akun admin untuk operasional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80" b="0">
                          <a:solidFill>
                            <a:srgbClr val="1F2933"/>
                          </a:solidFill>
                          <a:latin typeface="Arial"/>
                        </a:rPr>
                        <a:t>Cek nama pelaku di audit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0" b="0">
                          <a:solidFill>
                            <a:srgbClr val="1F2933"/>
                          </a:solidFill>
                          <a:latin typeface="Arial"/>
                        </a:rPr>
                        <a:t>Mengubah matrix lewat SQL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80" b="0">
                          <a:solidFill>
                            <a:srgbClr val="1F2933"/>
                          </a:solidFill>
                          <a:latin typeface="Arial"/>
                        </a:rPr>
                        <a:t>Simpan kartu master di tempat aman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0" b="0">
                          <a:solidFill>
                            <a:srgbClr val="1F2933"/>
                          </a:solidFill>
                          <a:latin typeface="Arial"/>
                        </a:rPr>
                        <a:t>Mengirim nomor kartu/UID lewat chat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94360" y="4937760"/>
            <a:ext cx="10927080" cy="77724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4937760"/>
            <a:ext cx="64008" cy="77724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5074920"/>
            <a:ext cx="105613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E6B3D"/>
                </a:solidFill>
                <a:latin typeface="Arial"/>
              </a:rPr>
              <a:t>PRIVASI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5321808"/>
            <a:ext cx="1056131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E6B3D"/>
                </a:solidFill>
                <a:latin typeface="Arial"/>
              </a:rPr>
              <a:t>Tablet hanya menampilkan nama depan dan jam. Subjek lengkap hanya untuk perangkat yang diizinkan admin.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SERAH TERIMA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Siap dipakai di lantai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Checklist sebelum training dianggap selesai.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29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00200"/>
            <a:ext cx="34290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00200"/>
            <a:ext cx="68580" cy="128016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5528" y="180136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7864" y="179222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Akun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258568"/>
            <a:ext cx="301752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67737F"/>
                </a:solidFill>
                <a:latin typeface="Arial"/>
              </a:rPr>
              <a:t>Super Admin, Admin, Resepsionis dibuat; lantai diisi.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8" y="1600200"/>
            <a:ext cx="34290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8" y="1600200"/>
            <a:ext cx="68580" cy="128016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25696" y="180136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8032" y="179222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Ruangan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8" y="2258568"/>
            <a:ext cx="301752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67737F"/>
                </a:solidFill>
                <a:latin typeface="Arial"/>
              </a:rPr>
              <a:t>Data ruangan lengkap; tablet pairing &amp; Online.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54696" y="1600200"/>
            <a:ext cx="34290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54696" y="1600200"/>
            <a:ext cx="68580" cy="128016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55864" y="180136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179222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Kartu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83296" y="2258568"/>
            <a:ext cx="301752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67737F"/>
                </a:solidFill>
                <a:latin typeface="Arial"/>
              </a:rPr>
              <a:t>Kartu karyawan terdaftar; kartu master aman.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3108960"/>
            <a:ext cx="34290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" y="3108960"/>
            <a:ext cx="68580" cy="128016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5528" y="331012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97864" y="330098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Pengaturan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3767328"/>
            <a:ext cx="301752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67737F"/>
                </a:solidFill>
                <a:latin typeface="Arial"/>
              </a:rPr>
              <a:t>Timer, week start, branding, backup disetel.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24528" y="3108960"/>
            <a:ext cx="34290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24528" y="3108960"/>
            <a:ext cx="68580" cy="128016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425696" y="331012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28032" y="330098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Uji alur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53128" y="3767328"/>
            <a:ext cx="301752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67737F"/>
                </a:solidFill>
                <a:latin typeface="Arial"/>
              </a:rPr>
              <a:t>Booking → check-in → +15 → Selesai → laporan.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54696" y="3108960"/>
            <a:ext cx="34290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854696" y="3108960"/>
            <a:ext cx="68580" cy="128016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055864" y="331012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330098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Dokumen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83296" y="3767328"/>
            <a:ext cx="301752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67737F"/>
                </a:solidFill>
                <a:latin typeface="Arial"/>
              </a:rPr>
              <a:t>Panduan v1.2 dan deck ini disimpan.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892040"/>
            <a:ext cx="10927080" cy="77724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4360" y="4892040"/>
            <a:ext cx="64008" cy="77724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029200"/>
            <a:ext cx="105613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E6B3D"/>
                </a:solidFill>
                <a:latin typeface="Arial"/>
              </a:rPr>
              <a:t>LATIHAN 15 MENIT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528" y="5276088"/>
            <a:ext cx="1056131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E6B3D"/>
                </a:solidFill>
                <a:latin typeface="Arial"/>
              </a:rPr>
              <a:t>Minta peserta mempraktikkan: booking sendiri, booking untuk karyawan, check-in, dan +15.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RINGKASAN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10 aturan emas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Tempel satu halaman ini di meja resepsionis.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30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161848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60020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1F2933"/>
                </a:solidFill>
                <a:latin typeface="Arial"/>
              </a:rPr>
              <a:t>Booking dulu, pakai kemudian.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2459736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441448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1F2933"/>
                </a:solidFill>
                <a:latin typeface="Arial"/>
              </a:rPr>
              <a:t>Isi lokasi dan waktu dengan benar.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3300984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282696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1F2933"/>
                </a:solidFill>
                <a:latin typeface="Arial"/>
              </a:rPr>
              <a:t>Cek bentrok; jangan memaksa.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4142231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123944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1F2933"/>
                </a:solidFill>
                <a:latin typeface="Arial"/>
              </a:rPr>
              <a:t>Datang 5–10 menit lebih awal.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4983479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965192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1F2933"/>
                </a:solidFill>
                <a:latin typeface="Arial"/>
              </a:rPr>
              <a:t>Check-in dengan kartu yang benar.</a:t>
            </a:r>
          </a:p>
        </p:txBody>
      </p:sp>
      <p:sp>
        <p:nvSpPr>
          <p:cNvPr id="20" name="Oval 19"/>
          <p:cNvSpPr/>
          <p:nvPr/>
        </p:nvSpPr>
        <p:spPr>
          <a:xfrm>
            <a:off x="6080760" y="161848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160020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1F2933"/>
                </a:solidFill>
                <a:latin typeface="Arial"/>
              </a:rPr>
              <a:t>Jangan biarkan no-show.</a:t>
            </a:r>
          </a:p>
        </p:txBody>
      </p:sp>
      <p:sp>
        <p:nvSpPr>
          <p:cNvPr id="22" name="Oval 21"/>
          <p:cNvSpPr/>
          <p:nvPr/>
        </p:nvSpPr>
        <p:spPr>
          <a:xfrm>
            <a:off x="6080760" y="2459736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2441448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1F2933"/>
                </a:solidFill>
                <a:latin typeface="Arial"/>
              </a:rPr>
              <a:t>Akhiri dengan Selesai (5 tap) atau auto-release.</a:t>
            </a:r>
          </a:p>
        </p:txBody>
      </p:sp>
      <p:sp>
        <p:nvSpPr>
          <p:cNvPr id="24" name="Oval 23"/>
          <p:cNvSpPr/>
          <p:nvPr/>
        </p:nvSpPr>
        <p:spPr>
          <a:xfrm>
            <a:off x="6080760" y="3300984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282696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1F2933"/>
                </a:solidFill>
                <a:latin typeface="Arial"/>
              </a:rPr>
              <a:t>Satu ruangan, satu tablet aktif.</a:t>
            </a:r>
          </a:p>
        </p:txBody>
      </p:sp>
      <p:sp>
        <p:nvSpPr>
          <p:cNvPr id="26" name="Oval 25"/>
          <p:cNvSpPr/>
          <p:nvPr/>
        </p:nvSpPr>
        <p:spPr>
          <a:xfrm>
            <a:off x="6080760" y="4142231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4123944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1F2933"/>
                </a:solidFill>
                <a:latin typeface="Arial"/>
              </a:rPr>
              <a:t>Jangan bagikan sandi/kartu.</a:t>
            </a:r>
          </a:p>
        </p:txBody>
      </p:sp>
      <p:sp>
        <p:nvSpPr>
          <p:cNvPr id="28" name="Oval 27"/>
          <p:cNvSpPr/>
          <p:nvPr/>
        </p:nvSpPr>
        <p:spPr>
          <a:xfrm>
            <a:off x="6080760" y="4983479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4965192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1F2933"/>
                </a:solidFill>
                <a:latin typeface="Arial"/>
              </a:rPr>
              <a:t>Kalau ragu, tanya resepsionis/admin.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5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822960"/>
            <a:ext cx="914400" cy="4572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3DDC84"/>
                </a:solidFill>
                <a:latin typeface="Arial"/>
              </a:rPr>
              <a:t>PENUTUP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5448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Siap dipakai di lantai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468880"/>
            <a:ext cx="7680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C9D3CC"/>
                </a:solidFill>
                <a:latin typeface="Arial"/>
              </a:rPr>
              <a:t>Simpan panduan ini di dekat tablet dan meja resepsionis.
Perbarui slide versi setiap ada rilis baru.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365760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1E3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1">
                <a:solidFill>
                  <a:srgbClr val="3DDC84"/>
                </a:solidFill>
                <a:latin typeface="Arial"/>
              </a:rPr>
              <a:t>CMS 3.13.0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39112" y="365760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1E3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1">
                <a:solidFill>
                  <a:srgbClr val="3DDC84"/>
                </a:solidFill>
                <a:latin typeface="Arial"/>
              </a:rPr>
              <a:t>APK 1.4.5 (26)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3657600"/>
            <a:ext cx="1691640" cy="274320"/>
          </a:xfrm>
          <a:prstGeom prst="roundRect">
            <a:avLst>
              <a:gd name="adj" fmla="val 50000"/>
            </a:avLst>
          </a:prstGeom>
          <a:solidFill>
            <a:srgbClr val="1E3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1">
                <a:solidFill>
                  <a:srgbClr val="C9D3CC"/>
                </a:solidFill>
                <a:latin typeface="Arial"/>
              </a:rPr>
              <a:t>30 Oktober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6634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FFFFF"/>
                </a:solidFill>
                <a:latin typeface="Arial"/>
              </a:rPr>
              <a:t>Pertanyaan: hubungi Administrator RoomBooking atau tim IT kantor.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2636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A195"/>
                </a:solidFill>
                <a:latin typeface="Arial"/>
              </a:rPr>
              <a:t>The Prasada · RoomBooking</a:t>
            </a:r>
          </a:p>
        </p:txBody>
      </p:sp>
      <p:pic>
        <p:nvPicPr>
          <p:cNvPr id="11" name="Picture 1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5349240"/>
            <a:ext cx="1920240" cy="9360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