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72" r:id="rId24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ini untuk pelatihan admin, resepsionis, dan pengguna. Versi yang dipakai: CMS 3.11.0 dan APK tablet 1.3.7 build 18, per 25 Oktober 2026. Semua screenshot diambil dari sistem UAT yang sama.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pembagian peran: CMS untuk mengatur, tablet untuk dipakai di lapangan. Auto-release no-show adalah alasan kenapa event bisa hilang dari layar tablet walau masih ada di kalender peserta.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letak tautan lupa kata sandi. Ingatkan bahwa sesi 'tetap masuk' menyimpan login di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Beri contoh: resepsionis memakai Floor schedule untuk melihat semua ruangan di lantainya; karyawan memakai My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Perhatikan tanggal dan jam terpisah. Form kosong default sehari penuh; klik slot kalender memakai jam slot itu. Konflik dicek sebelum simpan.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Beda organizer dan booked_by penting saat audit: yang punya rapat adalah karyawan, yang mencatat adalah resepsionis. Ruangan dibatasi ke lantai resepsionis.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Untuk rapat berulang, perhatikan pilihan scope: satu occurrence atau seluruh series. Batalkan rapat yang tidak dipakai agar ruangan cepat dilepas.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 memakai akun UAT; kolom email dan nomor kartu sudah disamarkan. Jangan pernah membagikan nomor kartu/UID di dokumen atau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Timer berlaku untuk semua ruangan. Backup path harus absolut dan bisa ditulis proses server; uji restore, bukan hanya melihat status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Pairing kedua akan ditolak bila tablet lama masih aktif. Cabut dulu supaya tidak ada dua tablet memperebutkan satu ruangan.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Empat warna ini yang harus dikenali resepsionis dan teknisi. OFFLINE berarti data tidak bisa dipercaya; cek koneksi tablet.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Kartu master boleh dipakai untuk check-in dan perpanjangan. Finish sengaja lima ketukan. Bila selesai lebih awal, tombol Finish belum aktif sampai jam mulai.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Pemakaian langsung cocok untuk rapat dadakan. Sistem otomatis menandai check-in karena orangnya sudah di ruangan.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Urutan troubleshooting: jaringan/alamat, akun, lalu data (kartu, filter, auto-release). Jangan mengubah pengaturan server tanpa admin.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ini dipakai saat serah terima ke resepsionis/teknisi. Backup wajib diuji restore, bukan hanya aktif. Kontak sengaja tidak memuat data pribadi.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 dengan menegaskan siapa yang dihubungi dan di mana panduan disimpan. Jangan mencantumkan password atau data pribadi di versi cetak.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bahwa tombol Selesai memang disembunyikan (easter egg) untuk mencegah anggota rapat menyelesaikan meeting orang lain secara tidak sengaja. Syarat: sudah check-in dan meeting sudah berjalan. Jika check-in terlalu awal, kiosk menampilkan waktu tombol Selesai aktif. Jangan memaksa tutup aplikasi.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20840" y="0"/>
            <a:ext cx="5468112" cy="6858000"/>
          </a:xfrm>
          <a:prstGeom prst="rect">
            <a:avLst/>
          </a:prstGeom>
          <a:solidFill>
            <a:srgbClr val="17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20840" y="0"/>
            <a:ext cx="32004" cy="68580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66928"/>
            <a:ext cx="1538203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8" y="1691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DDC84"/>
                </a:solidFill>
                <a:latin typeface="Arial"/>
              </a:rPr>
              <a:t>PANDUAN OPERASIONAL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1680"/>
            <a:ext cx="5760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E9EEF3"/>
                </a:solidFill>
                <a:latin typeface="Arial"/>
              </a:rPr>
              <a:t>RoomBooking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99232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E9EEF3"/>
                </a:solidFill>
                <a:latin typeface="Arial"/>
              </a:rPr>
              <a:t>CMS &amp; Tablet Kiosk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703320"/>
            <a:ext cx="5577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6A2B0"/>
                </a:solidFill>
                <a:latin typeface="Arial"/>
              </a:rPr>
              <a:t>Cara memesan ruang meeting, mengelola pengguna dan kartu,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6A2B0"/>
                </a:solidFill>
                <a:latin typeface="Arial"/>
              </a:rPr>
              <a:t>serta memakai tablet di depan ruangan.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502920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1C242E"/>
          </a:solidFill>
          <a:ln w="12700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1">
                <a:solidFill>
                  <a:srgbClr val="3DDC84"/>
                </a:solidFill>
                <a:latin typeface="Arial"/>
              </a:rPr>
              <a:t>CMS v3.11.0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50292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C242E"/>
          </a:solidFill>
          <a:ln w="127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1">
                <a:solidFill>
                  <a:srgbClr val="F2C14E"/>
                </a:solidFill>
                <a:latin typeface="Arial"/>
              </a:rPr>
              <a:t>APK 1.3.7 (18)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8" y="5029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242E"/>
          </a:solidFill>
          <a:ln w="12700">
            <a:solidFill>
              <a:srgbClr val="96A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1">
                <a:solidFill>
                  <a:srgbClr val="96A2B0"/>
                </a:solidFill>
                <a:latin typeface="Arial"/>
              </a:rPr>
              <a:t>25 Oktober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704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6A2B0"/>
                </a:solidFill>
                <a:latin typeface="Arial"/>
              </a:rPr>
              <a:t>The Prasada · RoomBooking</a:t>
            </a:r>
          </a:p>
        </p:txBody>
      </p:sp>
      <p:pic>
        <p:nvPicPr>
          <p:cNvPr id="13" name="Picture 12" descr="kiosk-avail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325880"/>
            <a:ext cx="4709160" cy="294322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114032" y="1325880"/>
            <a:ext cx="4709160" cy="2943225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2" y="4333113"/>
            <a:ext cx="4709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Tablet ruangan dalam status AVAILABLE (APK 1.3.7).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4892040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3DDC84"/>
                </a:solidFill>
                <a:latin typeface="Arial"/>
              </a:rPr>
              <a:t>ISI PANDUAN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5138928"/>
            <a:ext cx="4526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6A2B0"/>
                </a:solidFill>
                <a:latin typeface="Arial"/>
              </a:rPr>
              <a:t>Kalender &amp; booking  ·  Pengguna dan kartu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6A2B0"/>
                </a:solidFill>
                <a:latin typeface="Arial"/>
              </a:rPr>
              <a:t>Pengaturan &amp; backup  ·  Perangkat tablet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6A2B0"/>
                </a:solidFill>
                <a:latin typeface="Arial"/>
              </a:rPr>
              <a:t>Check-in, perpanjangan, dan troubleshooting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64008" cy="6583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DDC84"/>
                </a:solidFill>
                <a:latin typeface="Arial"/>
              </a:rPr>
              <a:t>GAMBARAN UMUM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9EEF3"/>
                </a:solidFill>
                <a:latin typeface="Arial"/>
              </a:rPr>
              <a:t>Dua alat, satu alur kerja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10972"/>
          </a:xfrm>
          <a:prstGeom prst="rect">
            <a:avLst/>
          </a:prstGeom>
          <a:solidFill>
            <a:srgbClr val="2A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RoomBooking · Panduan CMS &amp; Tablet 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2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81328"/>
            <a:ext cx="512064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450" b="1">
                <a:solidFill>
                  <a:srgbClr val="E9EEF3"/>
                </a:solidFill>
                <a:latin typeface="Arial"/>
              </a:rPr>
              <a:t>CMS (browser): </a:t>
            </a:r>
            <a:r>
              <a:rPr sz="1450">
                <a:solidFill>
                  <a:srgbClr val="E9EEF3"/>
                </a:solidFill>
                <a:latin typeface="Arial"/>
              </a:rPr>
              <a:t>kalender, booking, pengguna &amp; kartu, pengaturan, dan perangkat tablet.</a:t>
            </a:r>
          </a:p>
          <a:p>
            <a:pPr marL="237744" indent="-237744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450" b="1">
                <a:solidFill>
                  <a:srgbClr val="E9EEF3"/>
                </a:solidFill>
                <a:latin typeface="Arial"/>
              </a:rPr>
              <a:t>Tablet kiosk: </a:t>
            </a:r>
            <a:r>
              <a:rPr sz="1450">
                <a:solidFill>
                  <a:srgbClr val="E9EEF3"/>
                </a:solidFill>
                <a:latin typeface="Arial"/>
              </a:rPr>
              <a:t>menampilkan status ruangan, menerima check-in kartu, dan booking langsung.</a:t>
            </a:r>
          </a:p>
          <a:p>
            <a:pPr marL="237744" indent="-237744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450" b="1">
                <a:solidFill>
                  <a:srgbClr val="E9EEF3"/>
                </a:solidFill>
                <a:latin typeface="Arial"/>
              </a:rPr>
              <a:t>Alurnya: </a:t>
            </a:r>
            <a:r>
              <a:rPr sz="1450">
                <a:solidFill>
                  <a:srgbClr val="E9EEF3"/>
                </a:solidFill>
                <a:latin typeface="Arial"/>
              </a:rPr>
              <a:t>rapat dibuat di CMS, tampil di tablet ruangan, lalu check-in saat peserta datang.</a:t>
            </a:r>
          </a:p>
          <a:p>
            <a:pPr marL="237744" indent="-237744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450" b="1">
                <a:solidFill>
                  <a:srgbClr val="E9EEF3"/>
                </a:solidFill>
                <a:latin typeface="Arial"/>
              </a:rPr>
              <a:t>Tanpa check-in, </a:t>
            </a:r>
            <a:r>
              <a:rPr sz="1450">
                <a:solidFill>
                  <a:srgbClr val="E9EEF3"/>
                </a:solidFill>
                <a:latin typeface="Arial"/>
              </a:rPr>
              <a:t>ruangan dilepas otomatis setelah batas waktu (default 15 menit) agar bisa dipakai orang lain.</a:t>
            </a:r>
          </a:p>
          <a:p>
            <a:pPr marL="237744" indent="-237744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450" b="1">
                <a:solidFill>
                  <a:srgbClr val="E9EEF3"/>
                </a:solidFill>
                <a:latin typeface="Arial"/>
              </a:rPr>
              <a:t>Satu ruangan, satu tablet aktif. </a:t>
            </a:r>
            <a:r>
              <a:rPr sz="1450">
                <a:solidFill>
                  <a:srgbClr val="E9EEF3"/>
                </a:solidFill>
                <a:latin typeface="Arial"/>
              </a:rPr>
              <a:t>Tablet lain tidak bisa mengambil alih tanpa dicabut lebih dulu.</a:t>
            </a:r>
          </a:p>
        </p:txBody>
      </p:sp>
      <p:pic>
        <p:nvPicPr>
          <p:cNvPr id="9" name="Picture 8" descr="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7320"/>
            <a:ext cx="5577840" cy="387349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26480" y="1417320"/>
            <a:ext cx="5577840" cy="3873499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5354828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CMS: kalender mingguan dan status ruangan di sidebar.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5687568"/>
            <a:ext cx="146304" cy="146304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5660136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6A2B0"/>
                </a:solidFill>
                <a:latin typeface="Arial"/>
              </a:rPr>
              <a:t>Hijau: kosong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5687568"/>
            <a:ext cx="146304" cy="14630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4968" y="5660136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6A2B0"/>
                </a:solidFill>
                <a:latin typeface="Arial"/>
              </a:rPr>
              <a:t>Kuning: segera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5687568"/>
            <a:ext cx="146304" cy="146304"/>
          </a:xfrm>
          <a:prstGeom prst="rect">
            <a:avLst/>
          </a:prstGeom>
          <a:solidFill>
            <a:srgbClr val="E56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5660136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6A2B0"/>
                </a:solidFill>
                <a:latin typeface="Arial"/>
              </a:rPr>
              <a:t>Merah: dipakai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87000" y="5687568"/>
            <a:ext cx="146304" cy="146304"/>
          </a:xfrm>
          <a:prstGeom prst="rect">
            <a:avLst/>
          </a:prstGeom>
          <a:solidFill>
            <a:srgbClr val="96A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88168" y="5660136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6A2B0"/>
                </a:solidFill>
                <a:latin typeface="Arial"/>
              </a:rPr>
              <a:t>Abu: offline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5989320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96A2B0"/>
                </a:solidFill>
                <a:latin typeface="Arial"/>
              </a:rPr>
              <a:t>Warna yang sama dipakai di layar tablet ruangan.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64008" cy="6583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DDC84"/>
                </a:solidFill>
                <a:latin typeface="Arial"/>
              </a:rPr>
              <a:t>CMS · MASUK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9EEF3"/>
                </a:solidFill>
                <a:latin typeface="Arial"/>
              </a:rPr>
              <a:t>Masuk dan halaman kalender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10972"/>
          </a:xfrm>
          <a:prstGeom prst="rect">
            <a:avLst/>
          </a:prstGeom>
          <a:solidFill>
            <a:srgbClr val="2A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RoomBooking · Panduan CMS &amp; Tablet 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3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63040"/>
            <a:ext cx="4343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400" b="1">
                <a:solidFill>
                  <a:srgbClr val="E9EEF3"/>
                </a:solidFill>
                <a:latin typeface="Arial"/>
              </a:rPr>
              <a:t>Buka alamat CMS </a:t>
            </a:r>
            <a:r>
              <a:rPr sz="1400">
                <a:solidFill>
                  <a:srgbClr val="E9EEF3"/>
                </a:solidFill>
                <a:latin typeface="Arial"/>
              </a:rPr>
              <a:t>yang diberikan admin lewat browser (Chrome/Edge/Firefox).</a:t>
            </a:r>
          </a:p>
          <a:p>
            <a:pPr marL="237744" indent="-237744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400" b="1">
                <a:solidFill>
                  <a:srgbClr val="E9EEF3"/>
                </a:solidFill>
                <a:latin typeface="Arial"/>
              </a:rPr>
              <a:t>Masuk </a:t>
            </a:r>
            <a:r>
              <a:rPr sz="1400">
                <a:solidFill>
                  <a:srgbClr val="E9EEF3"/>
                </a:solidFill>
                <a:latin typeface="Arial"/>
              </a:rPr>
              <a:t>dengan email kantor dan kata sandi akun.</a:t>
            </a:r>
          </a:p>
          <a:p>
            <a:pPr marL="237744" indent="-237744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400" b="1">
                <a:solidFill>
                  <a:srgbClr val="E9EEF3"/>
                </a:solidFill>
                <a:latin typeface="Arial"/>
              </a:rPr>
              <a:t>“Tetap masuk di perangkat ini” </a:t>
            </a:r>
            <a:r>
              <a:rPr sz="1400">
                <a:solidFill>
                  <a:srgbClr val="E9EEF3"/>
                </a:solidFill>
                <a:latin typeface="Arial"/>
              </a:rPr>
              <a:t>hanya untuk komputer sendiri, bukan komputer bersama.</a:t>
            </a:r>
          </a:p>
          <a:p>
            <a:pPr marL="237744" indent="-237744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400" b="1">
                <a:solidFill>
                  <a:srgbClr val="E9EEF3"/>
                </a:solidFill>
                <a:latin typeface="Arial"/>
              </a:rPr>
              <a:t>Setelah masuk, </a:t>
            </a:r>
            <a:r>
              <a:rPr sz="1400">
                <a:solidFill>
                  <a:srgbClr val="E9EEF3"/>
                </a:solidFill>
                <a:latin typeface="Arial"/>
              </a:rPr>
              <a:t>kalender mingguan langsung terbuka; menu Management hanya untuk admin.</a:t>
            </a:r>
          </a:p>
          <a:p>
            <a:pPr marL="237744" indent="-237744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400" b="1">
                <a:solidFill>
                  <a:srgbClr val="E9EEF3"/>
                </a:solidFill>
                <a:latin typeface="Arial"/>
              </a:rPr>
              <a:t>Lupa kata sandi? </a:t>
            </a:r>
            <a:r>
              <a:rPr sz="1400">
                <a:solidFill>
                  <a:srgbClr val="E9EEF3"/>
                </a:solidFill>
                <a:latin typeface="Arial"/>
              </a:rPr>
              <a:t>pakai tautan di halaman Masuk, lalu hubungi administrator.</a:t>
            </a:r>
          </a:p>
        </p:txBody>
      </p:sp>
      <p:pic>
        <p:nvPicPr>
          <p:cNvPr id="9" name="Picture 8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463040"/>
            <a:ext cx="3017520" cy="209549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40680" y="1463040"/>
            <a:ext cx="3017520" cy="2095499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3622548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Halaman Masuk CMS</a:t>
            </a:r>
          </a:p>
        </p:txBody>
      </p:sp>
      <p:pic>
        <p:nvPicPr>
          <p:cNvPr id="12" name="Picture 11" descr="we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463040"/>
            <a:ext cx="2971800" cy="20637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577072" y="1463040"/>
            <a:ext cx="2971800" cy="2063750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3590798"/>
            <a:ext cx="2971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Kalender setelah masuk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434340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6A2B0"/>
                </a:solidFill>
                <a:latin typeface="Arial"/>
              </a:rPr>
              <a:t>Jangan menuliskan kata sandi di dokumen, sticky note, atau grup chat.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6A2B0"/>
                </a:solidFill>
                <a:latin typeface="Arial"/>
              </a:rPr>
              <a:t>Akun resepsionis dipakai bersama? Minta akun terpisah agar jejak booking jelas.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64008" cy="6583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DDC84"/>
                </a:solidFill>
                <a:latin typeface="Arial"/>
              </a:rPr>
              <a:t>CMS · KALENDER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9EEF3"/>
                </a:solidFill>
                <a:latin typeface="Arial"/>
              </a:rPr>
              <a:t>Membaca tampilan jadwal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10972"/>
          </a:xfrm>
          <a:prstGeom prst="rect">
            <a:avLst/>
          </a:prstGeom>
          <a:solidFill>
            <a:srgbClr val="2A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RoomBooking · Panduan CMS &amp; Tablet 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4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6304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E9EEF3"/>
                </a:solidFill>
                <a:latin typeface="Arial"/>
              </a:rPr>
              <a:t>Week / Day / Agenda: </a:t>
            </a:r>
            <a:r>
              <a:rPr sz="1400">
                <a:solidFill>
                  <a:srgbClr val="E9EEF3"/>
                </a:solidFill>
                <a:latin typeface="Arial"/>
              </a:rPr>
              <a:t>seminggu, satu hari, atau daftar rapat berurutan.</a:t>
            </a:r>
          </a:p>
          <a:p>
            <a:pPr marL="237744" indent="-237744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E9EEF3"/>
                </a:solidFill>
                <a:latin typeface="Arial"/>
              </a:rPr>
              <a:t>My schedule: </a:t>
            </a:r>
            <a:r>
              <a:rPr sz="1400">
                <a:solidFill>
                  <a:srgbClr val="E9EEF3"/>
                </a:solidFill>
                <a:latin typeface="Arial"/>
              </a:rPr>
              <a:t>hanya rapat yang terkait akun Anda.</a:t>
            </a:r>
          </a:p>
          <a:p>
            <a:pPr marL="237744" indent="-237744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E9EEF3"/>
                </a:solidFill>
                <a:latin typeface="Arial"/>
              </a:rPr>
              <a:t>Floor schedule: </a:t>
            </a:r>
            <a:r>
              <a:rPr sz="1400">
                <a:solidFill>
                  <a:srgbClr val="E9EEF3"/>
                </a:solidFill>
                <a:latin typeface="Arial"/>
              </a:rPr>
              <a:t>semua ruangan di lantai Anda — default resepsionis.</a:t>
            </a:r>
          </a:p>
          <a:p>
            <a:pPr marL="237744" indent="-237744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E9EEF3"/>
                </a:solidFill>
                <a:latin typeface="Arial"/>
              </a:rPr>
              <a:t>Room schedule: </a:t>
            </a:r>
            <a:r>
              <a:rPr sz="1400">
                <a:solidFill>
                  <a:srgbClr val="E9EEF3"/>
                </a:solidFill>
                <a:latin typeface="Arial"/>
              </a:rPr>
              <a:t>satu ruangan saja; pilih ruangan di sidebar.</a:t>
            </a:r>
          </a:p>
          <a:p>
            <a:pPr marL="237744" indent="-237744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E9EEF3"/>
                </a:solidFill>
                <a:latin typeface="Arial"/>
              </a:rPr>
              <a:t>Sidebar: </a:t>
            </a:r>
            <a:r>
              <a:rPr sz="1400">
                <a:solidFill>
                  <a:srgbClr val="E9EEF3"/>
                </a:solidFill>
                <a:latin typeface="Arial"/>
              </a:rPr>
              <a:t>jumlah ruangan dipakai/kosong dan status tablet (online/offline).</a:t>
            </a:r>
          </a:p>
          <a:p>
            <a:pPr marL="237744" indent="-237744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00" b="1">
                <a:solidFill>
                  <a:srgbClr val="E9EEF3"/>
                </a:solidFill>
                <a:latin typeface="Arial"/>
              </a:rPr>
              <a:t>Klik event </a:t>
            </a:r>
            <a:r>
              <a:rPr sz="1400">
                <a:solidFill>
                  <a:srgbClr val="E9EEF3"/>
                </a:solidFill>
                <a:latin typeface="Arial"/>
              </a:rPr>
              <a:t>untuk membuka detail; tombol Refresh mengambil data terbaru.</a:t>
            </a:r>
          </a:p>
        </p:txBody>
      </p:sp>
      <p:pic>
        <p:nvPicPr>
          <p:cNvPr id="9" name="Picture 8" descr="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17320"/>
            <a:ext cx="5760720" cy="40005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852160" y="1417320"/>
            <a:ext cx="5760720" cy="4000500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5481828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Tampilan Week pada mode My schedule.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580644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6A2B0"/>
                </a:solidFill>
                <a:latin typeface="Arial"/>
              </a:rPr>
              <a:t>Agenda menampilkan rapat sebagai daftar per tanggal — praktis untuk menyiapkan ruangan hari itu.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64008" cy="6583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DDC84"/>
                </a:solidFill>
                <a:latin typeface="Arial"/>
              </a:rPr>
              <a:t>CMS · BOOKING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9EEF3"/>
                </a:solidFill>
                <a:latin typeface="Arial"/>
              </a:rPr>
              <a:t>Membuat booking sendiri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10972"/>
          </a:xfrm>
          <a:prstGeom prst="rect">
            <a:avLst/>
          </a:prstGeom>
          <a:solidFill>
            <a:srgbClr val="2A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RoomBooking · Panduan CMS &amp; Tablet 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5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6304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sz="1350" b="1">
                <a:solidFill>
                  <a:srgbClr val="E9EEF3"/>
                </a:solidFill>
                <a:latin typeface="Arial"/>
              </a:rPr>
              <a:t>Add Meeting </a:t>
            </a:r>
            <a:r>
              <a:rPr sz="1350">
                <a:solidFill>
                  <a:srgbClr val="E9EEF3"/>
                </a:solidFill>
                <a:latin typeface="Arial"/>
              </a:rPr>
              <a:t>membuka form booking.</a:t>
            </a:r>
          </a:p>
          <a:p>
            <a:pPr marL="237744" indent="-237744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sz="1350" b="1">
                <a:solidFill>
                  <a:srgbClr val="E9EEF3"/>
                </a:solidFill>
                <a:latin typeface="Arial"/>
              </a:rPr>
              <a:t>Isi judul, tanggal, jam mulai dan selesai </a:t>
            </a:r>
            <a:r>
              <a:rPr sz="1350">
                <a:solidFill>
                  <a:srgbClr val="E9EEF3"/>
                </a:solidFill>
                <a:latin typeface="Arial"/>
              </a:rPr>
              <a:t>(format 24 jam), lalu pilih ruangan.</a:t>
            </a:r>
          </a:p>
          <a:p>
            <a:pPr marL="237744" indent="-237744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sz="1350" b="1">
                <a:solidFill>
                  <a:srgbClr val="E9EEF3"/>
                </a:solidFill>
                <a:latin typeface="Arial"/>
              </a:rPr>
              <a:t>Peserta: </a:t>
            </a:r>
            <a:r>
              <a:rPr sz="1350">
                <a:solidFill>
                  <a:srgbClr val="E9EEF3"/>
                </a:solidFill>
                <a:latin typeface="Arial"/>
              </a:rPr>
              <a:t>ketik minimal 2 huruf untuk memilih rekan; tamu tanpa akun ditulis email lengkap.</a:t>
            </a:r>
          </a:p>
          <a:p>
            <a:pPr marL="237744" indent="-237744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sz="1350" b="1">
                <a:solidFill>
                  <a:srgbClr val="E9EEF3"/>
                </a:solidFill>
                <a:latin typeface="Arial"/>
              </a:rPr>
              <a:t>Biarkan “Booking for an employee” kosong </a:t>
            </a:r>
            <a:r>
              <a:rPr sz="1350">
                <a:solidFill>
                  <a:srgbClr val="E9EEF3"/>
                </a:solidFill>
                <a:latin typeface="Arial"/>
              </a:rPr>
              <a:t>bila rapat untuk diri sendiri.</a:t>
            </a:r>
          </a:p>
          <a:p>
            <a:pPr marL="237744" indent="-237744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sz="1350" b="1">
                <a:solidFill>
                  <a:srgbClr val="E9EEF3"/>
                </a:solidFill>
                <a:latin typeface="Arial"/>
              </a:rPr>
              <a:t>Sistem memeriksa konflik </a:t>
            </a:r>
            <a:r>
              <a:rPr sz="1350">
                <a:solidFill>
                  <a:srgbClr val="E9EEF3"/>
                </a:solidFill>
                <a:latin typeface="Arial"/>
              </a:rPr>
              <a:t>dan menawarkan ruangan lain yang kosong.</a:t>
            </a:r>
          </a:p>
          <a:p>
            <a:pPr marL="237744" indent="-237744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sz="1350" b="1">
                <a:solidFill>
                  <a:srgbClr val="E9EEF3"/>
                </a:solidFill>
                <a:latin typeface="Arial"/>
              </a:rPr>
              <a:t>Save: </a:t>
            </a:r>
            <a:r>
              <a:rPr sz="1350">
                <a:solidFill>
                  <a:srgbClr val="E9EEF3"/>
                </a:solidFill>
                <a:latin typeface="Arial"/>
              </a:rPr>
              <a:t>event langsung tampil di kalender dan tablet ruangan.</a:t>
            </a:r>
          </a:p>
        </p:txBody>
      </p:sp>
      <p:pic>
        <p:nvPicPr>
          <p:cNvPr id="9" name="Picture 8" descr="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17320"/>
            <a:ext cx="6126480" cy="42545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577840" y="1417320"/>
            <a:ext cx="6126480" cy="4254500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5735828"/>
            <a:ext cx="6126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Form Add Meeting yang sudah terisi. Jam memakai format 24 jam.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64008" cy="6583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DDC84"/>
                </a:solidFill>
                <a:latin typeface="Arial"/>
              </a:rPr>
              <a:t>CMS · BOOKING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9EEF3"/>
                </a:solidFill>
                <a:latin typeface="Arial"/>
              </a:rPr>
              <a:t>Memesan untuk karyawan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10972"/>
          </a:xfrm>
          <a:prstGeom prst="rect">
            <a:avLst/>
          </a:prstGeom>
          <a:solidFill>
            <a:srgbClr val="2A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RoomBooking · Panduan CMS &amp; Tablet 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6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63040"/>
            <a:ext cx="475488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400" b="1">
                <a:solidFill>
                  <a:srgbClr val="E9EEF3"/>
                </a:solidFill>
                <a:latin typeface="Arial"/>
              </a:rPr>
              <a:t>Khusus admin dan resepsionis: </a:t>
            </a:r>
            <a:r>
              <a:rPr sz="1400">
                <a:solidFill>
                  <a:srgbClr val="E9EEF3"/>
                </a:solidFill>
                <a:latin typeface="Arial"/>
              </a:rPr>
              <a:t>isi “Booking for an employee”, cari minimal 2 huruf, lalu pilih karyawan.</a:t>
            </a:r>
          </a:p>
          <a:p>
            <a:pPr marL="237744" indent="-237744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400" b="1">
                <a:solidFill>
                  <a:srgbClr val="E9EEF3"/>
                </a:solidFill>
                <a:latin typeface="Arial"/>
              </a:rPr>
              <a:t>Organizer = karyawan </a:t>
            </a:r>
            <a:r>
              <a:rPr sz="1400">
                <a:solidFill>
                  <a:srgbClr val="E9EEF3"/>
                </a:solidFill>
                <a:latin typeface="Arial"/>
              </a:rPr>
              <a:t>yang dipilih; “booked by” = resepsionis yang memesan.</a:t>
            </a:r>
          </a:p>
          <a:p>
            <a:pPr marL="237744" indent="-237744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400" b="1">
                <a:solidFill>
                  <a:srgbClr val="E9EEF3"/>
                </a:solidFill>
                <a:latin typeface="Arial"/>
              </a:rPr>
              <a:t>Ruangan mengikuti lantai resepsionis. </a:t>
            </a:r>
            <a:r>
              <a:rPr sz="1400">
                <a:solidFill>
                  <a:srgbClr val="E9EEF3"/>
                </a:solidFill>
                <a:latin typeface="Arial"/>
              </a:rPr>
              <a:t>Karyawan tetap melihat rapat ini di kalendernya.</a:t>
            </a:r>
          </a:p>
          <a:p>
            <a:pPr marL="237744" indent="-237744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400" b="1">
                <a:solidFill>
                  <a:srgbClr val="E9EEF3"/>
                </a:solidFill>
                <a:latin typeface="Arial"/>
              </a:rPr>
              <a:t>Kosongkan field </a:t>
            </a:r>
            <a:r>
              <a:rPr sz="1400">
                <a:solidFill>
                  <a:srgbClr val="E9EEF3"/>
                </a:solidFill>
                <a:latin typeface="Arial"/>
              </a:rPr>
              <a:t>bila rapat benar-benar milik resepsionis sendiri.</a:t>
            </a:r>
          </a:p>
          <a:p>
            <a:pPr marL="237744" indent="-237744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400" b="1">
                <a:solidFill>
                  <a:srgbClr val="E9EEF3"/>
                </a:solidFill>
                <a:latin typeface="Arial"/>
              </a:rPr>
              <a:t>Tulis judul yang jelas, </a:t>
            </a:r>
            <a:r>
              <a:rPr sz="1400">
                <a:solidFill>
                  <a:srgbClr val="E9EEF3"/>
                </a:solidFill>
                <a:latin typeface="Arial"/>
              </a:rPr>
              <a:t>misalnya “Rapat Koordinasi Lantai 5”, bukan sekadar “Meeting”.</a:t>
            </a:r>
          </a:p>
        </p:txBody>
      </p:sp>
      <p:pic>
        <p:nvPicPr>
          <p:cNvPr id="9" name="Picture 8" descr="onbe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463040"/>
            <a:ext cx="5989320" cy="415924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15000" y="1463040"/>
            <a:ext cx="5989320" cy="4159249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5686298"/>
            <a:ext cx="5989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Pencarian karyawan pada “Booking for an employee”.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64008" cy="6583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DDC84"/>
                </a:solidFill>
                <a:latin typeface="Arial"/>
              </a:rPr>
              <a:t>CMS · BOOKING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9EEF3"/>
                </a:solidFill>
                <a:latin typeface="Arial"/>
              </a:rPr>
              <a:t>Mengubah atau membatalkan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10972"/>
          </a:xfrm>
          <a:prstGeom prst="rect">
            <a:avLst/>
          </a:prstGeom>
          <a:solidFill>
            <a:srgbClr val="2A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RoomBooking · Panduan CMS &amp; Tablet 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7 / 17</a:t>
            </a:r>
          </a:p>
        </p:txBody>
      </p:sp>
      <p:pic>
        <p:nvPicPr>
          <p:cNvPr id="8" name="Picture 7" descr="dra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417320"/>
            <a:ext cx="6446520" cy="44767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8" y="1417320"/>
            <a:ext cx="6446520" cy="4476750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958078"/>
            <a:ext cx="6446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Panel detail event: tombol EDIT dan CANCEL.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463040"/>
            <a:ext cx="4069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350" b="1">
                <a:solidFill>
                  <a:srgbClr val="E9EEF3"/>
                </a:solidFill>
                <a:latin typeface="Arial"/>
              </a:rPr>
              <a:t>Klik event </a:t>
            </a:r>
            <a:r>
              <a:rPr sz="1350">
                <a:solidFill>
                  <a:srgbClr val="E9EEF3"/>
                </a:solidFill>
                <a:latin typeface="Arial"/>
              </a:rPr>
              <a:t>di kalender atau agenda untuk membuka panel detail.</a:t>
            </a:r>
          </a:p>
          <a:p>
            <a:pPr marL="237744" indent="-237744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350" b="1">
                <a:solidFill>
                  <a:srgbClr val="E9EEF3"/>
                </a:solidFill>
                <a:latin typeface="Arial"/>
              </a:rPr>
              <a:t>EDIT: </a:t>
            </a:r>
            <a:r>
              <a:rPr sz="1350">
                <a:solidFill>
                  <a:srgbClr val="E9EEF3"/>
                </a:solidFill>
                <a:latin typeface="Arial"/>
              </a:rPr>
              <a:t>ubah judul, waktu, ruangan, peserta, atau pola berulang.</a:t>
            </a:r>
          </a:p>
          <a:p>
            <a:pPr marL="237744" indent="-237744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350" b="1">
                <a:solidFill>
                  <a:srgbClr val="E9EEF3"/>
                </a:solidFill>
                <a:latin typeface="Arial"/>
              </a:rPr>
              <a:t>CANCEL: </a:t>
            </a:r>
            <a:r>
              <a:rPr sz="1350">
                <a:solidFill>
                  <a:srgbClr val="E9EEF3"/>
                </a:solidFill>
                <a:latin typeface="Arial"/>
              </a:rPr>
              <a:t>batalkan rapat. Untuk rapat berulang, pilih satu kejadian atau seluruh seri.</a:t>
            </a:r>
          </a:p>
          <a:p>
            <a:pPr marL="237744" indent="-237744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350" b="1">
                <a:solidFill>
                  <a:srgbClr val="E9EEF3"/>
                </a:solidFill>
                <a:latin typeface="Arial"/>
              </a:rPr>
              <a:t>Hak akses: </a:t>
            </a:r>
            <a:r>
              <a:rPr sz="1350">
                <a:solidFill>
                  <a:srgbClr val="E9EEF3"/>
                </a:solidFill>
                <a:latin typeface="Arial"/>
              </a:rPr>
              <a:t>organizer, resepsionis, dan admin. Pengguna lain hanya melihat.</a:t>
            </a:r>
          </a:p>
          <a:p>
            <a:pPr marL="237744" indent="-237744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350" b="1">
                <a:solidFill>
                  <a:srgbClr val="E9EEF3"/>
                </a:solidFill>
                <a:latin typeface="Arial"/>
              </a:rPr>
              <a:t>Setelah disimpan, </a:t>
            </a:r>
            <a:r>
              <a:rPr sz="1350">
                <a:solidFill>
                  <a:srgbClr val="E9EEF3"/>
                </a:solidFill>
                <a:latin typeface="Arial"/>
              </a:rPr>
              <a:t>tablet dan kalender peserta ikut diperbarui.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64008" cy="6583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DDC84"/>
                </a:solidFill>
                <a:latin typeface="Arial"/>
              </a:rPr>
              <a:t>CMS · PENGGUNA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9EEF3"/>
                </a:solidFill>
                <a:latin typeface="Arial"/>
              </a:rPr>
              <a:t>Pengguna dan kartu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10972"/>
          </a:xfrm>
          <a:prstGeom prst="rect">
            <a:avLst/>
          </a:prstGeom>
          <a:solidFill>
            <a:srgbClr val="2A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RoomBooking · Panduan CMS &amp; Tablet 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8 / 17</a:t>
            </a:r>
          </a:p>
        </p:txBody>
      </p:sp>
      <p:pic>
        <p:nvPicPr>
          <p:cNvPr id="8" name="Picture 7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463040"/>
            <a:ext cx="6949440" cy="29921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8" y="1463040"/>
            <a:ext cx="6949440" cy="2992119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519168"/>
            <a:ext cx="6949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Tab Users: data UAT, kolom email dan nomor kartu disamarkan.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508760"/>
            <a:ext cx="36118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Cari </a:t>
            </a:r>
            <a:r>
              <a:rPr sz="1300">
                <a:solidFill>
                  <a:srgbClr val="E9EEF3"/>
                </a:solidFill>
                <a:latin typeface="Arial"/>
              </a:rPr>
              <a:t>nama, email, atau employee ID.</a:t>
            </a:r>
          </a:p>
          <a:p>
            <a:pPr marL="237744" indent="-237744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Atur </a:t>
            </a:r>
            <a:r>
              <a:rPr sz="1300">
                <a:solidFill>
                  <a:srgbClr val="E9EEF3"/>
                </a:solidFill>
                <a:latin typeface="Arial"/>
              </a:rPr>
              <a:t>role (Admin/Resepsionis/User) dan floor group.</a:t>
            </a:r>
          </a:p>
          <a:p>
            <a:pPr marL="237744" indent="-237744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Nomor kartu </a:t>
            </a:r>
            <a:r>
              <a:rPr sz="1300">
                <a:solidFill>
                  <a:srgbClr val="E9EEF3"/>
                </a:solidFill>
                <a:latin typeface="Arial"/>
              </a:rPr>
              <a:t>per baris; tandai kartu master bila kartu itu boleh membuka semua pintu.</a:t>
            </a:r>
          </a:p>
          <a:p>
            <a:pPr marL="237744" indent="-237744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Maksimal 2 kartu aktif </a:t>
            </a:r>
            <a:r>
              <a:rPr sz="1300">
                <a:solidFill>
                  <a:srgbClr val="E9EEF3"/>
                </a:solidFill>
                <a:latin typeface="Arial"/>
              </a:rPr>
              <a:t>per karyawan.</a:t>
            </a:r>
          </a:p>
          <a:p>
            <a:pPr marL="237744" indent="-237744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Kartu hilang: </a:t>
            </a:r>
            <a:r>
              <a:rPr sz="1300">
                <a:solidFill>
                  <a:srgbClr val="E9EEF3"/>
                </a:solidFill>
                <a:latin typeface="Arial"/>
              </a:rPr>
              <a:t>tandai hilang, bukan dihapus. Aktifkan kembali bila kartu ditemukan.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4983480"/>
            <a:ext cx="6949440" cy="777240"/>
          </a:xfrm>
          <a:prstGeom prst="rect">
            <a:avLst/>
          </a:prstGeom>
          <a:solidFill>
            <a:srgbClr val="171E26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4983480"/>
            <a:ext cx="54864" cy="77724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138928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E9EEF3"/>
                </a:solidFill>
                <a:latin typeface="Arial"/>
              </a:rPr>
              <a:t>Hanya admin yang boleh mengubah pengguna dan kartu. Jangan mencatat nomor kartu di dokumen atau chat.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64008" cy="6583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DDC84"/>
                </a:solidFill>
                <a:latin typeface="Arial"/>
              </a:rPr>
              <a:t>CMS · PENGATURAN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9EEF3"/>
                </a:solidFill>
                <a:latin typeface="Arial"/>
              </a:rPr>
              <a:t>Pengaturan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10972"/>
          </a:xfrm>
          <a:prstGeom prst="rect">
            <a:avLst/>
          </a:prstGeom>
          <a:solidFill>
            <a:srgbClr val="2A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RoomBooking · Panduan CMS &amp; Tablet 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9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63040"/>
            <a:ext cx="44805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Timer: </a:t>
            </a:r>
            <a:r>
              <a:rPr sz="1300">
                <a:solidFill>
                  <a:srgbClr val="E9EEF3"/>
                </a:solidFill>
                <a:latin typeface="Arial"/>
              </a:rPr>
              <a:t>check-in deadline, check-in dibuka, kunci kiosk, dan LED.</a:t>
            </a:r>
          </a:p>
          <a:p>
            <a:pPr marL="237744" indent="-237744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First day of week </a:t>
            </a:r>
            <a:r>
              <a:rPr sz="1300">
                <a:solidFill>
                  <a:srgbClr val="E9EEF3"/>
                </a:solidFill>
                <a:latin typeface="Arial"/>
              </a:rPr>
              <a:t>menentukan awal minggu di kalender (default Senin).</a:t>
            </a:r>
          </a:p>
          <a:p>
            <a:pPr marL="237744" indent="-237744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Global branding: </a:t>
            </a:r>
            <a:r>
              <a:rPr sz="1300">
                <a:solidFill>
                  <a:srgbClr val="E9EEF3"/>
                </a:solidFill>
                <a:latin typeface="Arial"/>
              </a:rPr>
              <a:t>nama, judul tab, ikon, logo, favicon (maks. 512 KB).</a:t>
            </a:r>
          </a:p>
          <a:p>
            <a:pPr marL="237744" indent="-237744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Backup database: </a:t>
            </a:r>
            <a:r>
              <a:rPr sz="1300">
                <a:solidFill>
                  <a:srgbClr val="E9EEF3"/>
                </a:solidFill>
                <a:latin typeface="Arial"/>
              </a:rPr>
              <a:t>aktifkan backup harian, isi path, jam, dan retensi.</a:t>
            </a:r>
          </a:p>
          <a:p>
            <a:pPr marL="237744" indent="-237744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Cek “Last: ok” </a:t>
            </a:r>
            <a:r>
              <a:rPr sz="1300">
                <a:solidFill>
                  <a:srgbClr val="E9EEF3"/>
                </a:solidFill>
                <a:latin typeface="Arial"/>
              </a:rPr>
              <a:t>atau tekan Backup now untuk backup manual.</a:t>
            </a:r>
          </a:p>
          <a:p>
            <a:pPr marL="237744" indent="-237744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Simpan </a:t>
            </a:r>
            <a:r>
              <a:rPr sz="1300">
                <a:solidFill>
                  <a:srgbClr val="E9EEF3"/>
                </a:solidFill>
                <a:latin typeface="Arial"/>
              </a:rPr>
              <a:t>dengan tombol Save Settings / Save Branding.</a:t>
            </a:r>
          </a:p>
        </p:txBody>
      </p:sp>
      <p:pic>
        <p:nvPicPr>
          <p:cNvPr id="9" name="Picture 8" descr="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17320"/>
            <a:ext cx="6355080" cy="388365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257800" y="1417320"/>
            <a:ext cx="6355080" cy="3883659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5364988"/>
            <a:ext cx="6355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Timer, first day of week, dan backup database.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5577840"/>
            <a:ext cx="6309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96A2B0"/>
                </a:solidFill>
                <a:latin typeface="Arial"/>
              </a:rPr>
              <a:t>Panel Global branding ada di bawah halaman yang sama: nama, judul tab, ikon, logo, dan favicon.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64008" cy="6583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DDC84"/>
                </a:solidFill>
                <a:latin typeface="Arial"/>
              </a:rPr>
              <a:t>CMS · PERANGKAT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9EEF3"/>
                </a:solidFill>
                <a:latin typeface="Arial"/>
              </a:rPr>
              <a:t>Perangkat tablet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10972"/>
          </a:xfrm>
          <a:prstGeom prst="rect">
            <a:avLst/>
          </a:prstGeom>
          <a:solidFill>
            <a:srgbClr val="2A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RoomBooking · Panduan CMS &amp; Tablet 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10 / 17</a:t>
            </a:r>
          </a:p>
        </p:txBody>
      </p:sp>
      <p:pic>
        <p:nvPicPr>
          <p:cNvPr id="8" name="Picture 7" descr="tabl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417320"/>
            <a:ext cx="7132320" cy="19811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8" y="1417320"/>
            <a:ext cx="7132320" cy="1981199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462528"/>
            <a:ext cx="7452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Tab Tablet Devices: status, LED, Judul, last seen, dan Revoke.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4160520"/>
            <a:ext cx="7223760" cy="1417320"/>
          </a:xfrm>
          <a:prstGeom prst="rect">
            <a:avLst/>
          </a:prstGeom>
          <a:solidFill>
            <a:srgbClr val="171E26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4160520"/>
            <a:ext cx="54864" cy="141732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9EEF3"/>
                </a:solidFill>
                <a:latin typeface="Arial"/>
              </a:rPr>
              <a:t>Satu ruangan = satu tablet aktif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6675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6A2B0"/>
                </a:solidFill>
                <a:latin typeface="Arial"/>
              </a:rPr>
              <a:t>Pairing kedua ditolak selama tablet lama masih aktif. Cabut perangkat lama lebih dulu, lalu pairing yang baru.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508760"/>
            <a:ext cx="36118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Satu ruangan hanya boleh punya satu tablet aktif.</a:t>
            </a:r>
            <a:r>
              <a:rPr sz="1300">
                <a:solidFill>
                  <a:srgbClr val="E9EEF3"/>
                </a:solidFill>
                <a:latin typeface="Arial"/>
              </a:rPr>
              <a:t/>
            </a:r>
          </a:p>
          <a:p>
            <a:pPr marL="237744" indent="-237744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Status: </a:t>
            </a:r>
            <a:r>
              <a:rPr sz="1300">
                <a:solidFill>
                  <a:srgbClr val="E9EEF3"/>
                </a:solidFill>
                <a:latin typeface="Arial"/>
              </a:rPr>
              <a:t>Online, Offline, Dicabut, atau Kedaluwarsa (tidak dipakai &gt;30 hari).</a:t>
            </a:r>
          </a:p>
          <a:p>
            <a:pPr marL="237744" indent="-237744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LED dan Judul </a:t>
            </a:r>
            <a:r>
              <a:rPr sz="1300">
                <a:solidFill>
                  <a:srgbClr val="E9EEF3"/>
                </a:solidFill>
                <a:latin typeface="Arial"/>
              </a:rPr>
              <a:t>bisa diatur per tablet.</a:t>
            </a:r>
          </a:p>
          <a:p>
            <a:pPr marL="237744" indent="-237744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Ganti tablet: </a:t>
            </a:r>
            <a:r>
              <a:rPr sz="1300">
                <a:solidFill>
                  <a:srgbClr val="E9EEF3"/>
                </a:solidFill>
                <a:latin typeface="Arial"/>
              </a:rPr>
              <a:t>Revoke perangkat lama, lalu pairing perangkat baru.</a:t>
            </a:r>
          </a:p>
          <a:p>
            <a:pPr marL="237744" indent="-237744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APK: </a:t>
            </a:r>
            <a:r>
              <a:rPr sz="1300">
                <a:solidFill>
                  <a:srgbClr val="E9EEF3"/>
                </a:solidFill>
                <a:latin typeface="Arial"/>
              </a:rPr>
              <a:t>tombol Download Tablet APK di kanan atas.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64008" cy="6583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DDC84"/>
                </a:solidFill>
                <a:latin typeface="Arial"/>
              </a:rPr>
              <a:t>TABLET ·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9EEF3"/>
                </a:solidFill>
                <a:latin typeface="Arial"/>
              </a:rPr>
              <a:t>Empat status di layar tablet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10972"/>
          </a:xfrm>
          <a:prstGeom prst="rect">
            <a:avLst/>
          </a:prstGeom>
          <a:solidFill>
            <a:srgbClr val="2A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RoomBooking · Panduan CMS &amp; Tablet 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11 / 17</a:t>
            </a:r>
          </a:p>
        </p:txBody>
      </p:sp>
      <p:pic>
        <p:nvPicPr>
          <p:cNvPr id="8" name="Picture 7" descr="kiosk-avail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371600"/>
            <a:ext cx="2011680" cy="12573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8" y="1371600"/>
            <a:ext cx="2011680" cy="1257300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481328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9EEF3"/>
                </a:solidFill>
                <a:latin typeface="Arial"/>
              </a:rPr>
              <a:t>AVAILABLE — hijau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847088"/>
            <a:ext cx="8138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6A2B0"/>
                </a:solidFill>
                <a:latin typeface="Arial"/>
              </a:rPr>
              <a:t>Ruangan kosong dan bisa dipakai sekarang.</a:t>
            </a:r>
          </a:p>
        </p:txBody>
      </p:sp>
      <p:pic>
        <p:nvPicPr>
          <p:cNvPr id="12" name="Picture 11" descr="kiosk-star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651760"/>
            <a:ext cx="2011680" cy="11708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49808" y="2651760"/>
            <a:ext cx="2011680" cy="1170860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2761488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9EEF3"/>
                </a:solidFill>
                <a:latin typeface="Arial"/>
              </a:rPr>
              <a:t>STARTING SOON — kuning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127248"/>
            <a:ext cx="8138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6A2B0"/>
                </a:solidFill>
                <a:latin typeface="Arial"/>
              </a:rPr>
              <a:t>Rapat berikutnya dekat; check-in sudah dibuka.</a:t>
            </a:r>
          </a:p>
        </p:txBody>
      </p:sp>
      <p:pic>
        <p:nvPicPr>
          <p:cNvPr id="16" name="Picture 15" descr="kiosk-inuse-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931920"/>
            <a:ext cx="2011680" cy="11708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49808" y="3931920"/>
            <a:ext cx="2011680" cy="1170860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4041648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9EEF3"/>
                </a:solidFill>
                <a:latin typeface="Arial"/>
              </a:rPr>
              <a:t>IN USE — merah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407408"/>
            <a:ext cx="8138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6A2B0"/>
                </a:solidFill>
                <a:latin typeface="Arial"/>
              </a:rPr>
              <a:t>Rapat sedang berjalan dan sudah check-in.</a:t>
            </a:r>
          </a:p>
        </p:txBody>
      </p:sp>
      <p:pic>
        <p:nvPicPr>
          <p:cNvPr id="20" name="Picture 19" descr="kiosk-off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212079"/>
            <a:ext cx="2011680" cy="117086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49808" y="5212079"/>
            <a:ext cx="2011680" cy="1170860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80" y="5321807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9EEF3"/>
                </a:solidFill>
                <a:latin typeface="Arial"/>
              </a:rPr>
              <a:t>OFFLINE — abu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5687567"/>
            <a:ext cx="8138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6A2B0"/>
                </a:solidFill>
                <a:latin typeface="Arial"/>
              </a:rPr>
              <a:t>Tablet tidak terhubung server. Jangan anggap ruangan kosong.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64008" cy="6583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DDC84"/>
                </a:solidFill>
                <a:latin typeface="Arial"/>
              </a:rPr>
              <a:t>TABLET · KARTU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9EEF3"/>
                </a:solidFill>
                <a:latin typeface="Arial"/>
              </a:rPr>
              <a:t>Kartu untuk check-in dan +15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10972"/>
          </a:xfrm>
          <a:prstGeom prst="rect">
            <a:avLst/>
          </a:prstGeom>
          <a:solidFill>
            <a:srgbClr val="2A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RoomBooking · Panduan CMS &amp; Tablet 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12 / 17</a:t>
            </a:r>
          </a:p>
        </p:txBody>
      </p:sp>
      <p:pic>
        <p:nvPicPr>
          <p:cNvPr id="8" name="Picture 7" descr="kiosk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417320"/>
            <a:ext cx="5120640" cy="26883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8" y="1417320"/>
            <a:ext cx="5120640" cy="2688336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16966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Dialog konfirmasi kartu saat +15 minutes.</a:t>
            </a:r>
          </a:p>
        </p:txBody>
      </p:sp>
      <p:pic>
        <p:nvPicPr>
          <p:cNvPr id="11" name="Picture 10" descr="kiosk-inuse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17320"/>
            <a:ext cx="4754880" cy="276748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492240" y="1417320"/>
            <a:ext cx="4754880" cy="2767488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4881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Rapat berjalan: +15 minutes dan Finish.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93776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Aft>
                <a:spcPts val="600"/>
              </a:spcAft>
              <a:buFont typeface="Arial"/>
              <a:buChar char="•"/>
            </a:pPr>
            <a:r>
              <a:rPr sz="1150" b="1">
                <a:solidFill>
                  <a:srgbClr val="E9EEF3"/>
                </a:solidFill>
                <a:latin typeface="Arial"/>
              </a:rPr>
              <a:t>Check-in: </a:t>
            </a:r>
            <a:r>
              <a:rPr sz="1150">
                <a:solidFill>
                  <a:srgbClr val="E9EEF3"/>
                </a:solidFill>
                <a:latin typeface="Arial"/>
              </a:rPr>
              <a:t>tempel kartu karyawan/peserta, atau ketik nomor kartu.</a:t>
            </a:r>
          </a:p>
          <a:p>
            <a:pPr marL="237744" indent="-237744">
              <a:lnSpc>
                <a:spcPct val="108000"/>
              </a:lnSpc>
              <a:spcAft>
                <a:spcPts val="600"/>
              </a:spcAft>
              <a:buFont typeface="Arial"/>
              <a:buChar char="•"/>
            </a:pPr>
            <a:r>
              <a:rPr sz="1150" b="1">
                <a:solidFill>
                  <a:srgbClr val="E9EEF3"/>
                </a:solidFill>
                <a:latin typeface="Arial"/>
              </a:rPr>
              <a:t>+15 minutes wajib kartu lagi </a:t>
            </a:r>
            <a:r>
              <a:rPr sz="1150">
                <a:solidFill>
                  <a:srgbClr val="E9EEF3"/>
                </a:solidFill>
                <a:latin typeface="Arial"/>
              </a:rPr>
              <a:t>(peserta atau kartu master).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526280"/>
            <a:ext cx="47548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Aft>
                <a:spcPts val="600"/>
              </a:spcAft>
              <a:buFont typeface="Arial"/>
              <a:buChar char="•"/>
            </a:pPr>
            <a:r>
              <a:rPr sz="1150" b="1">
                <a:solidFill>
                  <a:srgbClr val="E9EEF3"/>
                </a:solidFill>
                <a:latin typeface="Arial"/>
              </a:rPr>
              <a:t>Finish: 5 ketukan </a:t>
            </a:r>
            <a:r>
              <a:rPr sz="1150">
                <a:solidFill>
                  <a:srgbClr val="E9EEF3"/>
                </a:solidFill>
                <a:latin typeface="Arial"/>
              </a:rPr>
              <a:t>agar rapat tidak selesai karena tersenggol.</a:t>
            </a:r>
          </a:p>
          <a:p>
            <a:pPr marL="237744" indent="-237744">
              <a:lnSpc>
                <a:spcPct val="108000"/>
              </a:lnSpc>
              <a:spcAft>
                <a:spcPts val="600"/>
              </a:spcAft>
              <a:buFont typeface="Arial"/>
              <a:buChar char="•"/>
            </a:pPr>
            <a:r>
              <a:rPr sz="1150" b="1">
                <a:solidFill>
                  <a:srgbClr val="E9EEF3"/>
                </a:solidFill>
                <a:latin typeface="Arial"/>
              </a:rPr>
              <a:t>Finish baru terbuka saat jam mulai; </a:t>
            </a:r>
            <a:r>
              <a:rPr sz="1150">
                <a:solidFill>
                  <a:srgbClr val="E9EEF3"/>
                </a:solidFill>
                <a:latin typeface="Arial"/>
              </a:rPr>
              <a:t>sebelum itu gunakan Cancel.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64008" cy="6583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DDC84"/>
                </a:solidFill>
                <a:latin typeface="Arial"/>
              </a:rPr>
              <a:t>TABLET · PAKAI LANGSUNG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9EEF3"/>
                </a:solidFill>
                <a:latin typeface="Arial"/>
              </a:rPr>
              <a:t>Memilih waktu dan pakai langsung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10972"/>
          </a:xfrm>
          <a:prstGeom prst="rect">
            <a:avLst/>
          </a:prstGeom>
          <a:solidFill>
            <a:srgbClr val="2A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RoomBooking · Panduan CMS &amp; Tablet 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14 / 17</a:t>
            </a:r>
          </a:p>
        </p:txBody>
      </p:sp>
      <p:pic>
        <p:nvPicPr>
          <p:cNvPr id="8" name="Picture 7" descr="kiosk-avail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417320"/>
            <a:ext cx="5669280" cy="35433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8" y="1417320"/>
            <a:ext cx="5669280" cy="3543300"/>
          </a:xfrm>
          <a:prstGeom prst="rect">
            <a:avLst/>
          </a:prstGeom>
          <a:noFill/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024628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AVAILABLE: “30 minutes” atau “Pick a time”.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508760"/>
            <a:ext cx="47548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30 minutes: </a:t>
            </a:r>
            <a:r>
              <a:rPr sz="1300">
                <a:solidFill>
                  <a:srgbClr val="E9EEF3"/>
                </a:solidFill>
                <a:latin typeface="Arial"/>
              </a:rPr>
              <a:t>langsung pakai 30 menit, tanpa memilih jam.</a:t>
            </a:r>
          </a:p>
          <a:p>
            <a:pPr marL="237744" indent="-237744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Pick a time: </a:t>
            </a:r>
            <a:r>
              <a:rPr sz="1300">
                <a:solidFill>
                  <a:srgbClr val="E9EEF3"/>
                </a:solidFill>
                <a:latin typeface="Arial"/>
              </a:rPr>
              <a:t>pilih durasi atau jam sesuai kebutuhan.</a:t>
            </a:r>
          </a:p>
          <a:p>
            <a:pPr marL="237744" indent="-237744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STARTING SOON: </a:t>
            </a:r>
            <a:r>
              <a:rPr sz="1300">
                <a:solidFill>
                  <a:srgbClr val="E9EEF3"/>
                </a:solidFill>
                <a:latin typeface="Arial"/>
              </a:rPr>
              <a:t>tombol “Use for 10 minutes” memakai ruangan sampai rapat berikutnya.</a:t>
            </a:r>
          </a:p>
          <a:p>
            <a:pPr marL="237744" indent="-237744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Pemakaian langsung otomatis check-in </a:t>
            </a:r>
            <a:r>
              <a:rPr sz="1300">
                <a:solidFill>
                  <a:srgbClr val="E9EEF3"/>
                </a:solidFill>
                <a:latin typeface="Arial"/>
              </a:rPr>
              <a:t>dan langsung tampil di CMS.</a:t>
            </a:r>
          </a:p>
          <a:p>
            <a:pPr marL="237744" indent="-237744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300" b="1">
                <a:solidFill>
                  <a:srgbClr val="E9EEF3"/>
                </a:solidFill>
                <a:latin typeface="Arial"/>
              </a:rPr>
              <a:t>Batas: </a:t>
            </a:r>
            <a:r>
              <a:rPr sz="1300">
                <a:solidFill>
                  <a:srgbClr val="E9EEF3"/>
                </a:solidFill>
                <a:latin typeface="Arial"/>
              </a:rPr>
              <a:t>maksimal 4 jam, hari yang sama, atau sampai rapat berikutnya.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64008" cy="6583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DDC84"/>
                </a:solidFill>
                <a:latin typeface="Arial"/>
              </a:rPr>
              <a:t>BANTUAN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9EEF3"/>
                </a:solidFill>
                <a:latin typeface="Arial"/>
              </a:rPr>
              <a:t>Jika ada masalah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10972"/>
          </a:xfrm>
          <a:prstGeom prst="rect">
            <a:avLst/>
          </a:prstGeom>
          <a:solidFill>
            <a:srgbClr val="2A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RoomBooking · Panduan CMS &amp; Tablet 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15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389888"/>
            <a:ext cx="10744200" cy="896112"/>
          </a:xfrm>
          <a:prstGeom prst="rect">
            <a:avLst/>
          </a:prstGeom>
          <a:solidFill>
            <a:srgbClr val="171E26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35608"/>
            <a:ext cx="23774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DC84"/>
                </a:solidFill>
                <a:latin typeface="Arial"/>
              </a:rPr>
              <a:t>Tidak bisa masuk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435608"/>
            <a:ext cx="78638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9EEF3"/>
                </a:solidFill>
                <a:latin typeface="Arial"/>
              </a:rPr>
              <a:t>Cek alamat CMS dan jaringan. Pesan CORS berarti alamat CMS belum diizinkan server. Pastikan akun aktif dan kata sandi benar.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350008"/>
            <a:ext cx="10744200" cy="896112"/>
          </a:xfrm>
          <a:prstGeom prst="rect">
            <a:avLst/>
          </a:prstGeom>
          <a:solidFill>
            <a:srgbClr val="0F141A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95728"/>
            <a:ext cx="23774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DC84"/>
                </a:solidFill>
                <a:latin typeface="Arial"/>
              </a:rPr>
              <a:t>Tablet 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95728"/>
            <a:ext cx="78638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9EEF3"/>
                </a:solidFill>
                <a:latin typeface="Arial"/>
              </a:rPr>
              <a:t>Cek Wi-Fi dan alamat server tablet. Lihat Last Seen di Tablet Devices; bila perlu revoke lalu pairing ulang.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310128"/>
            <a:ext cx="10744200" cy="896112"/>
          </a:xfrm>
          <a:prstGeom prst="rect">
            <a:avLst/>
          </a:prstGeom>
          <a:solidFill>
            <a:srgbClr val="171E26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355848"/>
            <a:ext cx="23774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DC84"/>
                </a:solidFill>
                <a:latin typeface="Arial"/>
              </a:rPr>
              <a:t>Kartu tidak dikenali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355848"/>
            <a:ext cx="78638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9EEF3"/>
                </a:solidFill>
                <a:latin typeface="Arial"/>
              </a:rPr>
              <a:t>Cek kartu terdaftar di Users, status aktif, dan maksimal 2 kartu per karyawan. Kartu hilang harus diaktifkan kembali.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4270248"/>
            <a:ext cx="10744200" cy="896112"/>
          </a:xfrm>
          <a:prstGeom prst="rect">
            <a:avLst/>
          </a:prstGeom>
          <a:solidFill>
            <a:srgbClr val="0F141A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315968"/>
            <a:ext cx="23774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DC84"/>
                </a:solidFill>
                <a:latin typeface="Arial"/>
              </a:rPr>
              <a:t>Event tidak muncul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315968"/>
            <a:ext cx="78638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9EEF3"/>
                </a:solidFill>
                <a:latin typeface="Arial"/>
              </a:rPr>
              <a:t>Cek filter lantai/ruangan dan rentang tanggal. Booking tanpa check-in dilepas otomatis setelah batas waktu.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5230368"/>
            <a:ext cx="10744200" cy="896112"/>
          </a:xfrm>
          <a:prstGeom prst="rect">
            <a:avLst/>
          </a:prstGeom>
          <a:solidFill>
            <a:srgbClr val="171E26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276088"/>
            <a:ext cx="23774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DC84"/>
                </a:solidFill>
                <a:latin typeface="Arial"/>
              </a:rPr>
              <a:t>Finish tidak bisa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276088"/>
            <a:ext cx="78638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E9EEF3"/>
                </a:solidFill>
                <a:latin typeface="Arial"/>
              </a:rPr>
              <a:t>Finish baru aktif saat jam mulai. Untuk mengakhiri lebih awal gunakan alur yang sesuai; +15 minutes butuh kartu.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57200"/>
            <a:ext cx="64008" cy="6583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3DDC84"/>
                </a:solidFill>
                <a:latin typeface="Arial"/>
              </a:rPr>
              <a:t>SERAH TERIMA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5852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9EEF3"/>
                </a:solidFill>
                <a:latin typeface="Arial"/>
              </a:rPr>
              <a:t>Checklist sebelum dipakai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92240"/>
            <a:ext cx="11064240" cy="10972"/>
          </a:xfrm>
          <a:prstGeom prst="rect">
            <a:avLst/>
          </a:prstGeom>
          <a:solidFill>
            <a:srgbClr val="2A3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5624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RoomBooking · Panduan CMS &amp; Tablet Kiosk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56248"/>
            <a:ext cx="1207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6A2B0"/>
                </a:solidFill>
                <a:latin typeface="Arial"/>
              </a:rPr>
              <a:t>16 /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389888"/>
            <a:ext cx="5257800" cy="1115568"/>
          </a:xfrm>
          <a:prstGeom prst="rect">
            <a:avLst/>
          </a:prstGeom>
          <a:solidFill>
            <a:srgbClr val="171E26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389888"/>
            <a:ext cx="54864" cy="11155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15361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3"/>
                </a:solidFill>
                <a:latin typeface="Arial"/>
              </a:rPr>
              <a:t>Akun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1847088"/>
            <a:ext cx="4800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6A2B0"/>
                </a:solidFill>
                <a:latin typeface="Arial"/>
              </a:rPr>
              <a:t>Admin dan resepsionis dibuat; floor group diisi benar.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715768"/>
            <a:ext cx="5257800" cy="1115568"/>
          </a:xfrm>
          <a:prstGeom prst="rect">
            <a:avLst/>
          </a:prstGeom>
          <a:solidFill>
            <a:srgbClr val="171E26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2715768"/>
            <a:ext cx="54864" cy="11155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7" y="28620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3"/>
                </a:solidFill>
                <a:latin typeface="Arial"/>
              </a:rPr>
              <a:t>Ruangan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7" y="3172968"/>
            <a:ext cx="4800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6A2B0"/>
                </a:solidFill>
                <a:latin typeface="Arial"/>
              </a:rPr>
              <a:t>Data ruangan lengkap; tablet sudah pairing dan Online.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041648"/>
            <a:ext cx="5257800" cy="1115568"/>
          </a:xfrm>
          <a:prstGeom prst="rect">
            <a:avLst/>
          </a:prstGeom>
          <a:solidFill>
            <a:srgbClr val="171E26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4041648"/>
            <a:ext cx="54864" cy="11155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7" y="41879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3"/>
                </a:solidFill>
                <a:latin typeface="Arial"/>
              </a:rPr>
              <a:t>Kartu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7" y="4498848"/>
            <a:ext cx="4800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6A2B0"/>
                </a:solidFill>
                <a:latin typeface="Arial"/>
              </a:rPr>
              <a:t>Kartu karyawan terdaftar (maks. 2 aktif); kartu master disiapkan.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7648" y="1389888"/>
            <a:ext cx="5257800" cy="1115568"/>
          </a:xfrm>
          <a:prstGeom prst="rect">
            <a:avLst/>
          </a:prstGeom>
          <a:solidFill>
            <a:srgbClr val="171E26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7648" y="1389888"/>
            <a:ext cx="54864" cy="11155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153619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3"/>
                </a:solidFill>
                <a:latin typeface="Arial"/>
              </a:rPr>
              <a:t>Pengaturan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1847088"/>
            <a:ext cx="4800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6A2B0"/>
                </a:solidFill>
                <a:latin typeface="Arial"/>
              </a:rPr>
              <a:t>Timer, first day of week, dan branding disetel.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7648" y="2715768"/>
            <a:ext cx="5257800" cy="1115568"/>
          </a:xfrm>
          <a:prstGeom prst="rect">
            <a:avLst/>
          </a:prstGeom>
          <a:solidFill>
            <a:srgbClr val="171E26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7648" y="2715768"/>
            <a:ext cx="54864" cy="11155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8620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3"/>
                </a:solidFill>
                <a:latin typeface="Arial"/>
              </a:rPr>
              <a:t>Backup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3172968"/>
            <a:ext cx="4800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6A2B0"/>
                </a:solidFill>
                <a:latin typeface="Arial"/>
              </a:rPr>
              <a:t>Backup harian aktif, path benar, dan sudah diuji restore.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7648" y="4041648"/>
            <a:ext cx="5257800" cy="1115568"/>
          </a:xfrm>
          <a:prstGeom prst="rect">
            <a:avLst/>
          </a:prstGeom>
          <a:solidFill>
            <a:srgbClr val="171E26"/>
          </a:solidFill>
          <a:ln w="12700">
            <a:solidFill>
              <a:srgbClr val="2A34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27648" y="4041648"/>
            <a:ext cx="54864" cy="1115568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41879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9EEF3"/>
                </a:solidFill>
                <a:latin typeface="Arial"/>
              </a:rPr>
              <a:t>Uji alur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4498848"/>
            <a:ext cx="4800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6A2B0"/>
                </a:solidFill>
                <a:latin typeface="Arial"/>
              </a:rPr>
              <a:t>Booking → check-in → +15 → Finish → Cancel → lihat laporan.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7150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9EEF3"/>
                </a:solidFill>
                <a:latin typeface="Arial"/>
              </a:rPr>
              <a:t>Kontak: Administrator RoomBooking — gunakan tautan “Lupa kata sandi?” di halaman Masuk atau saluran IT kantor.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1051560"/>
            <a:ext cx="64008" cy="3200400"/>
          </a:xfrm>
          <a:prstGeom prst="rect">
            <a:avLst/>
          </a:prstGeom>
          <a:solidFill>
            <a:srgbClr val="3DD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00584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DDC84"/>
                </a:solidFill>
                <a:latin typeface="Arial"/>
              </a:rPr>
              <a:t>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9EEF3"/>
                </a:solidFill>
                <a:latin typeface="Arial"/>
              </a:rPr>
              <a:t>Siap dipakai di lantai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8961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6A2B0"/>
                </a:solidFill>
                <a:latin typeface="Arial"/>
              </a:rPr>
              <a:t>Simpan panduan ini di dekat tablet dan meja resepsionis.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6A2B0"/>
                </a:solidFill>
                <a:latin typeface="Arial"/>
              </a:rPr>
              <a:t>Perbarui slide versi setiap ada rilis baru.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79476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C242E"/>
          </a:solidFill>
          <a:ln w="12700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1">
                <a:solidFill>
                  <a:srgbClr val="3DDC84"/>
                </a:solidFill>
                <a:latin typeface="Arial"/>
              </a:rPr>
              <a:t>CMS v3.11.0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3794760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1C242E"/>
          </a:solidFill>
          <a:ln w="127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1">
                <a:solidFill>
                  <a:srgbClr val="F2C14E"/>
                </a:solidFill>
                <a:latin typeface="Arial"/>
              </a:rPr>
              <a:t>APK 1.3.7 (18)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794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242E"/>
          </a:solidFill>
          <a:ln w="12700">
            <a:solidFill>
              <a:srgbClr val="96A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1">
                <a:solidFill>
                  <a:srgbClr val="96A2B0"/>
                </a:solidFill>
                <a:latin typeface="Arial"/>
              </a:rPr>
              <a:t>25 Oktober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8920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9EEF3"/>
                </a:solidFill>
                <a:latin typeface="Arial"/>
              </a:rPr>
              <a:t>Pertanyaan: hubungi Administrator RoomBooking atau tim IT kantor.</a:t>
            </a:r>
          </a:p>
        </p:txBody>
      </p:sp>
      <p:pic>
        <p:nvPicPr>
          <p:cNvPr id="11" name="Picture 10" descr="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4480560"/>
            <a:ext cx="1571191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DDC84"/>
                </a:solidFill>
                <a:latin typeface="Arial"/>
              </a:defRPr>
            </a:pPr>
            <a:r>
              <a:t>TABLET · FINISH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4F6F8"/>
                </a:solidFill>
                <a:latin typeface="Arial"/>
              </a:defRPr>
            </a:pPr>
            <a:r>
              <a:t>Easter egg: tombol Selesai tidak terlihat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25A"/>
                </a:solidFill>
                <a:latin typeface="Arial"/>
              </a:defRPr>
            </a:pPr>
            <a:r>
              <a:t>5 tap pada pill IN USE — bukan tombol biasa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DDC8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4F6F8"/>
                </a:solidFill>
                <a:latin typeface="Arial"/>
              </a:defRPr>
            </a:pPr>
            <a:r>
              <a:t>Pastikan meeting sudah check-in dan pill berstatus IN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78608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DDC8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7860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4F6F8"/>
                </a:solidFill>
                <a:latin typeface="Arial"/>
              </a:defRPr>
            </a:pPr>
            <a:r>
              <a:t>Tap pill IN USE sebanyak 5 kali dalam ±4 detik.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45536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DDC8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4553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4F6F8"/>
                </a:solidFill>
                <a:latin typeface="Arial"/>
              </a:defRPr>
            </a:pPr>
            <a:r>
              <a:t>Tombol “Selesai” muncul di bawah pill.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12464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DDC8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1246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4F6F8"/>
                </a:solidFill>
                <a:latin typeface="Arial"/>
              </a:defRPr>
            </a:pPr>
            <a:r>
              <a:t>Tap Selesai → konfirmasi → ruangan kembali AVAILABLE.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34840"/>
            <a:ext cx="5669280" cy="1325880"/>
          </a:xfrm>
          <a:prstGeom prst="rect">
            <a:avLst/>
          </a:prstGeom>
          <a:solidFill>
            <a:srgbClr val="3A2A00"/>
          </a:solidFill>
          <a:ln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b="1" sz="1400">
                <a:solidFill>
                  <a:srgbClr val="FFD25A"/>
                </a:solidFill>
                <a:latin typeface="Arial"/>
              </a:defRPr>
            </a:pPr>
            <a:r>
              <a:t>Check-in lebih awal dari jam mulai?</a:t>
            </a:r>
          </a:p>
          <a:p>
            <a:pPr>
              <a:defRPr sz="1200">
                <a:solidFill>
                  <a:srgbClr val="F4F6F8"/>
                </a:solidFill>
                <a:latin typeface="Arial"/>
              </a:defRPr>
            </a:pPr>
            <a:r>
              <a:t>5 tap tetap dilakukan, tetapi kiosk hanya menampilkan “Selesai aktif pukul HH:MM”. Tombol Selesai baru bisa dipakai setelah jam mulai.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893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3BF"/>
                </a:solidFill>
                <a:latin typeface="Arial"/>
              </a:defRPr>
            </a:pPr>
            <a:r>
              <a:t>Admin IT: jangan tutup/restart aplikasi untuk menyelesaikan meeting. Gunakan 5 tap pill; Cancel di CMS hanya untuk booking yang salah.</a:t>
            </a:r>
          </a:p>
        </p:txBody>
      </p:sp>
      <p:pic>
        <p:nvPicPr>
          <p:cNvPr id="15" name="Picture 14" descr="flow-finish-bt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20240"/>
            <a:ext cx="5074920" cy="31718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46520" y="580644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9B3BF"/>
                </a:solidFill>
                <a:latin typeface="Arial"/>
              </a:defRPr>
            </a:pPr>
            <a:r>
              <a:t>Tombol Selesai muncul setelah 5 tap pill IN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RoomBooking — Panduan CMS &amp; Tablet Kiosk</dc:title>
  <dc:subject>Panduan pemakaian RoomBooking CMS v3.11.0 dan APK tablet 1.3.7 (18)</dc:subject>
  <dc:creator>Tim 360 Scheduler</dc:creator>
  <cp:keywords>RoomBooking, CMS, tablet kiosk, panduan, The Prasada</cp:keywords>
  <dc:description>Dokumen pelatihan operasional. Screenshot dari lingkungan UAT.</dc:description>
  <cp:lastModifiedBy>Tim 360 Scheduler</cp:lastModifiedBy>
  <cp:revision>1</cp:revision>
  <dcterms:created xsi:type="dcterms:W3CDTF">2013-01-27T09:14:16Z</dcterms:created>
  <dcterms:modified xsi:type="dcterms:W3CDTF">2013-01-27T09:15:58Z</dcterms:modified>
  <cp:category/>
</cp:coreProperties>
</file>