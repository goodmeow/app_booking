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73" r:id="rId25"/>
    <p:sldId id="274" r:id="rId26"/>
    <p:sldId id="275" r:id="rId27"/>
    <p:sldId id="276" r:id="rId28"/>
    <p:sldId id="264" r:id="rId16"/>
    <p:sldId id="265" r:id="rId17"/>
    <p:sldId id="277" r:id="rId29"/>
    <p:sldId id="266" r:id="rId18"/>
    <p:sldId id="267" r:id="rId19"/>
    <p:sldId id="272" r:id="rId24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1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ini untuk pelatihan admin, resepsionis, dan pengguna. Versi yang dipakai: CMS 3.11.0 dan APK tablet 1.3.7 build 18, per 25 Oktober 2026. Semua screenshot diambil dari sistem UAT yang sama.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Tekankan pembagian peran: CMS untuk mengatur, tablet untuk dipakai di lapangan. Auto-release no-show adalah alasan kenapa event bisa hilang dari layar tablet walau masih ada di kalender peserta.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Tunjukkan letak tautan lupa kata sandi. Ingatkan bahwa sesi 'tetap masuk' menyimpan login di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Beri contoh: resepsionis memakai Floor schedule untuk melihat semua ruangan di lantainya; karyawan memakai My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Perhatikan tanggal dan jam terpisah. Form kosong default sehari penuh; klik slot kalender memakai jam slot itu. Konflik dicek sebelum simpan.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Beda organizer dan booked_by penting saat audit: yang punya rapat adalah karyawan, yang mencatat adalah resepsionis. Ruangan dibatasi ke lantai resepsionis.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Untuk rapat berulang, perhatikan pilihan scope: satu occurrence atau seluruh series. Batalkan rapat yang tidak dipakai agar ruangan cepat dilepas.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 memakai akun UAT; kolom email dan nomor kartu sudah disamarkan. Jangan pernah membagikan nomor kartu/UID di dokumen atau chat.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Timer berlaku untuk semua ruangan. Backup path harus absolut dan bisa ditulis proses server; uji restore, bukan hanya melihat status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Pairing kedua akan ditolak bila tablet lama masih aktif. Cabut dulu supaya tidak ada dua tablet memperebutkan satu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Empat warna ini yang harus dikenali resepsionis dan teknisi. OFFLINE berarti data tidak bisa dipercaya; cek koneksi tablet.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Kartu master boleh dipakai untuk check-in dan perpanjangan. Finish sengaja lima ketukan. Bila selesai lebih awal, tombol Finish belum aktif sampai jam mulai.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Pemakaian langsung cocok untuk rapat dadakan. Sistem otomatis menandai check-in karena orangnya sudah di ruangan.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Urutan troubleshooting: jaringan/alamat, akun, lalu data (kartu, filter, auto-release). Jangan mengubah pengaturan server tanpa admin.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Checklist ini dipakai saat serah terima ke resepsionis/teknisi. Backup wajib diuji restore, bukan hanya aktif. Kontak sengaja tidak memuat data pribadi.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Tutup dengan menegaskan siapa yang dihubungi dan di mana panduan disimpan. Jangan mencantumkan password atau data pribadi di versi cetak.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Jelaskan bahwa tombol Selesai memang disembunyikan (easter egg) untuk mencegah anggota rapat menyelesaikan meeting orang lain secara tidak sengaja. Syarat: sudah check-in dan meeting sudah berjalan. Jika check-in terlalu awal, kiosk menampilkan waktu tombol Selesai aktif. Jangan memaksa tutup aplikasi.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720840" y="0"/>
            <a:ext cx="5468112" cy="6858000"/>
          </a:xfrm>
          <a:prstGeom prst="rect">
            <a:avLst/>
          </a:prstGeom>
          <a:solidFill>
            <a:srgbClr val="171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20840" y="0"/>
            <a:ext cx="32004" cy="68580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66928"/>
            <a:ext cx="1538203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8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PANDUAN OPERASIONAL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011680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E9EEF3"/>
                </a:solidFill>
                <a:latin typeface="Arial"/>
              </a:rPr>
              <a:t>RoomBooking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992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0" i="0">
                <a:solidFill>
                  <a:srgbClr val="E9EEF3"/>
                </a:solidFill>
                <a:latin typeface="Arial"/>
              </a:rPr>
              <a:t>CMS &amp; Tablet Kiosk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703320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Cara memesan ruang meeting, mengelola pengguna dan kartu,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96A2B0"/>
                </a:solidFill>
                <a:latin typeface="Arial"/>
              </a:rPr>
              <a:t>serta memakai tablet di depan ruangan.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02920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0048" y="502920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1.4.1 (22)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502920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8704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The Prasada · RoomBooking</a:t>
            </a:r>
          </a:p>
        </p:txBody>
      </p:sp>
      <p:pic>
        <p:nvPicPr>
          <p:cNvPr id="13" name="Picture 12" descr="kiosk-avail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1325880"/>
            <a:ext cx="4709160" cy="2943225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114032" y="1325880"/>
            <a:ext cx="4709160" cy="2943225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33113"/>
            <a:ext cx="4709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Tablet ruangan dalam status AVAILABLE (APK 1.4.1).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4892040"/>
            <a:ext cx="448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3DDC84"/>
                </a:solidFill>
                <a:latin typeface="Arial"/>
              </a:rPr>
              <a:t>ISI PANDUAN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5138928"/>
            <a:ext cx="45262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Kalender &amp; booking  ·  Pengguna dan kartu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Pengaturan &amp; backup  ·  Perangkat tablet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Check-in, perpanjangan, dan troubleshooting</a:t>
            </a:r>
          </a:p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matrix akses  ·  Multi-lantai &amp; audit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GAMBARAN UMUM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Dua alat, satu alur kerja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81328"/>
            <a:ext cx="51206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CMS (browser): </a:t>
            </a:r>
            <a:r>
              <a:rPr sz="1450">
                <a:solidFill>
                  <a:srgbClr val="E9EEF3"/>
                </a:solidFill>
                <a:latin typeface="Arial"/>
              </a:rPr>
              <a:t>kalender, booking, pengguna &amp; kartu, pengaturan, dan perangkat tablet.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Tablet kiosk: </a:t>
            </a:r>
            <a:r>
              <a:rPr sz="1450">
                <a:solidFill>
                  <a:srgbClr val="E9EEF3"/>
                </a:solidFill>
                <a:latin typeface="Arial"/>
              </a:rPr>
              <a:t>menampilkan status ruangan, menerima check-in kartu, dan booking langsung.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Alurnya: </a:t>
            </a:r>
            <a:r>
              <a:rPr sz="1450">
                <a:solidFill>
                  <a:srgbClr val="E9EEF3"/>
                </a:solidFill>
                <a:latin typeface="Arial"/>
              </a:rPr>
              <a:t>rapat dibuat di CMS, tampil di tablet ruangan, lalu check-in saat peserta datang.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Tanpa check-in, </a:t>
            </a:r>
            <a:r>
              <a:rPr sz="1450">
                <a:solidFill>
                  <a:srgbClr val="E9EEF3"/>
                </a:solidFill>
                <a:latin typeface="Arial"/>
              </a:rPr>
              <a:t>ruangan dilepas otomatis setelah batas waktu (default 15 menit) agar bisa dipakai orang lain.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50" b="1">
                <a:solidFill>
                  <a:srgbClr val="E9EEF3"/>
                </a:solidFill>
                <a:latin typeface="Arial"/>
              </a:rPr>
              <a:t>Satu ruangan, satu tablet aktif. </a:t>
            </a:r>
            <a:r>
              <a:rPr sz="1450">
                <a:solidFill>
                  <a:srgbClr val="E9EEF3"/>
                </a:solidFill>
                <a:latin typeface="Arial"/>
              </a:rPr>
              <a:t>Tablet lain tidak bisa mengambil alih tanpa dicabut lebih dulu.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417320"/>
            <a:ext cx="5577840" cy="3873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126480" y="1417320"/>
            <a:ext cx="5577840" cy="3873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5354828"/>
            <a:ext cx="5577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CMS: kalender mingguan dan status ruangan di sidebar.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5687568"/>
            <a:ext cx="146304" cy="146304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Hijau: kosong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5687568"/>
            <a:ext cx="146304" cy="146304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449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Kuning: segera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5687568"/>
            <a:ext cx="146304" cy="146304"/>
          </a:xfrm>
          <a:prstGeom prst="rect">
            <a:avLst/>
          </a:prstGeom>
          <a:solidFill>
            <a:srgbClr val="E56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Merah: dipakai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87000" y="5687568"/>
            <a:ext cx="146304" cy="146304"/>
          </a:xfrm>
          <a:prstGeom prst="rect">
            <a:avLst/>
          </a:prstGeom>
          <a:solidFill>
            <a:srgbClr val="96A2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88168" y="5660136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96A2B0"/>
                </a:solidFill>
                <a:latin typeface="Arial"/>
              </a:rPr>
              <a:t>Abu: offline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598932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96A2B0"/>
                </a:solidFill>
                <a:latin typeface="Arial"/>
              </a:rPr>
              <a:t>Warna yang sama dipakai di layar tablet ruangan.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MASUK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Masuk dan halaman kalender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34340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Buka alamat CMS </a:t>
            </a:r>
            <a:r>
              <a:rPr sz="1400">
                <a:solidFill>
                  <a:srgbClr val="E9EEF3"/>
                </a:solidFill>
                <a:latin typeface="Arial"/>
              </a:rPr>
              <a:t>yang diberikan admin lewat browser (Chrome/Edge/Firefox).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Masuk </a:t>
            </a:r>
            <a:r>
              <a:rPr sz="1400">
                <a:solidFill>
                  <a:srgbClr val="E9EEF3"/>
                </a:solidFill>
                <a:latin typeface="Arial"/>
              </a:rPr>
              <a:t>dengan email kantor dan kata sandi akun.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“Tetap masuk di perangkat ini” </a:t>
            </a:r>
            <a:r>
              <a:rPr sz="1400">
                <a:solidFill>
                  <a:srgbClr val="E9EEF3"/>
                </a:solidFill>
                <a:latin typeface="Arial"/>
              </a:rPr>
              <a:t>hanya untuk komputer sendiri, bukan komputer bersama.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Setelah masuk, </a:t>
            </a:r>
            <a:r>
              <a:rPr sz="1400">
                <a:solidFill>
                  <a:srgbClr val="E9EEF3"/>
                </a:solidFill>
                <a:latin typeface="Arial"/>
              </a:rPr>
              <a:t>kalender mingguan langsung terbuka; menu Management hanya untuk admin.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Lupa kata sandi? </a:t>
            </a:r>
            <a:r>
              <a:rPr sz="1400">
                <a:solidFill>
                  <a:srgbClr val="E9EEF3"/>
                </a:solidFill>
                <a:latin typeface="Arial"/>
              </a:rPr>
              <a:t>pakai tautan di halaman Masuk, lalu hubungi administrator.</a:t>
            </a:r>
          </a:p>
        </p:txBody>
      </p:sp>
      <p:pic>
        <p:nvPicPr>
          <p:cNvPr id="9" name="Picture 8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463040"/>
            <a:ext cx="3017520" cy="209549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40680" y="1463040"/>
            <a:ext cx="3017520" cy="20954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3622548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Halaman Masuk CMS</a:t>
            </a:r>
          </a:p>
        </p:txBody>
      </p:sp>
      <p:pic>
        <p:nvPicPr>
          <p:cNvPr id="12" name="Picture 11" descr="wee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7072" y="1463040"/>
            <a:ext cx="2971800" cy="2063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577072" y="1463040"/>
            <a:ext cx="2971800" cy="2063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77072" y="3590798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Kalender setelah masuk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4343400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Jangan menuliskan kata sandi di dokumen, sticky note, atau grup chat.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96A2B0"/>
                </a:solidFill>
                <a:latin typeface="Arial"/>
              </a:rPr>
              <a:t>Akun resepsionis dipakai bersama? Minta akun terpisah agar jejak booking jelas.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KALENDER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Membaca tampilan jadwal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4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50292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Week / Day / Agenda: </a:t>
            </a:r>
            <a:r>
              <a:rPr sz="1400">
                <a:solidFill>
                  <a:srgbClr val="E9EEF3"/>
                </a:solidFill>
                <a:latin typeface="Arial"/>
              </a:rPr>
              <a:t>seminggu, satu hari, atau daftar rapat berurutan.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My schedule: </a:t>
            </a:r>
            <a:r>
              <a:rPr sz="1400">
                <a:solidFill>
                  <a:srgbClr val="E9EEF3"/>
                </a:solidFill>
                <a:latin typeface="Arial"/>
              </a:rPr>
              <a:t>hanya rapat yang terkait akun Anda.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Floor schedule: </a:t>
            </a:r>
            <a:r>
              <a:rPr sz="1400">
                <a:solidFill>
                  <a:srgbClr val="E9EEF3"/>
                </a:solidFill>
                <a:latin typeface="Arial"/>
              </a:rPr>
              <a:t>semua ruangan di lantai Anda — default resepsionis.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Room schedule: </a:t>
            </a:r>
            <a:r>
              <a:rPr sz="1400">
                <a:solidFill>
                  <a:srgbClr val="E9EEF3"/>
                </a:solidFill>
                <a:latin typeface="Arial"/>
              </a:rPr>
              <a:t>satu ruangan saja; pilih ruangan di sidebar.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Sidebar: </a:t>
            </a:r>
            <a:r>
              <a:rPr sz="1400">
                <a:solidFill>
                  <a:srgbClr val="E9EEF3"/>
                </a:solidFill>
                <a:latin typeface="Arial"/>
              </a:rPr>
              <a:t>jumlah ruangan dipakai/kosong dan status tablet (online/offline).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400">
                <a:solidFill>
                  <a:srgbClr val="E9EEF3"/>
                </a:solidFill>
                <a:latin typeface="Arial"/>
              </a:rPr>
              <a:t>untuk membuka detail; tombol Refresh mengambil data terbaru.</a:t>
            </a:r>
          </a:p>
        </p:txBody>
      </p:sp>
      <p:pic>
        <p:nvPicPr>
          <p:cNvPr id="9" name="Picture 8" descr="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17320"/>
            <a:ext cx="5760720" cy="4000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1417320"/>
            <a:ext cx="5760720" cy="4000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5481828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Tampilan Week pada mode My schedule.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5806440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Agenda menampilkan rapat sebagai daftar per tanggal — praktis untuk menyiapkan ruangan hari itu.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Membuat booking sendiri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5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572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Add Meeting </a:t>
            </a:r>
            <a:r>
              <a:rPr sz="1350">
                <a:solidFill>
                  <a:srgbClr val="E9EEF3"/>
                </a:solidFill>
                <a:latin typeface="Arial"/>
              </a:rPr>
              <a:t>membuka form booking.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Isi judul, tanggal, jam mulai dan selesai </a:t>
            </a:r>
            <a:r>
              <a:rPr sz="1350">
                <a:solidFill>
                  <a:srgbClr val="E9EEF3"/>
                </a:solidFill>
                <a:latin typeface="Arial"/>
              </a:rPr>
              <a:t>(format 24 jam), lalu pilih ruangan.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Peserta: </a:t>
            </a:r>
            <a:r>
              <a:rPr sz="1350">
                <a:solidFill>
                  <a:srgbClr val="E9EEF3"/>
                </a:solidFill>
                <a:latin typeface="Arial"/>
              </a:rPr>
              <a:t>ketik minimal 2 huruf untuk memilih rekan; tamu tanpa akun ditulis email lengkap.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Biarkan “Booking for an employee” kosong </a:t>
            </a:r>
            <a:r>
              <a:rPr sz="1350">
                <a:solidFill>
                  <a:srgbClr val="E9EEF3"/>
                </a:solidFill>
                <a:latin typeface="Arial"/>
              </a:rPr>
              <a:t>bila rapat untuk diri sendiri.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Sistem memeriksa konflik </a:t>
            </a:r>
            <a:r>
              <a:rPr sz="1350">
                <a:solidFill>
                  <a:srgbClr val="E9EEF3"/>
                </a:solidFill>
                <a:latin typeface="Arial"/>
              </a:rPr>
              <a:t>dan menawarkan ruangan lain yang kosong.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Save: </a:t>
            </a:r>
            <a:r>
              <a:rPr sz="1350">
                <a:solidFill>
                  <a:srgbClr val="E9EEF3"/>
                </a:solidFill>
                <a:latin typeface="Arial"/>
              </a:rPr>
              <a:t>event langsung tampil di kalender dan tablet ruangan.</a:t>
            </a:r>
          </a:p>
        </p:txBody>
      </p:sp>
      <p:pic>
        <p:nvPicPr>
          <p:cNvPr id="9" name="Picture 8" descr="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417320"/>
            <a:ext cx="6126480" cy="42545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577840" y="1417320"/>
            <a:ext cx="6126480" cy="42545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5735828"/>
            <a:ext cx="6126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Form Add Meeting yang sudah terisi. Jam memakai format 24 jam.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Memesan untuk karyawan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6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75488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Khusus admin dan resepsionis: </a:t>
            </a:r>
            <a:r>
              <a:rPr sz="1400">
                <a:solidFill>
                  <a:srgbClr val="E9EEF3"/>
                </a:solidFill>
                <a:latin typeface="Arial"/>
              </a:rPr>
              <a:t>isi “Booking for an employee”, cari minimal 2 huruf, lalu pilih karyawan.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Organizer = karyawan </a:t>
            </a:r>
            <a:r>
              <a:rPr sz="1400">
                <a:solidFill>
                  <a:srgbClr val="E9EEF3"/>
                </a:solidFill>
                <a:latin typeface="Arial"/>
              </a:rPr>
              <a:t>yang dipilih; “booked by” = resepsionis yang memesan.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Ruangan mengikuti lantai resepsionis. </a:t>
            </a:r>
            <a:r>
              <a:rPr sz="1400">
                <a:solidFill>
                  <a:srgbClr val="E9EEF3"/>
                </a:solidFill>
                <a:latin typeface="Arial"/>
              </a:rPr>
              <a:t>Karyawan tetap melihat rapat ini di kalendernya.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Kosongkan field </a:t>
            </a:r>
            <a:r>
              <a:rPr sz="1400">
                <a:solidFill>
                  <a:srgbClr val="E9EEF3"/>
                </a:solidFill>
                <a:latin typeface="Arial"/>
              </a:rPr>
              <a:t>bila rapat benar-benar milik resepsionis sendiri.</a:t>
            </a:r>
          </a:p>
          <a:p>
            <a:pPr marL="237744" indent="-237744">
              <a:lnSpc>
                <a:spcPct val="108000"/>
              </a:lnSpc>
              <a:spcAft>
                <a:spcPts val="12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Tulis judul yang jelas, </a:t>
            </a:r>
            <a:r>
              <a:rPr sz="1400">
                <a:solidFill>
                  <a:srgbClr val="E9EEF3"/>
                </a:solidFill>
                <a:latin typeface="Arial"/>
              </a:rPr>
              <a:t>misalnya “Rapat Koordinasi Lantai 5”, bukan sekadar “Meeting”.</a:t>
            </a:r>
          </a:p>
        </p:txBody>
      </p:sp>
      <p:pic>
        <p:nvPicPr>
          <p:cNvPr id="9" name="Picture 8" descr="onbehal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463040"/>
            <a:ext cx="5989320" cy="415924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715000" y="1463040"/>
            <a:ext cx="5989320" cy="415924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15000" y="5686298"/>
            <a:ext cx="5989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Pencarian karyawan pada “Booking for an employee”.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BOOKING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Mengubah atau membatalkan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7 / 22</a:t>
            </a:r>
          </a:p>
        </p:txBody>
      </p:sp>
      <p:pic>
        <p:nvPicPr>
          <p:cNvPr id="8" name="Picture 7" descr="dra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6446520" cy="447675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6446520" cy="447675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958078"/>
            <a:ext cx="6446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Panel detail event: tombol EDIT dan CANCEL.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463040"/>
            <a:ext cx="406908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Klik event </a:t>
            </a:r>
            <a:r>
              <a:rPr sz="1350">
                <a:solidFill>
                  <a:srgbClr val="E9EEF3"/>
                </a:solidFill>
                <a:latin typeface="Arial"/>
              </a:rPr>
              <a:t>di kalender atau agenda untuk membuka panel detail.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EDIT: </a:t>
            </a:r>
            <a:r>
              <a:rPr sz="1350">
                <a:solidFill>
                  <a:srgbClr val="E9EEF3"/>
                </a:solidFill>
                <a:latin typeface="Arial"/>
              </a:rPr>
              <a:t>ubah judul, waktu, ruangan, peserta, atau pola berulang.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CANCEL: </a:t>
            </a:r>
            <a:r>
              <a:rPr sz="1350">
                <a:solidFill>
                  <a:srgbClr val="E9EEF3"/>
                </a:solidFill>
                <a:latin typeface="Arial"/>
              </a:rPr>
              <a:t>batalkan rapat. Untuk rapat berulang, pilih satu kejadian atau seluruh seri.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Hak akses: </a:t>
            </a:r>
            <a:r>
              <a:rPr sz="1350">
                <a:solidFill>
                  <a:srgbClr val="E9EEF3"/>
                </a:solidFill>
                <a:latin typeface="Arial"/>
              </a:rPr>
              <a:t>organizer, resepsionis, dan admin. Pengguna lain hanya melihat.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50" b="1">
                <a:solidFill>
                  <a:srgbClr val="E9EEF3"/>
                </a:solidFill>
                <a:latin typeface="Arial"/>
              </a:rPr>
              <a:t>Setelah disimpan, </a:t>
            </a:r>
            <a:r>
              <a:rPr sz="1350">
                <a:solidFill>
                  <a:srgbClr val="E9EEF3"/>
                </a:solidFill>
                <a:latin typeface="Arial"/>
              </a:rPr>
              <a:t>tablet dan kalender peserta ikut diperbarui.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Pengguna dan kartu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8 / 22</a:t>
            </a:r>
          </a:p>
        </p:txBody>
      </p:sp>
      <p:pic>
        <p:nvPicPr>
          <p:cNvPr id="8" name="Picture 7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63040"/>
            <a:ext cx="6949440" cy="299211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63040"/>
            <a:ext cx="6949440" cy="299211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19168"/>
            <a:ext cx="6949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Users: data UAT, kolom email dan nomor kartu disamarkan.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Cari </a:t>
            </a:r>
            <a:r>
              <a:rPr sz="1300">
                <a:solidFill>
                  <a:srgbClr val="E9EEF3"/>
                </a:solidFill>
                <a:latin typeface="Arial"/>
              </a:rPr>
              <a:t>nama, email, atau employee ID.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Atur </a:t>
            </a:r>
            <a:r>
              <a:rPr sz="1300">
                <a:solidFill>
                  <a:srgbClr val="E9EEF3"/>
                </a:solidFill>
                <a:latin typeface="Arial"/>
              </a:rPr>
              <a:t>role (Admin/Resepsionis/Pengguna) dan lantai kerja — boleh lebih dari satu.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Nomor kartu </a:t>
            </a:r>
            <a:r>
              <a:rPr sz="1300">
                <a:solidFill>
                  <a:srgbClr val="E9EEF3"/>
                </a:solidFill>
                <a:latin typeface="Arial"/>
              </a:rPr>
              <a:t>per baris; tandai kartu master bila kartu itu boleh membuka semua pintu.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Maksimal 2 kartu aktif </a:t>
            </a:r>
            <a:r>
              <a:rPr sz="1300">
                <a:solidFill>
                  <a:srgbClr val="E9EEF3"/>
                </a:solidFill>
                <a:latin typeface="Arial"/>
              </a:rPr>
              <a:t>per karyawan.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Kartu hilang: </a:t>
            </a:r>
            <a:r>
              <a:rPr sz="1300">
                <a:solidFill>
                  <a:srgbClr val="E9EEF3"/>
                </a:solidFill>
                <a:latin typeface="Arial"/>
              </a:rPr>
              <a:t>tandai hilang, bukan dihapus. Aktifkan kembali bila kartu ditemukan.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983480"/>
            <a:ext cx="6949440" cy="77724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4983480"/>
            <a:ext cx="54864" cy="777240"/>
          </a:xfrm>
          <a:prstGeom prst="rect">
            <a:avLst/>
          </a:prstGeom>
          <a:solidFill>
            <a:srgbClr val="F2C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138928"/>
            <a:ext cx="6492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E9EEF3"/>
                </a:solidFill>
                <a:latin typeface="Arial"/>
              </a:rPr>
              <a:t>Hanya admin yang boleh mengubah pengguna dan kartu. Jangan mencatat nomor kartu di dokumen atau chat.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PENGGUNA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Satu akun, banyak lantai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9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Lantai kerja </a:t>
            </a:r>
            <a:r>
              <a:rPr sz="1400" b="0">
                <a:solidFill>
                  <a:srgbClr val="E9EEF3"/>
                </a:solidFill>
                <a:latin typeface="Arial"/>
              </a:rPr>
              <a:t>di form Pengguna kini berupa daftar: pilih satu atau beberapa lantai, atau Semua lantai.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Kolom Lantai </a:t>
            </a:r>
            <a:r>
              <a:rPr sz="1400" b="0">
                <a:solidFill>
                  <a:srgbClr val="E9EEF3"/>
                </a:solidFill>
                <a:latin typeface="Arial"/>
              </a:rPr>
              <a:t>menampilkan satu chip per lantai; akun tanpa lantai diberi chip peringatan “belum diatur”.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Karyawan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bisa memesan ruangan di lantai akunnya; ruangan lantai lain ditolak 403 FLOOR_RESTRICTED.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Resepsionis </a:t>
            </a:r>
            <a:r>
              <a:rPr sz="1400" b="0">
                <a:solidFill>
                  <a:srgbClr val="E9EEF3"/>
                </a:solidFill>
                <a:latin typeface="Arial"/>
              </a:rPr>
              <a:t>melihat dan mengubah booking di semua lantai yang ia pegang, bukan hanya booking yang ia buat.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Kiosk </a:t>
            </a:r>
            <a:r>
              <a:rPr sz="1400" b="0">
                <a:solidFill>
                  <a:srgbClr val="E9EEF3"/>
                </a:solidFill>
                <a:latin typeface="Arial"/>
              </a:rPr>
              <a:t>memakai kartu karyawan: kartu hanya boleh memesan ruangan di lantai akunnya.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Data lama aman: </a:t>
            </a:r>
            <a:r>
              <a:rPr sz="1400" b="0">
                <a:solidFill>
                  <a:srgbClr val="E9EEF3"/>
                </a:solidFill>
                <a:latin typeface="Arial"/>
              </a:rPr>
              <a:t>nilai lantai tunggal (floor) tetap terbaca bila daftar lantai kosong.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Karyawan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Lantai akun saja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yang dipegang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lantai (Admin &amp; Super Admin)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Isi lantai sejak awal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Akun tanpa lantai tidak bisa memesan. Isi saat membuat user, atau massal lewat impor CSV kolom floor.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AKSES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Super Admin: akun pengaman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10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pertama /setup </a:t>
            </a:r>
            <a:r>
              <a:rPr sz="1400" b="0">
                <a:solidFill>
                  <a:srgbClr val="E9EEF3"/>
                </a:solidFill>
                <a:latin typeface="Arial"/>
              </a:rPr>
              <a:t>otomatis berperan Super Admin, bukan Admin biasa.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Selalu semua menu: </a:t>
            </a:r>
            <a:r>
              <a:rPr sz="1400" b="0">
                <a:solidFill>
                  <a:srgbClr val="E9EEF3"/>
                </a:solidFill>
                <a:latin typeface="Arial"/>
              </a:rPr>
              <a:t>baris Super Admin di matrix terkunci dan tidak bisa dicabut.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Hanya Super Admin </a:t>
            </a:r>
            <a:r>
              <a:rPr sz="1400" b="0">
                <a:solidFill>
                  <a:srgbClr val="E9EEF3"/>
                </a:solidFill>
                <a:latin typeface="Arial"/>
              </a:rPr>
              <a:t>yang bisa membuka matrix peran dan log audit.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Akun dilindungi: </a:t>
            </a:r>
            <a:r>
              <a:rPr sz="1400" b="0">
                <a:solidFill>
                  <a:srgbClr val="E9EEF3"/>
                </a:solidFill>
                <a:latin typeface="Arial"/>
              </a:rPr>
              <a:t>tombol Hapus tidak ada, role tidak bisa diturunkan, dan reset sandinya hanya oleh Super Admin lain.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Jangan untuk harian: </a:t>
            </a:r>
            <a:r>
              <a:rPr sz="1400" b="0">
                <a:solidFill>
                  <a:srgbClr val="E9EEF3"/>
                </a:solidFill>
                <a:latin typeface="Arial"/>
              </a:rPr>
              <a:t>buat akun Admin/Resepsionis untuk staf; akun Super Admin untuk perubahan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Kalau terkunci, </a:t>
            </a:r>
            <a:r>
              <a:rPr sz="1400" b="0">
                <a:solidFill>
                  <a:srgbClr val="E9EEF3"/>
                </a:solidFill>
                <a:latin typeface="Arial"/>
              </a:rPr>
              <a:t>pemulihan hanya lewat database — libatkan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tetap · matrix &amp; audit · bisa memberi role Super Admin · akun dilindungi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468880"/>
            <a:ext cx="5074920" cy="93268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514600"/>
            <a:ext cx="213146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514600"/>
            <a:ext cx="2659075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(bisa diubah) · tanpa matrix &amp; audit · tidak bisa mengubah akun Super Admin</a:t>
            </a:r>
          </a:p>
        </p:txBody>
      </p:sp>
      <p:sp>
        <p:nvSpPr>
          <p:cNvPr id="15" name="Rectangle 12 15"/>
          <p:cNvSpPr/>
          <p:nvPr/>
        </p:nvSpPr>
        <p:spPr>
          <a:xfrm>
            <a:off x="6537960" y="3794760"/>
            <a:ext cx="5074920" cy="169164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Role ini tidak muncul di form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Pilihan role di form Pengguna hanya Admin, Resepsionis, dan Pengguna. Hanya Super Admin yang boleh menetapkan role Super Admin (lewat API).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Matrix menu per peran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11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Masuk sebagai Super Admin, buka Manajemen → tab Pengaturan.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Gulir ke bagian Manajemen Peran Pengguna.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Centang menu yang boleh dibuka tiap peran (enam kolom).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Klik Simpan matriks; perubahan berlaku pada permintaan berikutnya (cache ±30 detik).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590288"/>
            <a:ext cx="562356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Matrix juga menjaga API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Mencabut Pengguna membuat peran itu tidak bisa membuat/mengubah user; mencabut Kalender menolak semua /api/events dengan 403. Sisakan satu akun Super Admin aktif.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Super Admin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 (tetap)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2199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26771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Admin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26771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Semua menu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299923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04495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Resepsionis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04495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6" name="Rectangle 7 26"/>
          <p:cNvSpPr/>
          <p:nvPr/>
        </p:nvSpPr>
        <p:spPr>
          <a:xfrm>
            <a:off x="6537960" y="37764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8 27"/>
          <p:cNvSpPr txBox="1"/>
          <p:nvPr/>
        </p:nvSpPr>
        <p:spPr>
          <a:xfrm>
            <a:off x="6720840" y="38221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Pengguna</a:t>
            </a:r>
          </a:p>
        </p:txBody>
      </p:sp>
      <p:sp>
        <p:nvSpPr>
          <p:cNvPr id="28" name="TextBox 9 28"/>
          <p:cNvSpPr txBox="1"/>
          <p:nvPr/>
        </p:nvSpPr>
        <p:spPr>
          <a:xfrm>
            <a:off x="8852306" y="38221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Kalender</a:t>
            </a:r>
          </a:p>
        </p:txBody>
      </p:sp>
      <p:sp>
        <p:nvSpPr>
          <p:cNvPr id="29" name="TextBox 9 29"/>
          <p:cNvSpPr txBox="1"/>
          <p:nvPr/>
        </p:nvSpPr>
        <p:spPr>
          <a:xfrm>
            <a:off x="6537960" y="4617720"/>
            <a:ext cx="5074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Nilai awal migrasi 022. Ubah lewat CMS, bukan SQL, agar tercatat di audit.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Log audit perubahan sensitif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12 / 22</a:t>
            </a:r>
          </a:p>
        </p:txBody>
      </p:sp>
      <p:sp>
        <p:nvSpPr>
          <p:cNvPr id="8" name="TextBox 7 8"/>
          <p:cNvSpPr txBox="1"/>
          <p:nvPr/>
        </p:nvSpPr>
        <p:spPr>
          <a:xfrm>
            <a:off x="749808" y="1417320"/>
            <a:ext cx="5577840" cy="4754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Lokasi: </a:t>
            </a:r>
            <a:r>
              <a:rPr sz="1400" b="0">
                <a:solidFill>
                  <a:srgbClr val="E9EEF3"/>
                </a:solidFill>
                <a:latin typeface="Arial"/>
              </a:rPr>
              <a:t>Pengaturan → Log audit, hanya untuk Super Admin. 100 entri terbaru, terbaru di atas.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Isi baris: </a:t>
            </a:r>
            <a:r>
              <a:rPr sz="1400" b="0">
                <a:solidFill>
                  <a:srgbClr val="E9EEF3"/>
                </a:solidFill>
                <a:latin typeface="Arial"/>
              </a:rPr>
              <a:t>waktu, pelaku, aksi, dan ringkasan nilai lama/baru.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Tercatat: </a:t>
            </a:r>
            <a:r>
              <a:rPr sz="1400" b="0">
                <a:solidFill>
                  <a:srgbClr val="E9EEF3"/>
                </a:solidFill>
                <a:latin typeface="Arial"/>
              </a:rPr>
              <a:t>pengguna (buat/ubah/hapus, role, lantai), kartu (tambah, hilang/aktif, master), reset sandi, pengaturan &amp; backup, master card, matrix akses.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Nama pelaku disalin </a:t>
            </a:r>
            <a:r>
              <a:rPr sz="1400" b="0">
                <a:solidFill>
                  <a:srgbClr val="E9EEF3"/>
                </a:solidFill>
                <a:latin typeface="Arial"/>
              </a:rPr>
              <a:t>saat kejadian, jadi riwayat tetap terbaca walau akunnya dihapus.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Nomor kartu disamarkan: </a:t>
            </a:r>
            <a:r>
              <a:rPr sz="1400" b="0">
                <a:solidFill>
                  <a:srgbClr val="E9EEF3"/>
                </a:solidFill>
                <a:latin typeface="Arial"/>
              </a:rPr>
              <a:t>hanya 4 digit terakhir yang tampil.</a:t>
            </a:r>
          </a:p>
          <a:p>
            <a:pPr marL="237744" indent="-237744">
              <a:lnSpc>
                <a:spcPct val="108000"/>
              </a:lnSpc>
              <a:spcAft>
                <a:spcPts val="1000"/>
              </a:spcAft>
              <a:buFont typeface="Arial"/>
              <a:buChar char="•"/>
            </a:pPr>
            <a:r>
              <a:rPr sz="1400" b="1">
                <a:solidFill>
                  <a:srgbClr val="E9EEF3"/>
                </a:solidFill>
                <a:latin typeface="Arial"/>
              </a:rPr>
              <a:t>Tidak bisa diubah/dihapus </a:t>
            </a:r>
            <a:r>
              <a:rPr sz="1400" b="0">
                <a:solidFill>
                  <a:srgbClr val="E9EEF3"/>
                </a:solidFill>
                <a:latin typeface="Arial"/>
              </a:rPr>
              <a:t>dari CMS; investigasi mendalam lewat database oleh tim teknis.</a:t>
            </a:r>
          </a:p>
        </p:txBody>
      </p:sp>
      <p:sp>
        <p:nvSpPr>
          <p:cNvPr id="9" name="Rectangle 7 9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8 10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Login/logout</a:t>
            </a:r>
          </a:p>
        </p:txBody>
      </p:sp>
      <p:sp>
        <p:nvSpPr>
          <p:cNvPr id="11" name="TextBox 9 11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Tidak tercatat di sini</a:t>
            </a:r>
          </a:p>
        </p:txBody>
      </p:sp>
      <p:sp>
        <p:nvSpPr>
          <p:cNvPr id="12" name="Rectangle 7 12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8 13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Meeting</a:t>
            </a:r>
          </a:p>
        </p:txBody>
      </p:sp>
      <p:sp>
        <p:nvSpPr>
          <p:cNvPr id="14" name="TextBox 9 14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Buat/ubah/batal tidak dicatat</a:t>
            </a:r>
          </a:p>
        </p:txBody>
      </p:sp>
      <p:sp>
        <p:nvSpPr>
          <p:cNvPr id="15" name="Rectangle 7 15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8 16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Kiosk</a:t>
            </a:r>
          </a:p>
        </p:txBody>
      </p:sp>
      <p:sp>
        <p:nvSpPr>
          <p:cNvPr id="17" name="TextBox 9 17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Check-in, +15, buka pintu tidak dicatat</a:t>
            </a:r>
          </a:p>
        </p:txBody>
      </p:sp>
      <p:sp>
        <p:nvSpPr>
          <p:cNvPr id="18" name="Rectangle 12 18"/>
          <p:cNvSpPr/>
          <p:nvPr/>
        </p:nvSpPr>
        <p:spPr>
          <a:xfrm>
            <a:off x="6537960" y="4069080"/>
            <a:ext cx="5074920" cy="141732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Untuk jejak itu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Pakai log server (journalctl) atau tabel event/tbl_event_rooms, bukan log audit.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PENGATURAN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Pengaturan global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13 / 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63040"/>
            <a:ext cx="448056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Timer: </a:t>
            </a:r>
            <a:r>
              <a:rPr sz="1300">
                <a:solidFill>
                  <a:srgbClr val="E9EEF3"/>
                </a:solidFill>
                <a:latin typeface="Arial"/>
              </a:rPr>
              <a:t>check-in deadline, check-in dibuka, kunci kiosk, dan LED.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First day of week </a:t>
            </a:r>
            <a:r>
              <a:rPr sz="1300">
                <a:solidFill>
                  <a:srgbClr val="E9EEF3"/>
                </a:solidFill>
                <a:latin typeface="Arial"/>
              </a:rPr>
              <a:t>menentukan awal minggu di kalender (default Senin).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Global branding: </a:t>
            </a:r>
            <a:r>
              <a:rPr sz="1300">
                <a:solidFill>
                  <a:srgbClr val="E9EEF3"/>
                </a:solidFill>
                <a:latin typeface="Arial"/>
              </a:rPr>
              <a:t>nama, judul tab, ikon, logo, favicon (maks. 512 KB).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Backup database: </a:t>
            </a:r>
            <a:r>
              <a:rPr sz="1300">
                <a:solidFill>
                  <a:srgbClr val="E9EEF3"/>
                </a:solidFill>
                <a:latin typeface="Arial"/>
              </a:rPr>
              <a:t>aktifkan backup harian, isi path, jam, dan retensi.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Cek “Last: ok” </a:t>
            </a:r>
            <a:r>
              <a:rPr sz="1300">
                <a:solidFill>
                  <a:srgbClr val="E9EEF3"/>
                </a:solidFill>
                <a:latin typeface="Arial"/>
              </a:rPr>
              <a:t>atau tekan Backup now untuk backup manual.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Simpan </a:t>
            </a:r>
            <a:r>
              <a:rPr sz="1300">
                <a:solidFill>
                  <a:srgbClr val="E9EEF3"/>
                </a:solidFill>
                <a:latin typeface="Arial"/>
              </a:rPr>
              <a:t>dengan tombol Save Settings / Save Branding.</a:t>
            </a:r>
          </a:p>
          <a:p>
            <a:pPr marL="237744" indent="-237744">
              <a:lnSpc>
                <a:spcPct val="108000"/>
              </a:lnSpc>
              <a:spcAft>
                <a:spcPts val="9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Khusus Super Admin: </a:t>
            </a:r>
            <a:r>
              <a:rPr sz="1300">
                <a:solidFill>
                  <a:srgbClr val="E9EEF3"/>
                </a:solidFill>
                <a:latin typeface="Arial"/>
              </a:rPr>
              <a:t>matrix peran dan log audit ada di bawah halaman ini.</a:t>
            </a:r>
          </a:p>
        </p:txBody>
      </p:sp>
      <p:pic>
        <p:nvPicPr>
          <p:cNvPr id="9" name="Picture 8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355080" cy="388365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57800" y="1417320"/>
            <a:ext cx="6355080" cy="388365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5364988"/>
            <a:ext cx="63550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Timer, first day of week, dan backup database.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5577840"/>
            <a:ext cx="6309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96A2B0"/>
                </a:solidFill>
                <a:latin typeface="Arial"/>
              </a:rPr>
              <a:t>Panel Global branding ada di bawah halaman yang sama: nama, judul tab, ikon, logo, dan favicon.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Perangkat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14 / 22</a:t>
            </a:r>
          </a:p>
        </p:txBody>
      </p:sp>
      <p:pic>
        <p:nvPicPr>
          <p:cNvPr id="8" name="Picture 7" descr="tabl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7132320" cy="19811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7132320" cy="1981199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462528"/>
            <a:ext cx="7452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Tab Tablet Devices: status, LED, Judul, last seen, dan Revoke.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4160520"/>
            <a:ext cx="7223760" cy="1417320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4160520"/>
            <a:ext cx="54864" cy="141732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43400"/>
            <a:ext cx="6766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E9EEF3"/>
                </a:solidFill>
                <a:latin typeface="Arial"/>
              </a:rPr>
              <a:t>Satu ruangan = satu tablet aktif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75488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96A2B0"/>
                </a:solidFill>
                <a:latin typeface="Arial"/>
              </a:rPr>
              <a:t>Pairing kedua ditolak selama tablet lama masih aktif. Cabut perangkat lama lebih dulu, lalu pairing yang baru.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6118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Satu ruangan hanya boleh punya satu tablet aktif.</a:t>
            </a:r>
            <a:r>
              <a:rPr sz="1300">
                <a:solidFill>
                  <a:srgbClr val="E9EEF3"/>
                </a:solidFill>
                <a:latin typeface="Arial"/>
              </a:rPr>
              <a:t/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Status: </a:t>
            </a:r>
            <a:r>
              <a:rPr sz="1300">
                <a:solidFill>
                  <a:srgbClr val="E9EEF3"/>
                </a:solidFill>
                <a:latin typeface="Arial"/>
              </a:rPr>
              <a:t>Online, Offline, Dicabut, atau Kedaluwarsa (tidak dipakai &gt;30 hari).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LED dan Judul </a:t>
            </a:r>
            <a:r>
              <a:rPr sz="1300">
                <a:solidFill>
                  <a:srgbClr val="E9EEF3"/>
                </a:solidFill>
                <a:latin typeface="Arial"/>
              </a:rPr>
              <a:t>bisa diatur per tablet.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Ganti tablet: </a:t>
            </a:r>
            <a:r>
              <a:rPr sz="1300">
                <a:solidFill>
                  <a:srgbClr val="E9EEF3"/>
                </a:solidFill>
                <a:latin typeface="Arial"/>
              </a:rPr>
              <a:t>Revoke perangkat lama, lalu pairing perangkat baru.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APK: </a:t>
            </a:r>
            <a:r>
              <a:rPr sz="1300">
                <a:solidFill>
                  <a:srgbClr val="E9EEF3"/>
                </a:solidFill>
                <a:latin typeface="Arial"/>
              </a:rPr>
              <a:t>tombol Download Tablet APK di kanan atas.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 2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 3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CMS · PERANGKAT</a:t>
            </a:r>
          </a:p>
        </p:txBody>
      </p:sp>
      <p:sp>
        <p:nvSpPr>
          <p:cNvPr id="4" name="TextBox 3 4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Unduh dan update APK tablet</a:t>
            </a:r>
          </a:p>
        </p:txBody>
      </p:sp>
      <p:sp>
        <p:nvSpPr>
          <p:cNvPr id="5" name="Rectangle 4 5"/>
          <p:cNvSpPr/>
          <p:nvPr/>
        </p:nvSpPr>
        <p:spPr>
          <a:xfrm>
            <a:off x="566928" y="6492240"/>
            <a:ext cx="11064240" cy="9144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 6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 7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15 / 22</a:t>
            </a:r>
          </a:p>
        </p:txBody>
      </p:sp>
      <p:sp>
        <p:nvSpPr>
          <p:cNvPr id="8" name="TextBox 4 8"/>
          <p:cNvSpPr txBox="1"/>
          <p:nvPr/>
        </p:nvSpPr>
        <p:spPr>
          <a:xfrm>
            <a:off x="594360" y="141732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5 9"/>
          <p:cNvSpPr txBox="1"/>
          <p:nvPr/>
        </p:nvSpPr>
        <p:spPr>
          <a:xfrm>
            <a:off x="960120" y="1417320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https://&lt;domain&gt;/apk/index.html atau tombol Unduh APK Tablet.</a:t>
            </a:r>
          </a:p>
        </p:txBody>
      </p:sp>
      <p:sp>
        <p:nvSpPr>
          <p:cNvPr id="10" name="TextBox 4 10"/>
          <p:cNvSpPr txBox="1"/>
          <p:nvPr/>
        </p:nvSpPr>
        <p:spPr>
          <a:xfrm>
            <a:off x="594360" y="213055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5 11"/>
          <p:cNvSpPr txBox="1"/>
          <p:nvPr/>
        </p:nvSpPr>
        <p:spPr>
          <a:xfrm>
            <a:off x="960120" y="2130552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Pindahkan APK ke tablet, buka file, dan izinkan instalasi sekali.</a:t>
            </a:r>
          </a:p>
        </p:txBody>
      </p:sp>
      <p:sp>
        <p:nvSpPr>
          <p:cNvPr id="12" name="TextBox 4 12"/>
          <p:cNvSpPr txBox="1"/>
          <p:nvPr/>
        </p:nvSpPr>
        <p:spPr>
          <a:xfrm>
            <a:off x="594360" y="28437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3" name="TextBox 5 13"/>
          <p:cNvSpPr txBox="1"/>
          <p:nvPr/>
        </p:nvSpPr>
        <p:spPr>
          <a:xfrm>
            <a:off x="960120" y="2843784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Buka aplikasi kiosk dan cek footer: v1.4.1 (22) · CMS 3.12.0.</a:t>
            </a:r>
          </a:p>
        </p:txBody>
      </p:sp>
      <p:sp>
        <p:nvSpPr>
          <p:cNvPr id="14" name="TextBox 4 14"/>
          <p:cNvSpPr txBox="1"/>
          <p:nvPr/>
        </p:nvSpPr>
        <p:spPr>
          <a:xfrm>
            <a:off x="594360" y="355701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5" name="TextBox 5 15"/>
          <p:cNvSpPr txBox="1"/>
          <p:nvPr/>
        </p:nvSpPr>
        <p:spPr>
          <a:xfrm>
            <a:off x="960120" y="3557016"/>
            <a:ext cx="49834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Cek status Online di Perangkat Tablet; bila perlu, pairing ulang.</a:t>
            </a:r>
          </a:p>
        </p:txBody>
      </p:sp>
      <p:sp>
        <p:nvSpPr>
          <p:cNvPr id="16" name="Rectangle 12 16"/>
          <p:cNvSpPr/>
          <p:nvPr/>
        </p:nvSpPr>
        <p:spPr>
          <a:xfrm>
            <a:off x="566928" y="4389120"/>
            <a:ext cx="5623560" cy="15544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Rilis saat ini: 1.4.1 (22)</a:t>
            </a:r>
          </a:p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Build tag 1.4.1-22-3b79432. Unduh hanya dari server sendiri — jangan pakai file dari chat atau email. Catat versi yang dipasang di buku serah terima.</a:t>
            </a:r>
          </a:p>
        </p:txBody>
      </p:sp>
      <p:sp>
        <p:nvSpPr>
          <p:cNvPr id="17" name="Rectangle 7 17"/>
          <p:cNvSpPr/>
          <p:nvPr/>
        </p:nvSpPr>
        <p:spPr>
          <a:xfrm>
            <a:off x="6537960" y="144475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8 18"/>
          <p:cNvSpPr txBox="1"/>
          <p:nvPr/>
        </p:nvSpPr>
        <p:spPr>
          <a:xfrm>
            <a:off x="6720840" y="149047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Halaman unduh</a:t>
            </a:r>
          </a:p>
        </p:txBody>
      </p:sp>
      <p:sp>
        <p:nvSpPr>
          <p:cNvPr id="19" name="TextBox 9 19"/>
          <p:cNvSpPr txBox="1"/>
          <p:nvPr/>
        </p:nvSpPr>
        <p:spPr>
          <a:xfrm>
            <a:off x="8852306" y="149047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/apk/index.html → tombol Download APK</a:t>
            </a:r>
          </a:p>
        </p:txBody>
      </p:sp>
      <p:sp>
        <p:nvSpPr>
          <p:cNvPr id="20" name="Rectangle 7 20"/>
          <p:cNvSpPr/>
          <p:nvPr/>
        </p:nvSpPr>
        <p:spPr>
          <a:xfrm>
            <a:off x="6537960" y="226771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8 21"/>
          <p:cNvSpPr txBox="1"/>
          <p:nvPr/>
        </p:nvSpPr>
        <p:spPr>
          <a:xfrm>
            <a:off x="6720840" y="231343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File paket</a:t>
            </a:r>
          </a:p>
        </p:txBody>
      </p:sp>
      <p:sp>
        <p:nvSpPr>
          <p:cNvPr id="22" name="TextBox 9 22"/>
          <p:cNvSpPr txBox="1"/>
          <p:nvPr/>
        </p:nvSpPr>
        <p:spPr>
          <a:xfrm>
            <a:off x="8852306" y="231343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/apk/kiosk-release.apk</a:t>
            </a:r>
          </a:p>
        </p:txBody>
      </p:sp>
      <p:sp>
        <p:nvSpPr>
          <p:cNvPr id="23" name="Rectangle 7 23"/>
          <p:cNvSpPr/>
          <p:nvPr/>
        </p:nvSpPr>
        <p:spPr>
          <a:xfrm>
            <a:off x="6537960" y="3090672"/>
            <a:ext cx="5074920" cy="71323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8 24"/>
          <p:cNvSpPr txBox="1"/>
          <p:nvPr/>
        </p:nvSpPr>
        <p:spPr>
          <a:xfrm>
            <a:off x="6720840" y="3136392"/>
            <a:ext cx="2131466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Versi CMS</a:t>
            </a:r>
          </a:p>
        </p:txBody>
      </p:sp>
      <p:sp>
        <p:nvSpPr>
          <p:cNvPr id="25" name="TextBox 9 25"/>
          <p:cNvSpPr txBox="1"/>
          <p:nvPr/>
        </p:nvSpPr>
        <p:spPr>
          <a:xfrm>
            <a:off x="8852306" y="3136392"/>
            <a:ext cx="2659075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dari footer CMS / package.json</a:t>
            </a:r>
          </a:p>
        </p:txBody>
      </p:sp>
      <p:sp>
        <p:nvSpPr>
          <p:cNvPr id="26" name="TextBox 9 26"/>
          <p:cNvSpPr txBox="1"/>
          <p:nvPr/>
        </p:nvSpPr>
        <p:spPr>
          <a:xfrm>
            <a:off x="6537960" y="4023360"/>
            <a:ext cx="50749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Operator yang mengganti paket: perbarui juga versi di halaman /apk dan riwayat di public/apk/README.md.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Empat status di layar tablet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16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371600"/>
            <a:ext cx="2011680" cy="1257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371600"/>
            <a:ext cx="2011680" cy="1257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48132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AVAILABLE — hijau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4708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Ruangan kosong dan bisa dipakai sekarang.</a:t>
            </a:r>
          </a:p>
        </p:txBody>
      </p:sp>
      <p:pic>
        <p:nvPicPr>
          <p:cNvPr id="12" name="Picture 11" descr="kiosk-star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651760"/>
            <a:ext cx="2011680" cy="117086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265176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80" y="276148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STARTING SOON — kuning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312724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berikutnya dekat; check-in sudah dibuka.</a:t>
            </a:r>
          </a:p>
        </p:txBody>
      </p:sp>
      <p:pic>
        <p:nvPicPr>
          <p:cNvPr id="16" name="Picture 15" descr="kiosk-inuse-cle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931920"/>
            <a:ext cx="2011680" cy="117086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9808" y="3931920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041648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IN USE — merah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4407408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Rapat sedang berjalan dan sudah check-in.</a:t>
            </a:r>
          </a:p>
        </p:txBody>
      </p:sp>
      <p:pic>
        <p:nvPicPr>
          <p:cNvPr id="20" name="Picture 19" descr="kiosk-off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5212079"/>
            <a:ext cx="2011680" cy="117086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49808" y="5212079"/>
            <a:ext cx="2011680" cy="117086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54680" y="5321807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E9EEF3"/>
                </a:solidFill>
                <a:latin typeface="Arial"/>
              </a:rPr>
              <a:t>OFFLINE — abu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5687567"/>
            <a:ext cx="8138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96A2B0"/>
                </a:solidFill>
                <a:latin typeface="Arial"/>
              </a:rPr>
              <a:t>Tablet tidak terhubung server. Jangan anggap ruangan kosong.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KARTU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Kartu untuk check-in dan +15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17 / 22</a:t>
            </a:r>
          </a:p>
        </p:txBody>
      </p:sp>
      <p:pic>
        <p:nvPicPr>
          <p:cNvPr id="8" name="Picture 7" descr="kiosk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120640" cy="268833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120640" cy="2688336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16966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Dialog konfirmasi kartu saat +15 minutes.</a:t>
            </a:r>
          </a:p>
        </p:txBody>
      </p:sp>
      <p:pic>
        <p:nvPicPr>
          <p:cNvPr id="11" name="Picture 10" descr="kiosk-inuse-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754880" cy="276748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92240" y="1417320"/>
            <a:ext cx="4754880" cy="2767488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248816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Rapat berjalan: +15 minutes dan Finish.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9377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Check-in: </a:t>
            </a:r>
            <a:r>
              <a:rPr sz="1150">
                <a:solidFill>
                  <a:srgbClr val="E9EEF3"/>
                </a:solidFill>
                <a:latin typeface="Arial"/>
              </a:rPr>
              <a:t>tempel kartu karyawan/peserta, atau ketik nomor kartu.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+15 minutes wajib kartu lagi </a:t>
            </a:r>
            <a:r>
              <a:rPr sz="1150">
                <a:solidFill>
                  <a:srgbClr val="E9EEF3"/>
                </a:solidFill>
                <a:latin typeface="Arial"/>
              </a:rPr>
              <a:t>(peserta atau kartu master).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Finish: 5 ketukan </a:t>
            </a:r>
            <a:r>
              <a:rPr sz="1150">
                <a:solidFill>
                  <a:srgbClr val="E9EEF3"/>
                </a:solidFill>
                <a:latin typeface="Arial"/>
              </a:rPr>
              <a:t>agar rapat tidak selesai karena tersenggol.</a:t>
            </a:r>
          </a:p>
          <a:p>
            <a:pPr marL="237744" indent="-237744">
              <a:lnSpc>
                <a:spcPct val="108000"/>
              </a:lnSpc>
              <a:spcAft>
                <a:spcPts val="600"/>
              </a:spcAft>
              <a:buFont typeface="Arial"/>
              <a:buChar char="•"/>
            </a:pPr>
            <a:r>
              <a:rPr sz="1150" b="1">
                <a:solidFill>
                  <a:srgbClr val="E9EEF3"/>
                </a:solidFill>
                <a:latin typeface="Arial"/>
              </a:rPr>
              <a:t>Finish baru terbuka saat jam mulai; </a:t>
            </a:r>
            <a:r>
              <a:rPr sz="1150">
                <a:solidFill>
                  <a:srgbClr val="E9EEF3"/>
                </a:solidFill>
                <a:latin typeface="Arial"/>
              </a:rPr>
              <a:t>sebelum itu gunakan Cancel.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5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DDC84"/>
                </a:solidFill>
                <a:latin typeface="Arial"/>
              </a:defRPr>
            </a:pPr>
            <a:r>
              <a:t>TABLET ·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4F6F8"/>
                </a:solidFill>
                <a:latin typeface="Arial"/>
              </a:defRPr>
            </a:pPr>
            <a:r>
              <a:t>Easter egg: tombol Selesai tidak terlihat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D25A"/>
                </a:solidFill>
                <a:latin typeface="Arial"/>
              </a:defRPr>
            </a:pPr>
            <a:r>
              <a:t>5 tap pada pill IN USE — bukan tombol biasa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01168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01168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Pastikan meeting sudah check-in dan pill berstatus IN 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7860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78608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pill IN USE sebanyak 5 kali dalam ±4 detik.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4553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4553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Tombol “Selesai” muncul di bawah pill.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1246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DDC84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4F6F8"/>
                </a:solidFill>
                <a:latin typeface="Arial"/>
              </a:defRPr>
            </a:pPr>
            <a:r>
              <a:t>Tap Selesai → konfirmasi → ruangan kembali AVAILABLE.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34840"/>
            <a:ext cx="5669280" cy="1325880"/>
          </a:xfrm>
          <a:prstGeom prst="rect">
            <a:avLst/>
          </a:prstGeom>
          <a:solidFill>
            <a:srgbClr val="3A2A00"/>
          </a:solidFill>
          <a:ln>
            <a:solidFill>
              <a:srgbClr val="FFB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b="1" sz="1400">
                <a:solidFill>
                  <a:srgbClr val="FFD25A"/>
                </a:solidFill>
                <a:latin typeface="Arial"/>
              </a:defRPr>
            </a:pPr>
            <a:r>
              <a:t>Check-in lebih awal dari jam mulai?</a:t>
            </a:r>
          </a:p>
          <a:p>
            <a:pPr>
              <a:defRPr sz="1200">
                <a:solidFill>
                  <a:srgbClr val="F4F6F8"/>
                </a:solidFill>
                <a:latin typeface="Arial"/>
              </a:defRPr>
            </a:pPr>
            <a:r>
              <a:t>5 tap tetap dilakukan, tetapi kiosk hanya menampilkan “Selesai aktif pukul HH:MM”. Tombol Selesai baru bisa dipakai setelah jam mulai.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9893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Admin IT: jangan tutup/restart aplikasi untuk menyelesaikan meeting. Gunakan 5 tap pill; Cancel di CMS hanya untuk booking yang salah.</a:t>
            </a:r>
          </a:p>
        </p:txBody>
      </p:sp>
      <p:pic>
        <p:nvPicPr>
          <p:cNvPr id="15" name="Picture 14" descr="flow-finish-bt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920240"/>
            <a:ext cx="5074920" cy="31718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6520" y="5806440"/>
            <a:ext cx="5074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A9B3BF"/>
                </a:solidFill>
                <a:latin typeface="Arial"/>
              </a:defRPr>
            </a:pPr>
            <a:r>
              <a:t>Tombol Selesai muncul setelah 5 tap pill IN USE.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TABLET · PAKAI LANGSUNG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Memilih waktu dan pakai langsung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19 / 22</a:t>
            </a:r>
          </a:p>
        </p:txBody>
      </p:sp>
      <p:pic>
        <p:nvPicPr>
          <p:cNvPr id="8" name="Picture 7" descr="kiosk-avail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417320"/>
            <a:ext cx="5669280" cy="35433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8" y="1417320"/>
            <a:ext cx="5669280" cy="3543300"/>
          </a:xfrm>
          <a:prstGeom prst="rect">
            <a:avLst/>
          </a:prstGeom>
          <a:noFill/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5024628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AVAILABLE: “30 minutes” atau “Pick a time”.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508760"/>
            <a:ext cx="47548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30 minutes: </a:t>
            </a:r>
            <a:r>
              <a:rPr sz="1300">
                <a:solidFill>
                  <a:srgbClr val="E9EEF3"/>
                </a:solidFill>
                <a:latin typeface="Arial"/>
              </a:rPr>
              <a:t>langsung pakai 30 menit, tanpa memilih jam.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Pick a time: </a:t>
            </a:r>
            <a:r>
              <a:rPr sz="1300">
                <a:solidFill>
                  <a:srgbClr val="E9EEF3"/>
                </a:solidFill>
                <a:latin typeface="Arial"/>
              </a:rPr>
              <a:t>pilih durasi atau jam sesuai kebutuhan.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STARTING SOON: </a:t>
            </a:r>
            <a:r>
              <a:rPr sz="1300">
                <a:solidFill>
                  <a:srgbClr val="E9EEF3"/>
                </a:solidFill>
                <a:latin typeface="Arial"/>
              </a:rPr>
              <a:t>tombol “Use for 10 minutes” memakai ruangan sampai rapat berikutnya.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Pemakaian langsung otomatis check-in </a:t>
            </a:r>
            <a:r>
              <a:rPr sz="1300">
                <a:solidFill>
                  <a:srgbClr val="E9EEF3"/>
                </a:solidFill>
                <a:latin typeface="Arial"/>
              </a:rPr>
              <a:t>dan langsung tampil di CMS.</a:t>
            </a:r>
          </a:p>
          <a:p>
            <a:pPr marL="237744" indent="-237744">
              <a:lnSpc>
                <a:spcPct val="108000"/>
              </a:lnSpc>
              <a:spcAft>
                <a:spcPts val="1100"/>
              </a:spcAft>
              <a:buFont typeface="Arial"/>
              <a:buChar char="•"/>
            </a:pPr>
            <a:r>
              <a:rPr sz="1300" b="1">
                <a:solidFill>
                  <a:srgbClr val="E9EEF3"/>
                </a:solidFill>
                <a:latin typeface="Arial"/>
              </a:rPr>
              <a:t>Batas: </a:t>
            </a:r>
            <a:r>
              <a:rPr sz="1300">
                <a:solidFill>
                  <a:srgbClr val="E9EEF3"/>
                </a:solidFill>
                <a:latin typeface="Arial"/>
              </a:rPr>
              <a:t>maksimal 4 jam, hari yang sama, atau sampai rapat berikutnya.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BANTUAN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Jika ada masalah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20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43560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Tidak bisa masuk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3560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alamat CMS dan jaringan. Pesan CORS berarti alamat CMS belum diizinkan server. Pastikan akun aktif dan kata sandi benar.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235000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9572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Tablet 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9572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Wi-Fi dan alamat server tablet. Lihat Last Seen di Tablet Devices; bila perlu revoke lalu pairing ulang.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331012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35584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Kartu tidak dikenali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35584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kartu terdaftar di Users, status aktif, dan maksimal 2 kartu per karyawan. Kartu hilang harus diaktifkan kembali.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270248"/>
            <a:ext cx="10744200" cy="896112"/>
          </a:xfrm>
          <a:prstGeom prst="rect">
            <a:avLst/>
          </a:prstGeom>
          <a:solidFill>
            <a:srgbClr val="0F141A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31596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Event tidak muncul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31596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Cek filter lantai/ruangan dan rentang tanggal. Booking tanpa check-in dilepas otomatis setelah batas waktu.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5230368"/>
            <a:ext cx="10744200" cy="896112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5276088"/>
            <a:ext cx="23774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DDC84"/>
                </a:solidFill>
                <a:latin typeface="Arial"/>
              </a:rPr>
              <a:t>Finish tidak bisa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5276088"/>
            <a:ext cx="78638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E9EEF3"/>
                </a:solidFill>
                <a:latin typeface="Arial"/>
              </a:rPr>
              <a:t>Finish baru aktif saat jam mulai. Untuk mengakhiri lebih awal gunakan alur yang sesuai; +15 minutes butuh kartu.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57200"/>
            <a:ext cx="64008" cy="6583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6576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3DDC84"/>
                </a:solidFill>
                <a:latin typeface="Arial"/>
              </a:rPr>
              <a:t>SERAH TERIMA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E9EEF3"/>
                </a:solidFill>
                <a:latin typeface="Arial"/>
              </a:rPr>
              <a:t>Checklist sebelum dipakai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92240"/>
            <a:ext cx="11064240" cy="10972"/>
          </a:xfrm>
          <a:prstGeom prst="rect">
            <a:avLst/>
          </a:prstGeom>
          <a:solidFill>
            <a:srgbClr val="2A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56248"/>
            <a:ext cx="8686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RoomBooking · Panduan CMS &amp; Tablet Kiosk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556248"/>
            <a:ext cx="120700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96A2B0"/>
                </a:solidFill>
                <a:latin typeface="Arial"/>
              </a:rPr>
              <a:t>21 / 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7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Akun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7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Super Admin, Admin, dan resepsionis dibuat; lantai kerja diisi benar.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Ruangan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7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Data ruangan lengkap; tablet sudah pairing dan Online.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7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Kartu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7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Kartu karyawan terdaftar (maks. 2 aktif); kartu master disiapkan.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7648" y="138988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27648" y="138988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15361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Pengaturan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84708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Timer, first day of week, dan branding disetel.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7648" y="271576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27648" y="271576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6248" y="286207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Backup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317296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Backup harian aktif, path benar, dan sudah diuji restore.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4041648"/>
            <a:ext cx="5257800" cy="1115568"/>
          </a:xfrm>
          <a:prstGeom prst="rect">
            <a:avLst/>
          </a:prstGeom>
          <a:solidFill>
            <a:srgbClr val="171E26"/>
          </a:solidFill>
          <a:ln w="12700">
            <a:solidFill>
              <a:srgbClr val="2A34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27648" y="4041648"/>
            <a:ext cx="54864" cy="1115568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418795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9EEF3"/>
                </a:solidFill>
                <a:latin typeface="Arial"/>
              </a:rPr>
              <a:t>Uji alur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56248" y="4498848"/>
            <a:ext cx="48006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96A2B0"/>
                </a:solidFill>
                <a:latin typeface="Arial"/>
              </a:rPr>
              <a:t>Booking → check-in → +15 → Finish → Cancel → lihat laporan.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7150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E9EEF3"/>
                </a:solidFill>
                <a:latin typeface="Arial"/>
              </a:rPr>
              <a:t>Kontak: Administrator RoomBooking — gunakan tautan “Lupa kata sandi?” di halaman Masuk atau saluran IT kantor.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1051560"/>
            <a:ext cx="64008" cy="3200400"/>
          </a:xfrm>
          <a:prstGeom prst="rect">
            <a:avLst/>
          </a:prstGeom>
          <a:solidFill>
            <a:srgbClr val="3DDC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00584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DDC84"/>
                </a:solidFill>
                <a:latin typeface="Arial"/>
              </a:rPr>
              <a:t>PENUTUP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3716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E9EEF3"/>
                </a:solidFill>
                <a:latin typeface="Arial"/>
              </a:rPr>
              <a:t>Siap dipakai di lantai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60320"/>
            <a:ext cx="8961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Simpan panduan ini di dekat tablet dan meja resepsionis.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6A2B0"/>
                </a:solidFill>
                <a:latin typeface="Arial"/>
              </a:rPr>
              <a:t>Perbarui slide versi setiap ada rilis baru.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379476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3DDC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3DDC84"/>
                </a:solidFill>
                <a:latin typeface="Arial"/>
              </a:rPr>
              <a:t>CMS v3.12.0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3794760"/>
            <a:ext cx="1874519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F2C1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F2C14E"/>
                </a:solidFill>
                <a:latin typeface="Arial"/>
              </a:rPr>
              <a:t>APK 1.4.1 (22)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794760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1C242E"/>
          </a:solidFill>
          <a:ln w="12700">
            <a:solidFill>
              <a:srgbClr val="96A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50" b="1">
                <a:solidFill>
                  <a:srgbClr val="96A2B0"/>
                </a:solidFill>
                <a:latin typeface="Arial"/>
              </a:rPr>
              <a:t>26 Oktober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E9EEF3"/>
                </a:solidFill>
                <a:latin typeface="Arial"/>
              </a:rPr>
              <a:t>Pertanyaan: hubungi Administrator RoomBooking atau tim IT kantor.</a:t>
            </a:r>
          </a:p>
        </p:txBody>
      </p:sp>
      <p:pic>
        <p:nvPicPr>
          <p:cNvPr id="11" name="Picture 10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4480560"/>
            <a:ext cx="1571191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RoomBooking — Panduan CMS &amp; Tablet Kiosk</dc:title>
  <dc:subject>Panduan pemakaian RoomBooking CMS v3.11.0 dan APK tablet 1.3.7 (18)</dc:subject>
  <dc:creator>Tim 360 Scheduler</dc:creator>
  <cp:keywords>RoomBooking, CMS, tablet kiosk, panduan, The Prasada</cp:keywords>
  <dc:description>Dokumen pelatihan operasional. Screenshot dari lingkungan UAT.</dc:description>
  <cp:lastModifiedBy>Tim 360 Scheduler</cp:lastModifiedBy>
  <cp:revision>1</cp:revision>
  <dcterms:created xsi:type="dcterms:W3CDTF">2013-01-27T09:14:16Z</dcterms:created>
  <dcterms:modified xsi:type="dcterms:W3CDTF">2013-01-27T09:15:58Z</dcterms:modified>
  <cp:category/>
</cp:coreProperties>
</file>