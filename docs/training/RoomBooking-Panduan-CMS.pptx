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Deck ini fokus pada penggunaan CMS, bukan tablet. Untuk panduan tablet, gunakan deck “Panduan CMS &amp; Tablet Kiosk”. Versi acuan CMS 3.13.0 (Ver 3 Rev 14). Semua screenshot dari UAT; data pengguna disamarkan.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Beri gambaran bahwa CMS adalah pusat kontrol. Menu yang terlihat bisa berbeda per role; itu fitur, bukan bug.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Tunjukkan ketiga area. Management punya tab internal; Report terpisah. Profil/tema ada di kanan atas.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Tunjukkan login. Jika akun baru/impor, layar wajib ganti password muncul sebelum halaman lain. Jangan memakai akun Super Admin untuk booking harian.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Kalender adalah halaman awal. Tunjukkan Add Meeting, mode, dan status. Jelaskan bahwa daftar ruangan mengikuti lantai akun.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Resepsionis memakai Semua; karyawan Saya; cek satu ruangan pakai Ruangan. Agenda lebih mudah untuk briefing pagi.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Tunjukkan field wajib. Tanggal dan jam terpisah; format 24 jam. Lokasi wajib. Setelah Save, event muncul di tablet.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Bahas contoh salah. Judul spesifik memudahkan pencarian dan laporan. Lokasi kosong akan ditolak.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Tunjukkan autocomplete dan validasi email. Tamu tidak perlu akun CMS.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Beri contoh. Jika field kosong, meeting milik resepsionis. Ruangan harus di lantai resepsionis.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Jelaskan pola. Untuk bulanan, tanggal 31 melewati bulan tanpa tanggal 31. Perubahan seri harus hati-hati.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Tunjukkan drawer detail. Cancel tidak menghapus event dari database, tetapi menonaktifkan ruangan.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Agenda menampilkan lantai di kanan. Gunakan untuk briefing pagi dan cek ruangan.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Tunjukkan pencarian dan filter. Data di screenshot disamarkan. Jangan mencatat nomor kartu.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Tekankan perbedaan role dan lantai. Role mengatur menu; lantai mengatur ruangan. Super Admin bukan akun harian.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Kartu adalah kunci fisik. Kartu hilang harus ditandai, bukan dihapus. Kartu master hanya untuk orang berwenang.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Jangan mengubah lantai sembarangan; itu mengubah siapa yang boleh memesan. Menghapus ruangan mencabut tablet.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Satu ruangan satu tablet. Revoke dulu sebelum pairing baru. LED opsional; Subject untuk privasi.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Timer global. Backup harus diuji restore; path harus writable. Perubahan settings tidak otomatis refresh semua klien.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Branding disimpan di DB. Jangan upload file besar; maks 512 KB. Cek di login, header, footer, dan tab.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Tabel ini contoh default; matrix bisa diubah. Super Admin selalu semua menu. Perubahan cache ±30 detik.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Audit bukan log aktivitas penuh. Untuk check-in/meeting, gunakan log server/tabel event.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Report untuk rekap, bukan audit. Rentang dibatasi 366 hari. Ekspor Excel untuk analisis lanjutan.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Sesuaikan dengan operasi. Harian fokus tablet/user; mingguan data; bulanan restore/matrix/APK.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Urutan: konfigurasi → data → infrastruktur. Jangan mengubah DB untuk masalah UI.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Keamanan bukan hanya IT. Admin memegang data; resepsionis memegang kartu master. Pemisahan akun penting untuk audit.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Jangan serah terima sebelum uji alur dan backup restore. Pastikan satu Super Admin aktif.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Tutup dengan kontak dan lokasi panduan. Jangan mencantumkan password/kartu di versi cetak.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5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0"/>
            <a:ext cx="7315" cy="6858000"/>
          </a:xfrm>
          <a:prstGeom prst="rect">
            <a:avLst/>
          </a:prstGeom>
          <a:solidFill>
            <a:srgbClr val="253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4440" y="0"/>
            <a:ext cx="7315" cy="6858000"/>
          </a:xfrm>
          <a:prstGeom prst="rect">
            <a:avLst/>
          </a:prstGeom>
          <a:solidFill>
            <a:srgbClr val="253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7315" cy="6858000"/>
          </a:xfrm>
          <a:prstGeom prst="rect">
            <a:avLst/>
          </a:prstGeom>
          <a:solidFill>
            <a:srgbClr val="253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"/>
            <a:ext cx="12161520" cy="7315"/>
          </a:xfrm>
          <a:prstGeom prst="rect">
            <a:avLst/>
          </a:prstGeom>
          <a:solidFill>
            <a:srgbClr val="253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234440"/>
            <a:ext cx="12161520" cy="7315"/>
          </a:xfrm>
          <a:prstGeom prst="rect">
            <a:avLst/>
          </a:prstGeom>
          <a:solidFill>
            <a:srgbClr val="253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1828800"/>
            <a:ext cx="12161520" cy="7315"/>
          </a:xfrm>
          <a:prstGeom prst="rect">
            <a:avLst/>
          </a:prstGeom>
          <a:solidFill>
            <a:srgbClr val="253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309360"/>
            <a:ext cx="12161520" cy="7315"/>
          </a:xfrm>
          <a:prstGeom prst="rect">
            <a:avLst/>
          </a:prstGeom>
          <a:solidFill>
            <a:srgbClr val="253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321040" y="-1005840"/>
            <a:ext cx="5029200" cy="5029200"/>
          </a:xfrm>
          <a:prstGeom prst="ellipse">
            <a:avLst/>
          </a:prstGeom>
          <a:noFill/>
          <a:ln w="13970">
            <a:solidFill>
              <a:srgbClr val="2FB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235440" y="3657600"/>
            <a:ext cx="3931920" cy="3931920"/>
          </a:xfrm>
          <a:prstGeom prst="ellipse">
            <a:avLst/>
          </a:prstGeom>
          <a:noFill/>
          <a:ln w="13970">
            <a:solidFill>
              <a:srgbClr val="2FB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502920"/>
            <a:ext cx="1965960" cy="95832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863840" y="56692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19" b="1" i="0">
                <a:solidFill>
                  <a:srgbClr val="3DDC84"/>
                </a:solidFill>
                <a:latin typeface="Arial"/>
              </a:rPr>
              <a:t>PANDUAN PENGGUNAAN CMS ·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1783080"/>
            <a:ext cx="8229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000" b="1" i="0">
                <a:solidFill>
                  <a:srgbClr val="FFFFFF"/>
                </a:solidFill>
                <a:latin typeface="Arial"/>
              </a:rPr>
              <a:t>Panduan CMS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651760"/>
            <a:ext cx="8229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0" i="0">
                <a:solidFill>
                  <a:srgbClr val="3DDC84"/>
                </a:solidFill>
                <a:latin typeface="Arial"/>
              </a:rPr>
              <a:t>RoomBooking untuk Admin &amp; Resepsionis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429000"/>
            <a:ext cx="76809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C9D3CC"/>
                </a:solidFill>
                <a:latin typeface="Arial"/>
              </a:rPr>
              <a:t>Mengelola kalender, booking, pengguna, kartu,
ruangan, tablet, pengaturan, dan laporan.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4526280"/>
            <a:ext cx="1325880" cy="274320"/>
          </a:xfrm>
          <a:prstGeom prst="roundRect">
            <a:avLst>
              <a:gd name="adj" fmla="val 50000"/>
            </a:avLst>
          </a:prstGeom>
          <a:solidFill>
            <a:srgbClr val="1E3B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/>
            <a:r>
              <a:rPr sz="950" b="1">
                <a:solidFill>
                  <a:srgbClr val="3DDC84"/>
                </a:solidFill>
                <a:latin typeface="Arial"/>
              </a:rPr>
              <a:t>CMS 3.13.0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130552" y="4526280"/>
            <a:ext cx="1600200" cy="274320"/>
          </a:xfrm>
          <a:prstGeom prst="roundRect">
            <a:avLst>
              <a:gd name="adj" fmla="val 50000"/>
            </a:avLst>
          </a:prstGeom>
          <a:solidFill>
            <a:srgbClr val="1E3B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/>
            <a:r>
              <a:rPr sz="950" b="1">
                <a:solidFill>
                  <a:srgbClr val="3DDC84"/>
                </a:solidFill>
                <a:latin typeface="Arial"/>
              </a:rPr>
              <a:t>APK 1.4.5 (26)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43400" y="4526280"/>
            <a:ext cx="1691640" cy="274320"/>
          </a:xfrm>
          <a:prstGeom prst="roundRect">
            <a:avLst>
              <a:gd name="adj" fmla="val 50000"/>
            </a:avLst>
          </a:prstGeom>
          <a:solidFill>
            <a:srgbClr val="1E3B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/>
            <a:r>
              <a:rPr sz="950" b="1">
                <a:solidFill>
                  <a:srgbClr val="C9D3CC"/>
                </a:solidFill>
                <a:latin typeface="Arial"/>
              </a:rPr>
              <a:t>30 Oktober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630936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EA195"/>
                </a:solidFill>
                <a:latin typeface="Arial"/>
              </a:rPr>
              <a:t>The Prasada · RoomBooking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9875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2FB46A"/>
                </a:solidFill>
                <a:latin typeface="Arial"/>
              </a:rPr>
              <a:t>GAMBARAN UMUM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7899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F2933"/>
                </a:solidFill>
                <a:latin typeface="Arial"/>
              </a:rPr>
              <a:t>Apa yang bisa dilakukan di CMS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61872"/>
            <a:ext cx="822960" cy="50292"/>
          </a:xfrm>
          <a:prstGeom prst="rect">
            <a:avLst/>
          </a:prstGeom>
          <a:solidFill>
            <a:srgbClr val="2FB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371600"/>
            <a:ext cx="99669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67737F"/>
                </a:solidFill>
                <a:latin typeface="Arial"/>
              </a:rPr>
              <a:t>Satu tempat untuk mengatur ruangan, orang, jadwal, dan tablet.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73952"/>
            <a:ext cx="11002975" cy="9144"/>
          </a:xfrm>
          <a:prstGeom prst="rect">
            <a:avLst/>
          </a:prstGeom>
          <a:solidFill>
            <a:srgbClr val="D9E2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37960"/>
            <a:ext cx="5852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0" i="0">
                <a:solidFill>
                  <a:srgbClr val="67737F"/>
                </a:solidFill>
                <a:latin typeface="Arial"/>
              </a:rPr>
              <a:t>RoomBooking · Panduan Penggunaan CMS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66760" y="6537960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19" b="0" i="0">
                <a:solidFill>
                  <a:srgbClr val="67737F"/>
                </a:solidFill>
                <a:latin typeface="Arial"/>
              </a:rPr>
              <a:t>CMS 3.13.0 · APK 1.4.5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52760" y="6519672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67737F"/>
                </a:solidFill>
                <a:latin typeface="Arial"/>
              </a:rPr>
              <a:t>02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600200"/>
            <a:ext cx="3429000" cy="1645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2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1600200"/>
            <a:ext cx="64008" cy="1645920"/>
          </a:xfrm>
          <a:prstGeom prst="rect">
            <a:avLst/>
          </a:prstGeom>
          <a:solidFill>
            <a:srgbClr val="2FB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8" y="1783080"/>
            <a:ext cx="30449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F2933"/>
                </a:solidFill>
                <a:latin typeface="Arial"/>
              </a:rPr>
              <a:t>Kalender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8" y="2194560"/>
            <a:ext cx="3044952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70" b="0" i="0">
                <a:solidFill>
                  <a:srgbClr val="67737F"/>
                </a:solidFill>
                <a:latin typeface="Arial"/>
              </a:rPr>
              <a:t>Buat, ubah, batalkan meeting; lihat agenda dan status ruangan.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24528" y="1600200"/>
            <a:ext cx="3429000" cy="1645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2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24528" y="1600200"/>
            <a:ext cx="64008" cy="1645920"/>
          </a:xfrm>
          <a:prstGeom prst="rect">
            <a:avLst/>
          </a:prstGeom>
          <a:solidFill>
            <a:srgbClr val="2FB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25696" y="1783080"/>
            <a:ext cx="30449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F2933"/>
                </a:solidFill>
                <a:latin typeface="Arial"/>
              </a:rPr>
              <a:t>Pengguna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25696" y="2194560"/>
            <a:ext cx="3044952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70" b="0" i="0">
                <a:solidFill>
                  <a:srgbClr val="67737F"/>
                </a:solidFill>
                <a:latin typeface="Arial"/>
              </a:rPr>
              <a:t>Kelola akun, role, lantai, dan kartu.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54696" y="1600200"/>
            <a:ext cx="3429000" cy="1645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2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854696" y="1600200"/>
            <a:ext cx="64008" cy="1645920"/>
          </a:xfrm>
          <a:prstGeom prst="rect">
            <a:avLst/>
          </a:prstGeom>
          <a:solidFill>
            <a:srgbClr val="2FB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55864" y="1783080"/>
            <a:ext cx="30449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F2933"/>
                </a:solidFill>
                <a:latin typeface="Arial"/>
              </a:rPr>
              <a:t>Ruangan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55864" y="2194560"/>
            <a:ext cx="3044952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70" b="0" i="0">
                <a:solidFill>
                  <a:srgbClr val="67737F"/>
                </a:solidFill>
                <a:latin typeface="Arial"/>
              </a:rPr>
              <a:t>Nama, lantai, kapasitas, email, dan status tablet.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3474720"/>
            <a:ext cx="3429000" cy="1645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2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94360" y="3474720"/>
            <a:ext cx="64008" cy="1645920"/>
          </a:xfrm>
          <a:prstGeom prst="rect">
            <a:avLst/>
          </a:prstGeom>
          <a:solidFill>
            <a:srgbClr val="2FB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5528" y="3657600"/>
            <a:ext cx="30449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F2933"/>
                </a:solidFill>
                <a:latin typeface="Arial"/>
              </a:rPr>
              <a:t>Perangkat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8" y="4069080"/>
            <a:ext cx="3044952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70" b="0" i="0">
                <a:solidFill>
                  <a:srgbClr val="67737F"/>
                </a:solidFill>
                <a:latin typeface="Arial"/>
              </a:rPr>
              <a:t>Pairing, cabut, LED, judul, dan unduh APK.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24528" y="3474720"/>
            <a:ext cx="3429000" cy="1645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2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224528" y="3474720"/>
            <a:ext cx="64008" cy="1645920"/>
          </a:xfrm>
          <a:prstGeom prst="rect">
            <a:avLst/>
          </a:prstGeom>
          <a:solidFill>
            <a:srgbClr val="2FB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25696" y="3657600"/>
            <a:ext cx="30449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F2933"/>
                </a:solidFill>
                <a:latin typeface="Arial"/>
              </a:rPr>
              <a:t>Pengaturan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25696" y="4069080"/>
            <a:ext cx="3044952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70" b="0" i="0">
                <a:solidFill>
                  <a:srgbClr val="67737F"/>
                </a:solidFill>
                <a:latin typeface="Arial"/>
              </a:rPr>
              <a:t>Timer, week start, backup, branding.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854696" y="3474720"/>
            <a:ext cx="3429000" cy="1645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2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854696" y="3474720"/>
            <a:ext cx="64008" cy="1645920"/>
          </a:xfrm>
          <a:prstGeom prst="rect">
            <a:avLst/>
          </a:prstGeom>
          <a:solidFill>
            <a:srgbClr val="2FB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55864" y="3657600"/>
            <a:ext cx="30449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F2933"/>
                </a:solidFill>
                <a:latin typeface="Arial"/>
              </a:rPr>
              <a:t>Laporan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55864" y="4069080"/>
            <a:ext cx="3044952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70" b="0" i="0">
                <a:solidFill>
                  <a:srgbClr val="67737F"/>
                </a:solidFill>
                <a:latin typeface="Arial"/>
              </a:rPr>
              <a:t>Rekap pemakaian ruangan dan ekspor.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94360" y="5440680"/>
            <a:ext cx="10927080" cy="594360"/>
          </a:xfrm>
          <a:prstGeom prst="roundRect">
            <a:avLst>
              <a:gd name="adj" fmla="val 8000"/>
            </a:avLst>
          </a:prstGeom>
          <a:solidFill>
            <a:srgbClr val="E7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94360" y="5440680"/>
            <a:ext cx="64008" cy="594360"/>
          </a:xfrm>
          <a:prstGeom prst="rect">
            <a:avLst/>
          </a:prstGeom>
          <a:solidFill>
            <a:srgbClr val="2FB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95528" y="5577840"/>
            <a:ext cx="1056131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E6B3D"/>
                </a:solidFill>
                <a:latin typeface="Arial"/>
              </a:rPr>
              <a:t>AKSES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5528" y="5824728"/>
            <a:ext cx="10561319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E6B3D"/>
                </a:solidFill>
                <a:latin typeface="Arial"/>
              </a:rPr>
              <a:t>Menu yang terlihat mengikuti peran dan matrix. Jika menu hilang, minta admin memeriksa akses role.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9875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2FB46A"/>
                </a:solidFill>
                <a:latin typeface="Arial"/>
              </a:rPr>
              <a:t>NAVIGASI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7899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F2933"/>
                </a:solidFill>
                <a:latin typeface="Arial"/>
              </a:rPr>
              <a:t>Peta menu CMS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61872"/>
            <a:ext cx="822960" cy="50292"/>
          </a:xfrm>
          <a:prstGeom prst="rect">
            <a:avLst/>
          </a:prstGeom>
          <a:solidFill>
            <a:srgbClr val="2FB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371600"/>
            <a:ext cx="99669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67737F"/>
                </a:solidFill>
                <a:latin typeface="Arial"/>
              </a:rPr>
              <a:t>Tiga area utama: Kalender, Management, Report. Profil dan tema ada di kanan atas.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73952"/>
            <a:ext cx="11002975" cy="9144"/>
          </a:xfrm>
          <a:prstGeom prst="rect">
            <a:avLst/>
          </a:prstGeom>
          <a:solidFill>
            <a:srgbClr val="D9E2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37960"/>
            <a:ext cx="5852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0" i="0">
                <a:solidFill>
                  <a:srgbClr val="67737F"/>
                </a:solidFill>
                <a:latin typeface="Arial"/>
              </a:rPr>
              <a:t>RoomBooking · Panduan Penggunaan CMS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66760" y="6537960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19" b="0" i="0">
                <a:solidFill>
                  <a:srgbClr val="67737F"/>
                </a:solidFill>
                <a:latin typeface="Arial"/>
              </a:rPr>
              <a:t>CMS 3.13.0 · APK 1.4.5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52760" y="6519672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67737F"/>
                </a:solidFill>
                <a:latin typeface="Arial"/>
              </a:rPr>
              <a:t>03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645920"/>
            <a:ext cx="10927080" cy="594360"/>
          </a:xfrm>
          <a:prstGeom prst="roundRect">
            <a:avLst>
              <a:gd name="adj" fmla="val 8000"/>
            </a:avLst>
          </a:prstGeom>
          <a:solidFill>
            <a:srgbClr val="1115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828800"/>
            <a:ext cx="1920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Arial"/>
              </a:rPr>
              <a:t>ROOM BOOKING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1828800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FFFFFF"/>
                </a:solidFill>
                <a:latin typeface="Arial"/>
              </a:rPr>
              <a:t>Management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1828800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FFFFFF"/>
                </a:solidFill>
                <a:latin typeface="Arial"/>
              </a:rPr>
              <a:t>Report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92640" y="1828800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C9D3CC"/>
                </a:solidFill>
                <a:latin typeface="Arial"/>
              </a:rPr>
              <a:t>Profil / tema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2606040"/>
            <a:ext cx="342900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2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8" y="278892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2933"/>
                </a:solidFill>
                <a:latin typeface="Arial"/>
              </a:rPr>
              <a:t>Kalender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8" y="3154680"/>
            <a:ext cx="3017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0" b="0" i="0">
                <a:solidFill>
                  <a:srgbClr val="67737F"/>
                </a:solidFill>
                <a:latin typeface="Arial"/>
              </a:rPr>
              <a:t>Jadwal, Add Meeting, mode Saya/Ruangan/Semua, agenda.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5528" y="3794760"/>
            <a:ext cx="1828800" cy="274320"/>
          </a:xfrm>
          <a:prstGeom prst="roundRect">
            <a:avLst>
              <a:gd name="adj" fmla="val 50000"/>
            </a:avLst>
          </a:prstGeom>
          <a:solidFill>
            <a:srgbClr val="EE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/>
            <a:r>
              <a:rPr sz="850" b="1">
                <a:solidFill>
                  <a:srgbClr val="2FB46A"/>
                </a:solidFill>
                <a:latin typeface="Arial"/>
              </a:rPr>
              <a:t>/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24528" y="2606040"/>
            <a:ext cx="342900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2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25696" y="278892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2933"/>
                </a:solidFill>
                <a:latin typeface="Arial"/>
              </a:rPr>
              <a:t>Management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25696" y="3154680"/>
            <a:ext cx="3017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0" b="0" i="0">
                <a:solidFill>
                  <a:srgbClr val="67737F"/>
                </a:solidFill>
                <a:latin typeface="Arial"/>
              </a:rPr>
              <a:t>Users · Rooms · Tablet Devices · Settings · About.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25696" y="3794760"/>
            <a:ext cx="1828800" cy="274320"/>
          </a:xfrm>
          <a:prstGeom prst="roundRect">
            <a:avLst>
              <a:gd name="adj" fmla="val 50000"/>
            </a:avLst>
          </a:prstGeom>
          <a:solidFill>
            <a:srgbClr val="EE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/>
            <a:r>
              <a:rPr sz="850" b="1">
                <a:solidFill>
                  <a:srgbClr val="2FB46A"/>
                </a:solidFill>
                <a:latin typeface="Arial"/>
              </a:rPr>
              <a:t>/app-management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854696" y="2606040"/>
            <a:ext cx="342900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2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55864" y="278892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2933"/>
                </a:solidFill>
                <a:latin typeface="Arial"/>
              </a:rPr>
              <a:t>Report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55864" y="3154680"/>
            <a:ext cx="3017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0" b="0" i="0">
                <a:solidFill>
                  <a:srgbClr val="67737F"/>
                </a:solidFill>
                <a:latin typeface="Arial"/>
              </a:rPr>
              <a:t>Rekap pemakaian dan ekspor Excel.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55864" y="3794760"/>
            <a:ext cx="1828800" cy="274320"/>
          </a:xfrm>
          <a:prstGeom prst="roundRect">
            <a:avLst>
              <a:gd name="adj" fmla="val 50000"/>
            </a:avLst>
          </a:prstGeom>
          <a:solidFill>
            <a:srgbClr val="EE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/>
            <a:r>
              <a:rPr sz="850" b="1">
                <a:solidFill>
                  <a:srgbClr val="2FB46A"/>
                </a:solidFill>
                <a:latin typeface="Arial"/>
              </a:rPr>
              <a:t>/report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4360" y="4572000"/>
            <a:ext cx="5303520" cy="822960"/>
          </a:xfrm>
          <a:prstGeom prst="roundRect">
            <a:avLst>
              <a:gd name="adj" fmla="val 8000"/>
            </a:avLst>
          </a:prstGeom>
          <a:solidFill>
            <a:srgbClr val="FFF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94360" y="4572000"/>
            <a:ext cx="64008" cy="822960"/>
          </a:xfrm>
          <a:prstGeom prst="rect">
            <a:avLst/>
          </a:prstGeom>
          <a:solidFill>
            <a:srgbClr val="E8A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5528" y="4709160"/>
            <a:ext cx="493775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7A5A00"/>
                </a:solidFill>
                <a:latin typeface="Arial"/>
              </a:rPr>
              <a:t>MENU HILANG?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5528" y="4956048"/>
            <a:ext cx="49377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7A5A00"/>
                </a:solidFill>
                <a:latin typeface="Arial"/>
              </a:rPr>
              <a:t>Bukan berarti rusak. Cek role dan matrix; Super Admin bisa membuka semua menu.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26480" y="4572000"/>
            <a:ext cx="5394960" cy="822960"/>
          </a:xfrm>
          <a:prstGeom prst="roundRect">
            <a:avLst>
              <a:gd name="adj" fmla="val 8000"/>
            </a:avLst>
          </a:prstGeom>
          <a:solidFill>
            <a:srgbClr val="E7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26480" y="4572000"/>
            <a:ext cx="64008" cy="822960"/>
          </a:xfrm>
          <a:prstGeom prst="rect">
            <a:avLst/>
          </a:prstGeom>
          <a:solidFill>
            <a:srgbClr val="2FB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27648" y="4709160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E6B3D"/>
                </a:solidFill>
                <a:latin typeface="Arial"/>
              </a:rPr>
              <a:t>PROFIL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27648" y="4956048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E6B3D"/>
                </a:solidFill>
                <a:latin typeface="Arial"/>
              </a:rPr>
              <a:t>Ganti bahasa, tema terang/gelap, lihat profil, dan sign out dari kanan atas.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9875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2FB46A"/>
                </a:solidFill>
                <a:latin typeface="Arial"/>
              </a:rPr>
              <a:t>CMS · MASUK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7899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F2933"/>
                </a:solidFill>
                <a:latin typeface="Arial"/>
              </a:rPr>
              <a:t>Masuk dengan aman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61872"/>
            <a:ext cx="822960" cy="50292"/>
          </a:xfrm>
          <a:prstGeom prst="rect">
            <a:avLst/>
          </a:prstGeom>
          <a:solidFill>
            <a:srgbClr val="2FB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371600"/>
            <a:ext cx="99669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67737F"/>
                </a:solidFill>
                <a:latin typeface="Arial"/>
              </a:rPr>
              <a:t>Gunakan akun sendiri. Jangan memakai akun admin untuk operasional harian.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73952"/>
            <a:ext cx="11002975" cy="9144"/>
          </a:xfrm>
          <a:prstGeom prst="rect">
            <a:avLst/>
          </a:prstGeom>
          <a:solidFill>
            <a:srgbClr val="D9E2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37960"/>
            <a:ext cx="5852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0" i="0">
                <a:solidFill>
                  <a:srgbClr val="67737F"/>
                </a:solidFill>
                <a:latin typeface="Arial"/>
              </a:rPr>
              <a:t>RoomBooking · Panduan Penggunaan CMS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66760" y="6537960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19" b="0" i="0">
                <a:solidFill>
                  <a:srgbClr val="67737F"/>
                </a:solidFill>
                <a:latin typeface="Arial"/>
              </a:rPr>
              <a:t>CMS 3.13.0 · APK 1.4.5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52760" y="6519672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67737F"/>
                </a:solidFill>
                <a:latin typeface="Arial"/>
              </a:rPr>
              <a:t>04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737360"/>
            <a:ext cx="3703320" cy="44032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2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shot-login-c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783080"/>
            <a:ext cx="3611880" cy="4311857"/>
          </a:xfrm>
          <a:prstGeom prst="rect">
            <a:avLst/>
          </a:prstGeom>
        </p:spPr>
      </p:pic>
      <p:sp>
        <p:nvSpPr>
          <p:cNvPr id="12" name="Oval 11"/>
          <p:cNvSpPr/>
          <p:nvPr/>
        </p:nvSpPr>
        <p:spPr>
          <a:xfrm>
            <a:off x="4480560" y="1801368"/>
            <a:ext cx="292608" cy="292608"/>
          </a:xfrm>
          <a:prstGeom prst="ellipse">
            <a:avLst/>
          </a:prstGeom>
          <a:solidFill>
            <a:srgbClr val="2FB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19472" y="1783080"/>
            <a:ext cx="6647688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1F2933"/>
                </a:solidFill>
                <a:latin typeface="Arial"/>
              </a:rPr>
              <a:t>Buka alamat CMS yang diberikan admin.</a:t>
            </a:r>
          </a:p>
        </p:txBody>
      </p:sp>
      <p:sp>
        <p:nvSpPr>
          <p:cNvPr id="14" name="Oval 13"/>
          <p:cNvSpPr/>
          <p:nvPr/>
        </p:nvSpPr>
        <p:spPr>
          <a:xfrm>
            <a:off x="4480560" y="2532888"/>
            <a:ext cx="292608" cy="292608"/>
          </a:xfrm>
          <a:prstGeom prst="ellipse">
            <a:avLst/>
          </a:prstGeom>
          <a:solidFill>
            <a:srgbClr val="2FB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19472" y="2514600"/>
            <a:ext cx="6647688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1F2933"/>
                </a:solidFill>
                <a:latin typeface="Arial"/>
              </a:rPr>
              <a:t>Masuk dengan email dan kata sandi.</a:t>
            </a:r>
          </a:p>
        </p:txBody>
      </p:sp>
      <p:sp>
        <p:nvSpPr>
          <p:cNvPr id="16" name="Oval 15"/>
          <p:cNvSpPr/>
          <p:nvPr/>
        </p:nvSpPr>
        <p:spPr>
          <a:xfrm>
            <a:off x="4480560" y="3264408"/>
            <a:ext cx="292608" cy="292608"/>
          </a:xfrm>
          <a:prstGeom prst="ellipse">
            <a:avLst/>
          </a:prstGeom>
          <a:solidFill>
            <a:srgbClr val="2FB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19472" y="3246120"/>
            <a:ext cx="6647688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1F2933"/>
                </a:solidFill>
                <a:latin typeface="Arial"/>
              </a:rPr>
              <a:t>Centang “Stay signed in” hanya di perangkat pribadi.</a:t>
            </a:r>
          </a:p>
        </p:txBody>
      </p:sp>
      <p:sp>
        <p:nvSpPr>
          <p:cNvPr id="18" name="Oval 17"/>
          <p:cNvSpPr/>
          <p:nvPr/>
        </p:nvSpPr>
        <p:spPr>
          <a:xfrm>
            <a:off x="4480560" y="3995928"/>
            <a:ext cx="292608" cy="292608"/>
          </a:xfrm>
          <a:prstGeom prst="ellipse">
            <a:avLst/>
          </a:prstGeom>
          <a:solidFill>
            <a:srgbClr val="2FB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19472" y="3977640"/>
            <a:ext cx="6647688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1F2933"/>
                </a:solidFill>
                <a:latin typeface="Arial"/>
              </a:rPr>
              <a:t>Jika diminta, ganti kata sandi saat login pertama.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80560" y="4617720"/>
            <a:ext cx="7086600" cy="777240"/>
          </a:xfrm>
          <a:prstGeom prst="roundRect">
            <a:avLst>
              <a:gd name="adj" fmla="val 8000"/>
            </a:avLst>
          </a:prstGeom>
          <a:solidFill>
            <a:srgbClr val="FFF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480560" y="4617720"/>
            <a:ext cx="64008" cy="777240"/>
          </a:xfrm>
          <a:prstGeom prst="rect">
            <a:avLst/>
          </a:prstGeom>
          <a:solidFill>
            <a:srgbClr val="E8A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81728" y="4754880"/>
            <a:ext cx="6720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1" i="0">
                <a:solidFill>
                  <a:srgbClr val="7A5A00"/>
                </a:solidFill>
                <a:latin typeface="Arial"/>
              </a:rPr>
              <a:t>LUPA SANDI?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81728" y="5001768"/>
            <a:ext cx="6720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60" b="0" i="0">
                <a:solidFill>
                  <a:srgbClr val="7A5A00"/>
                </a:solidFill>
                <a:latin typeface="Arial"/>
              </a:rPr>
              <a:t>Gunakan tautan “Forgot password?” lalu hubungi admin. Jangan mengirim sandi lewat chat.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144768"/>
            <a:ext cx="3931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1">
                <a:solidFill>
                  <a:srgbClr val="67737F"/>
                </a:solidFill>
                <a:latin typeface="Arial"/>
              </a:rPr>
              <a:t>Halaman masuk CMS 3.13.0.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9875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2FB46A"/>
                </a:solidFill>
                <a:latin typeface="Arial"/>
              </a:rPr>
              <a:t>CMS · KALENDER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7899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F2933"/>
                </a:solidFill>
                <a:latin typeface="Arial"/>
              </a:rPr>
              <a:t>Kalender: pusat pekerjaan harian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61872"/>
            <a:ext cx="822960" cy="50292"/>
          </a:xfrm>
          <a:prstGeom prst="rect">
            <a:avLst/>
          </a:prstGeom>
          <a:solidFill>
            <a:srgbClr val="2FB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371600"/>
            <a:ext cx="99669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67737F"/>
                </a:solidFill>
                <a:latin typeface="Arial"/>
              </a:rPr>
              <a:t>Kiri mengatur tampilan; kanan melihat jadwal. Klik event untuk detail.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73952"/>
            <a:ext cx="11002975" cy="9144"/>
          </a:xfrm>
          <a:prstGeom prst="rect">
            <a:avLst/>
          </a:prstGeom>
          <a:solidFill>
            <a:srgbClr val="D9E2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37960"/>
            <a:ext cx="5852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0" i="0">
                <a:solidFill>
                  <a:srgbClr val="67737F"/>
                </a:solidFill>
                <a:latin typeface="Arial"/>
              </a:rPr>
              <a:t>RoomBooking · Panduan Penggunaan CMS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66760" y="6537960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19" b="0" i="0">
                <a:solidFill>
                  <a:srgbClr val="67737F"/>
                </a:solidFill>
                <a:latin typeface="Arial"/>
              </a:rPr>
              <a:t>CMS 3.13.0 · APK 1.4.5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52760" y="6519672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67737F"/>
                </a:solidFill>
                <a:latin typeface="Arial"/>
              </a:rPr>
              <a:t>05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737360"/>
            <a:ext cx="7040879" cy="44936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2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shot-calendar-week-c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783080"/>
            <a:ext cx="6949440" cy="440221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94360" y="6217920"/>
            <a:ext cx="6949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0" i="1">
                <a:solidFill>
                  <a:srgbClr val="67737F"/>
                </a:solidFill>
                <a:latin typeface="Arial"/>
              </a:rPr>
              <a:t>Kalender mingguan; data contoh dan nama pengguna disamarkan.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1810512"/>
            <a:ext cx="37490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FB46A"/>
                </a:solidFill>
                <a:latin typeface="Arial"/>
              </a:rPr>
              <a:t>Yang perlu dilihat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8120" y="2176272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060" b="1">
                <a:solidFill>
                  <a:srgbClr val="2FB46A"/>
                </a:solidFill>
                <a:latin typeface="Arial"/>
              </a:rPr>
              <a:t>•  </a:t>
            </a:r>
            <a:r>
              <a:rPr sz="1060" b="1">
                <a:solidFill>
                  <a:srgbClr val="1F2933"/>
                </a:solidFill>
                <a:latin typeface="Arial"/>
              </a:rPr>
              <a:t>Add Meeting — </a:t>
            </a:r>
            <a:r>
              <a:rPr sz="1060">
                <a:solidFill>
                  <a:srgbClr val="1F2933"/>
                </a:solidFill>
                <a:latin typeface="Arial"/>
              </a:rPr>
              <a:t>booking baru.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060" b="1">
                <a:solidFill>
                  <a:srgbClr val="2FB46A"/>
                </a:solidFill>
                <a:latin typeface="Arial"/>
              </a:rPr>
              <a:t>•  </a:t>
            </a:r>
            <a:r>
              <a:rPr sz="1060" b="1">
                <a:solidFill>
                  <a:srgbClr val="1F2933"/>
                </a:solidFill>
                <a:latin typeface="Arial"/>
              </a:rPr>
              <a:t>View — </a:t>
            </a:r>
            <a:r>
              <a:rPr sz="1060">
                <a:solidFill>
                  <a:srgbClr val="1F2933"/>
                </a:solidFill>
                <a:latin typeface="Arial"/>
              </a:rPr>
              <a:t>Saya/Ruangan/Semua.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060" b="1">
                <a:solidFill>
                  <a:srgbClr val="2FB46A"/>
                </a:solidFill>
                <a:latin typeface="Arial"/>
              </a:rPr>
              <a:t>•  </a:t>
            </a:r>
            <a:r>
              <a:rPr sz="1060" b="1">
                <a:solidFill>
                  <a:srgbClr val="1F2933"/>
                </a:solidFill>
                <a:latin typeface="Arial"/>
              </a:rPr>
              <a:t>Week/Day/Agenda — </a:t>
            </a:r>
            <a:r>
              <a:rPr sz="1060">
                <a:solidFill>
                  <a:srgbClr val="1F2933"/>
                </a:solidFill>
                <a:latin typeface="Arial"/>
              </a:rPr>
              <a:t>bentuk tampilan.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060" b="1">
                <a:solidFill>
                  <a:srgbClr val="2FB46A"/>
                </a:solidFill>
                <a:latin typeface="Arial"/>
              </a:rPr>
              <a:t>•  </a:t>
            </a:r>
            <a:r>
              <a:rPr sz="1060" b="1">
                <a:solidFill>
                  <a:srgbClr val="1F2933"/>
                </a:solidFill>
                <a:latin typeface="Arial"/>
              </a:rPr>
              <a:t>Room status — </a:t>
            </a:r>
            <a:r>
              <a:rPr sz="1060">
                <a:solidFill>
                  <a:srgbClr val="1F2933"/>
                </a:solidFill>
                <a:latin typeface="Arial"/>
              </a:rPr>
              <a:t>okupansi &amp; tablet.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060" b="1">
                <a:solidFill>
                  <a:srgbClr val="2FB46A"/>
                </a:solidFill>
                <a:latin typeface="Arial"/>
              </a:rPr>
              <a:t>•  </a:t>
            </a:r>
            <a:r>
              <a:rPr sz="1060" b="1">
                <a:solidFill>
                  <a:srgbClr val="1F2933"/>
                </a:solidFill>
                <a:latin typeface="Arial"/>
              </a:rPr>
              <a:t>Refresh — </a:t>
            </a:r>
            <a:r>
              <a:rPr sz="1060">
                <a:solidFill>
                  <a:srgbClr val="1F2933"/>
                </a:solidFill>
                <a:latin typeface="Arial"/>
              </a:rPr>
              <a:t>data terbaru.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18120" y="5074920"/>
            <a:ext cx="3749039" cy="868680"/>
          </a:xfrm>
          <a:prstGeom prst="roundRect">
            <a:avLst>
              <a:gd name="adj" fmla="val 8000"/>
            </a:avLst>
          </a:prstGeom>
          <a:solidFill>
            <a:srgbClr val="E7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818120" y="5074920"/>
            <a:ext cx="64008" cy="868680"/>
          </a:xfrm>
          <a:prstGeom prst="rect">
            <a:avLst/>
          </a:prstGeom>
          <a:solidFill>
            <a:srgbClr val="2FB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19288" y="5212080"/>
            <a:ext cx="338327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1" i="0">
                <a:solidFill>
                  <a:srgbClr val="1E6B3D"/>
                </a:solidFill>
                <a:latin typeface="Arial"/>
              </a:rPr>
              <a:t>KLIK EVENT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19288" y="5458968"/>
            <a:ext cx="3383279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10" b="0" i="0">
                <a:solidFill>
                  <a:srgbClr val="1E6B3D"/>
                </a:solidFill>
                <a:latin typeface="Arial"/>
              </a:rPr>
              <a:t>Panel detail: waktu, ruangan, peserta, Edit, Cancel.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9875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2FB46A"/>
                </a:solidFill>
                <a:latin typeface="Arial"/>
              </a:rPr>
              <a:t>CMS · TAMPILAN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7899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F2933"/>
                </a:solidFill>
                <a:latin typeface="Arial"/>
              </a:rPr>
              <a:t>Tiga mode, tiga pertanyaan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61872"/>
            <a:ext cx="822960" cy="50292"/>
          </a:xfrm>
          <a:prstGeom prst="rect">
            <a:avLst/>
          </a:prstGeom>
          <a:solidFill>
            <a:srgbClr val="2FB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371600"/>
            <a:ext cx="99669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67737F"/>
                </a:solidFill>
                <a:latin typeface="Arial"/>
              </a:rPr>
              <a:t>Pilih mode sesuai pekerjaan, bukan sesuai kebiasaan.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73952"/>
            <a:ext cx="11002975" cy="9144"/>
          </a:xfrm>
          <a:prstGeom prst="rect">
            <a:avLst/>
          </a:prstGeom>
          <a:solidFill>
            <a:srgbClr val="D9E2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37960"/>
            <a:ext cx="5852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0" i="0">
                <a:solidFill>
                  <a:srgbClr val="67737F"/>
                </a:solidFill>
                <a:latin typeface="Arial"/>
              </a:rPr>
              <a:t>RoomBooking · Panduan Penggunaan CMS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66760" y="6537960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19" b="0" i="0">
                <a:solidFill>
                  <a:srgbClr val="67737F"/>
                </a:solidFill>
                <a:latin typeface="Arial"/>
              </a:rPr>
              <a:t>CMS 3.13.0 · APK 1.4.5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52760" y="6519672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67737F"/>
                </a:solidFill>
                <a:latin typeface="Arial"/>
              </a:rPr>
              <a:t>06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645920"/>
            <a:ext cx="342900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2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1645920"/>
            <a:ext cx="64008" cy="1554480"/>
          </a:xfrm>
          <a:prstGeom prst="rect">
            <a:avLst/>
          </a:prstGeom>
          <a:solidFill>
            <a:srgbClr val="2FB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77240" y="1828800"/>
            <a:ext cx="292608" cy="292608"/>
          </a:xfrm>
          <a:prstGeom prst="ellipse">
            <a:avLst/>
          </a:prstGeom>
          <a:solidFill>
            <a:srgbClr val="2FB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61288" y="1828800"/>
            <a:ext cx="27157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F2933"/>
                </a:solidFill>
                <a:latin typeface="Arial"/>
              </a:rPr>
              <a:t>Saya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8" y="2249424"/>
            <a:ext cx="3044952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30" b="0" i="0">
                <a:solidFill>
                  <a:srgbClr val="67737F"/>
                </a:solidFill>
                <a:latin typeface="Arial"/>
              </a:rPr>
              <a:t>Jadwal saya sendiri.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24528" y="1645920"/>
            <a:ext cx="342900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2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24528" y="1645920"/>
            <a:ext cx="64008" cy="1554480"/>
          </a:xfrm>
          <a:prstGeom prst="rect">
            <a:avLst/>
          </a:prstGeom>
          <a:solidFill>
            <a:srgbClr val="2FB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407408" y="1828800"/>
            <a:ext cx="292608" cy="292608"/>
          </a:xfrm>
          <a:prstGeom prst="ellipse">
            <a:avLst/>
          </a:prstGeom>
          <a:solidFill>
            <a:srgbClr val="2FB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91456" y="1828800"/>
            <a:ext cx="27157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F2933"/>
                </a:solidFill>
                <a:latin typeface="Arial"/>
              </a:rPr>
              <a:t>Ruangan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25696" y="2249424"/>
            <a:ext cx="3044952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30" b="0" i="0">
                <a:solidFill>
                  <a:srgbClr val="67737F"/>
                </a:solidFill>
                <a:latin typeface="Arial"/>
              </a:rPr>
              <a:t>Satu ruangan tertentu.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54696" y="1645920"/>
            <a:ext cx="342900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2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854696" y="1645920"/>
            <a:ext cx="64008" cy="1554480"/>
          </a:xfrm>
          <a:prstGeom prst="rect">
            <a:avLst/>
          </a:prstGeom>
          <a:solidFill>
            <a:srgbClr val="2FB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37575" y="1828800"/>
            <a:ext cx="292608" cy="292608"/>
          </a:xfrm>
          <a:prstGeom prst="ellipse">
            <a:avLst/>
          </a:prstGeom>
          <a:solidFill>
            <a:srgbClr val="2FB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21624" y="1828800"/>
            <a:ext cx="27157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F2933"/>
                </a:solidFill>
                <a:latin typeface="Arial"/>
              </a:rPr>
              <a:t>Semua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55864" y="2249424"/>
            <a:ext cx="3044952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30" b="0" i="0">
                <a:solidFill>
                  <a:srgbClr val="67737F"/>
                </a:solidFill>
                <a:latin typeface="Arial"/>
              </a:rPr>
              <a:t>Semua ruangan yang boleh dilihat.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594360" y="3520440"/>
          <a:ext cx="10927080" cy="168249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4023360"/>
                <a:gridCol w="2194560"/>
                <a:gridCol w="4709160"/>
              </a:tblGrid>
              <a:tr h="420624">
                <a:tc>
                  <a:txBody>
                    <a:bodyPr wrap="square"/>
                    <a:lstStyle/>
                    <a:p>
                      <a:r>
                        <a:rPr sz="1030" b="1">
                          <a:solidFill>
                            <a:srgbClr val="FFFFFF"/>
                          </a:solidFill>
                          <a:latin typeface="Arial"/>
                        </a:rPr>
                        <a:t>Pertanyaan</a:t>
                      </a:r>
                    </a:p>
                  </a:txBody>
                  <a:tcPr marL="73152" marR="54864" marT="27432" marB="27432" anchor="ctr">
                    <a:solidFill>
                      <a:srgbClr val="1115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30" b="1">
                          <a:solidFill>
                            <a:srgbClr val="FFFFFF"/>
                          </a:solidFill>
                          <a:latin typeface="Arial"/>
                        </a:rPr>
                        <a:t>Mode</a:t>
                      </a:r>
                    </a:p>
                  </a:txBody>
                  <a:tcPr marL="73152" marR="54864" marT="27432" marB="27432" anchor="ctr">
                    <a:solidFill>
                      <a:srgbClr val="1115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30" b="1">
                          <a:solidFill>
                            <a:srgbClr val="FFFFFF"/>
                          </a:solidFill>
                          <a:latin typeface="Arial"/>
                        </a:rPr>
                        <a:t>Contoh</a:t>
                      </a:r>
                    </a:p>
                  </a:txBody>
                  <a:tcPr marL="73152" marR="54864" marT="27432" marB="27432" anchor="ctr">
                    <a:solidFill>
                      <a:srgbClr val="11151B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030" b="0">
                          <a:solidFill>
                            <a:srgbClr val="1F2933"/>
                          </a:solidFill>
                          <a:latin typeface="Arial"/>
                        </a:rPr>
                        <a:t>Apa jadwal saya?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30" b="0">
                          <a:solidFill>
                            <a:srgbClr val="1F2933"/>
                          </a:solidFill>
                          <a:latin typeface="Arial"/>
                        </a:rPr>
                        <a:t>Saya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30" b="0">
                          <a:solidFill>
                            <a:srgbClr val="1F2933"/>
                          </a:solidFill>
                          <a:latin typeface="Arial"/>
                        </a:rPr>
                        <a:t>Cek meeting pribadi.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030" b="0">
                          <a:solidFill>
                            <a:srgbClr val="1F2933"/>
                          </a:solidFill>
                          <a:latin typeface="Arial"/>
                        </a:rPr>
                        <a:t>Ruangan ini kosong?</a:t>
                      </a:r>
                    </a:p>
                  </a:txBody>
                  <a:tcPr marL="73152" marR="54864" marT="27432" marB="27432" anchor="ctr">
                    <a:solidFill>
                      <a:srgbClr val="F0F4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30" b="0">
                          <a:solidFill>
                            <a:srgbClr val="1F2933"/>
                          </a:solidFill>
                          <a:latin typeface="Arial"/>
                        </a:rPr>
                        <a:t>Ruangan</a:t>
                      </a:r>
                    </a:p>
                  </a:txBody>
                  <a:tcPr marL="73152" marR="54864" marT="27432" marB="27432" anchor="ctr">
                    <a:solidFill>
                      <a:srgbClr val="F0F4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30" b="0">
                          <a:solidFill>
                            <a:srgbClr val="1F2933"/>
                          </a:solidFill>
                          <a:latin typeface="Arial"/>
                        </a:rPr>
                        <a:t>Cek Lt 5 MR1 jam 14.00.</a:t>
                      </a:r>
                    </a:p>
                  </a:txBody>
                  <a:tcPr marL="73152" marR="54864" marT="27432" marB="27432" anchor="ctr">
                    <a:solidFill>
                      <a:srgbClr val="F0F4E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030" b="0">
                          <a:solidFill>
                            <a:srgbClr val="1F2933"/>
                          </a:solidFill>
                          <a:latin typeface="Arial"/>
                        </a:rPr>
                        <a:t>Ruangan mana yang kosong?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30" b="0">
                          <a:solidFill>
                            <a:srgbClr val="1F2933"/>
                          </a:solidFill>
                          <a:latin typeface="Arial"/>
                        </a:rPr>
                        <a:t>Semua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30" b="0">
                          <a:solidFill>
                            <a:srgbClr val="1F2933"/>
                          </a:solidFill>
                          <a:latin typeface="Arial"/>
                        </a:rPr>
                        <a:t>Resepsionis menyiapkan hari ini.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Rounded Rectangle 25"/>
          <p:cNvSpPr/>
          <p:nvPr/>
        </p:nvSpPr>
        <p:spPr>
          <a:xfrm>
            <a:off x="594360" y="5166360"/>
            <a:ext cx="10927080" cy="594360"/>
          </a:xfrm>
          <a:prstGeom prst="roundRect">
            <a:avLst>
              <a:gd name="adj" fmla="val 8000"/>
            </a:avLst>
          </a:prstGeom>
          <a:solidFill>
            <a:srgbClr val="E7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94360" y="5166360"/>
            <a:ext cx="64008" cy="594360"/>
          </a:xfrm>
          <a:prstGeom prst="rect">
            <a:avLst/>
          </a:prstGeom>
          <a:solidFill>
            <a:srgbClr val="2FB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5528" y="5303520"/>
            <a:ext cx="1056131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E6B3D"/>
                </a:solidFill>
                <a:latin typeface="Arial"/>
              </a:rPr>
              <a:t>TAMPILAN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5528" y="5550408"/>
            <a:ext cx="10561319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E6B3D"/>
                </a:solidFill>
                <a:latin typeface="Arial"/>
              </a:rPr>
              <a:t>Week, Day, dan Agenda mengubah bentuk, bukan data. Di layar sempit, Agenda jadi default.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9875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2FB46A"/>
                </a:solidFill>
                <a:latin typeface="Arial"/>
              </a:rPr>
              <a:t>CMS · BOOKING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7899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F2933"/>
                </a:solidFill>
                <a:latin typeface="Arial"/>
              </a:rPr>
              <a:t>Membuat meeting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61872"/>
            <a:ext cx="822960" cy="50292"/>
          </a:xfrm>
          <a:prstGeom prst="rect">
            <a:avLst/>
          </a:prstGeom>
          <a:solidFill>
            <a:srgbClr val="2FB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371600"/>
            <a:ext cx="99669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67737F"/>
                </a:solidFill>
                <a:latin typeface="Arial"/>
              </a:rPr>
              <a:t>Form Add Meeting: semua field wajib bertanda merah. Location wajib.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73952"/>
            <a:ext cx="11002975" cy="9144"/>
          </a:xfrm>
          <a:prstGeom prst="rect">
            <a:avLst/>
          </a:prstGeom>
          <a:solidFill>
            <a:srgbClr val="D9E2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37960"/>
            <a:ext cx="5852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0" i="0">
                <a:solidFill>
                  <a:srgbClr val="67737F"/>
                </a:solidFill>
                <a:latin typeface="Arial"/>
              </a:rPr>
              <a:t>RoomBooking · Panduan Penggunaan CMS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66760" y="6537960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19" b="0" i="0">
                <a:solidFill>
                  <a:srgbClr val="67737F"/>
                </a:solidFill>
                <a:latin typeface="Arial"/>
              </a:rPr>
              <a:t>CMS 3.13.0 · APK 1.4.5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52760" y="6519672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67737F"/>
                </a:solidFill>
                <a:latin typeface="Arial"/>
              </a:rPr>
              <a:t>07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737360"/>
            <a:ext cx="6492240" cy="4146113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2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shot-add-meeting-filled-c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783080"/>
            <a:ext cx="6400800" cy="405467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94360" y="5925312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0" i="1">
                <a:solidFill>
                  <a:srgbClr val="67737F"/>
                </a:solidFill>
                <a:latin typeface="Arial"/>
              </a:rPr>
              <a:t>Form dengan data contoh; field wajib: judul, tanggal/jam, booking type, Location.</a:t>
            </a:r>
          </a:p>
        </p:txBody>
      </p:sp>
      <p:sp>
        <p:nvSpPr>
          <p:cNvPr id="13" name="Oval 12"/>
          <p:cNvSpPr/>
          <p:nvPr/>
        </p:nvSpPr>
        <p:spPr>
          <a:xfrm>
            <a:off x="7406640" y="1801368"/>
            <a:ext cx="292608" cy="292608"/>
          </a:xfrm>
          <a:prstGeom prst="ellipse">
            <a:avLst/>
          </a:prstGeom>
          <a:solidFill>
            <a:srgbClr val="2FB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45552" y="1783080"/>
            <a:ext cx="3721608" cy="557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40" b="0" i="0">
                <a:solidFill>
                  <a:srgbClr val="1F2933"/>
                </a:solidFill>
                <a:latin typeface="Arial"/>
              </a:rPr>
              <a:t>Klik Add Meeting.</a:t>
            </a:r>
          </a:p>
        </p:txBody>
      </p:sp>
      <p:sp>
        <p:nvSpPr>
          <p:cNvPr id="15" name="Oval 14"/>
          <p:cNvSpPr/>
          <p:nvPr/>
        </p:nvSpPr>
        <p:spPr>
          <a:xfrm>
            <a:off x="7406640" y="2404872"/>
            <a:ext cx="292608" cy="292608"/>
          </a:xfrm>
          <a:prstGeom prst="ellipse">
            <a:avLst/>
          </a:prstGeom>
          <a:solidFill>
            <a:srgbClr val="2FB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45552" y="2386584"/>
            <a:ext cx="3721608" cy="557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40" b="0" i="0">
                <a:solidFill>
                  <a:srgbClr val="1F2933"/>
                </a:solidFill>
                <a:latin typeface="Arial"/>
              </a:rPr>
              <a:t>Isi judul spesifik.</a:t>
            </a:r>
          </a:p>
        </p:txBody>
      </p:sp>
      <p:sp>
        <p:nvSpPr>
          <p:cNvPr id="17" name="Oval 16"/>
          <p:cNvSpPr/>
          <p:nvPr/>
        </p:nvSpPr>
        <p:spPr>
          <a:xfrm>
            <a:off x="7406640" y="3008376"/>
            <a:ext cx="292608" cy="292608"/>
          </a:xfrm>
          <a:prstGeom prst="ellipse">
            <a:avLst/>
          </a:prstGeom>
          <a:solidFill>
            <a:srgbClr val="2FB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45552" y="2990088"/>
            <a:ext cx="3721608" cy="557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40" b="0" i="0">
                <a:solidFill>
                  <a:srgbClr val="1F2933"/>
                </a:solidFill>
                <a:latin typeface="Arial"/>
              </a:rPr>
              <a:t>Pilih tanggal &amp; jam 24 jam.</a:t>
            </a:r>
          </a:p>
        </p:txBody>
      </p:sp>
      <p:sp>
        <p:nvSpPr>
          <p:cNvPr id="19" name="Oval 18"/>
          <p:cNvSpPr/>
          <p:nvPr/>
        </p:nvSpPr>
        <p:spPr>
          <a:xfrm>
            <a:off x="7406640" y="3611879"/>
            <a:ext cx="292608" cy="292608"/>
          </a:xfrm>
          <a:prstGeom prst="ellipse">
            <a:avLst/>
          </a:prstGeom>
          <a:solidFill>
            <a:srgbClr val="2FB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45552" y="3593591"/>
            <a:ext cx="3721608" cy="557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40" b="0" i="0">
                <a:solidFill>
                  <a:srgbClr val="1F2933"/>
                </a:solidFill>
                <a:latin typeface="Arial"/>
              </a:rPr>
              <a:t>Pilih One Time/Recurring.</a:t>
            </a:r>
          </a:p>
        </p:txBody>
      </p:sp>
      <p:sp>
        <p:nvSpPr>
          <p:cNvPr id="21" name="Oval 20"/>
          <p:cNvSpPr/>
          <p:nvPr/>
        </p:nvSpPr>
        <p:spPr>
          <a:xfrm>
            <a:off x="7406640" y="4215383"/>
            <a:ext cx="292608" cy="292608"/>
          </a:xfrm>
          <a:prstGeom prst="ellipse">
            <a:avLst/>
          </a:prstGeom>
          <a:solidFill>
            <a:srgbClr val="2FB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45552" y="4197096"/>
            <a:ext cx="3721608" cy="557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40" b="0" i="0">
                <a:solidFill>
                  <a:srgbClr val="1F2933"/>
                </a:solidFill>
                <a:latin typeface="Arial"/>
              </a:rPr>
              <a:t>Pilih Location.</a:t>
            </a:r>
          </a:p>
        </p:txBody>
      </p:sp>
      <p:sp>
        <p:nvSpPr>
          <p:cNvPr id="23" name="Oval 22"/>
          <p:cNvSpPr/>
          <p:nvPr/>
        </p:nvSpPr>
        <p:spPr>
          <a:xfrm>
            <a:off x="7406640" y="4818888"/>
            <a:ext cx="292608" cy="292608"/>
          </a:xfrm>
          <a:prstGeom prst="ellipse">
            <a:avLst/>
          </a:prstGeom>
          <a:solidFill>
            <a:srgbClr val="2FB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45552" y="4800600"/>
            <a:ext cx="3721608" cy="557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40" b="0" i="0">
                <a:solidFill>
                  <a:srgbClr val="1F2933"/>
                </a:solidFill>
                <a:latin typeface="Arial"/>
              </a:rPr>
              <a:t>Tambah peserta → Save.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06640" y="5440680"/>
            <a:ext cx="4160520" cy="731520"/>
          </a:xfrm>
          <a:prstGeom prst="roundRect">
            <a:avLst>
              <a:gd name="adj" fmla="val 8000"/>
            </a:avLst>
          </a:prstGeom>
          <a:solidFill>
            <a:srgbClr val="E7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406640" y="5440680"/>
            <a:ext cx="64008" cy="731520"/>
          </a:xfrm>
          <a:prstGeom prst="rect">
            <a:avLst/>
          </a:prstGeom>
          <a:solidFill>
            <a:srgbClr val="2FB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7808" y="5577840"/>
            <a:ext cx="379475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1" i="0">
                <a:solidFill>
                  <a:srgbClr val="1E6B3D"/>
                </a:solidFill>
                <a:latin typeface="Arial"/>
              </a:rPr>
              <a:t>CEK CEPAT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07808" y="5824728"/>
            <a:ext cx="37947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19" b="0" i="0">
                <a:solidFill>
                  <a:srgbClr val="1E6B3D"/>
                </a:solidFill>
                <a:latin typeface="Arial"/>
              </a:rPr>
              <a:t>Judul • waktu • lokasi • peserta.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9875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2FB46A"/>
                </a:solidFill>
                <a:latin typeface="Arial"/>
              </a:rPr>
              <a:t>CMS · 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7899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F2933"/>
                </a:solidFill>
                <a:latin typeface="Arial"/>
              </a:rPr>
              <a:t>Aturan pengisian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61872"/>
            <a:ext cx="822960" cy="50292"/>
          </a:xfrm>
          <a:prstGeom prst="rect">
            <a:avLst/>
          </a:prstGeom>
          <a:solidFill>
            <a:srgbClr val="2FB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371600"/>
            <a:ext cx="99669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67737F"/>
                </a:solidFill>
                <a:latin typeface="Arial"/>
              </a:rPr>
              <a:t>Judul jelas, waktu benar, lokasi tepat. Ini yang paling sering salah.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73952"/>
            <a:ext cx="11002975" cy="9144"/>
          </a:xfrm>
          <a:prstGeom prst="rect">
            <a:avLst/>
          </a:prstGeom>
          <a:solidFill>
            <a:srgbClr val="D9E2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37960"/>
            <a:ext cx="5852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0" i="0">
                <a:solidFill>
                  <a:srgbClr val="67737F"/>
                </a:solidFill>
                <a:latin typeface="Arial"/>
              </a:rPr>
              <a:t>RoomBooking · Panduan Penggunaan CMS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66760" y="6537960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19" b="0" i="0">
                <a:solidFill>
                  <a:srgbClr val="67737F"/>
                </a:solidFill>
                <a:latin typeface="Arial"/>
              </a:rPr>
              <a:t>CMS 3.13.0 · APK 1.4.5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52760" y="6519672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67737F"/>
                </a:solidFill>
                <a:latin typeface="Arial"/>
              </a:rPr>
              <a:t>08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94360" y="1600200"/>
          <a:ext cx="10927080" cy="301752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11680"/>
                <a:gridCol w="5029200"/>
                <a:gridCol w="3886200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1060" b="1">
                          <a:solidFill>
                            <a:srgbClr val="FFFFFF"/>
                          </a:solidFill>
                          <a:latin typeface="Arial"/>
                        </a:rPr>
                        <a:t>Field</a:t>
                      </a:r>
                    </a:p>
                  </a:txBody>
                  <a:tcPr marL="73152" marR="54864" marT="27432" marB="27432" anchor="ctr">
                    <a:solidFill>
                      <a:srgbClr val="1115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60" b="1">
                          <a:solidFill>
                            <a:srgbClr val="FFFFFF"/>
                          </a:solidFill>
                          <a:latin typeface="Arial"/>
                        </a:rPr>
                        <a:t>Benar</a:t>
                      </a:r>
                    </a:p>
                  </a:txBody>
                  <a:tcPr marL="73152" marR="54864" marT="27432" marB="27432" anchor="ctr">
                    <a:solidFill>
                      <a:srgbClr val="1115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60" b="1">
                          <a:solidFill>
                            <a:srgbClr val="FFFFFF"/>
                          </a:solidFill>
                          <a:latin typeface="Arial"/>
                        </a:rPr>
                        <a:t>Salah</a:t>
                      </a:r>
                    </a:p>
                  </a:txBody>
                  <a:tcPr marL="73152" marR="54864" marT="27432" marB="27432" anchor="ctr">
                    <a:solidFill>
                      <a:srgbClr val="11151B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060" b="0">
                          <a:solidFill>
                            <a:srgbClr val="1F2933"/>
                          </a:solidFill>
                          <a:latin typeface="Arial"/>
                        </a:rPr>
                        <a:t>Judul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60" b="0">
                          <a:solidFill>
                            <a:srgbClr val="1F2933"/>
                          </a:solidFill>
                          <a:latin typeface="Arial"/>
                        </a:rPr>
                        <a:t>Rapat Koordinasi Lantai 5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60" b="0">
                          <a:solidFill>
                            <a:srgbClr val="1F2933"/>
                          </a:solidFill>
                          <a:latin typeface="Arial"/>
                        </a:rPr>
                        <a:t>“Meeting”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060" b="0">
                          <a:solidFill>
                            <a:srgbClr val="1F2933"/>
                          </a:solidFill>
                          <a:latin typeface="Arial"/>
                        </a:rPr>
                        <a:t>Tanggal</a:t>
                      </a:r>
                    </a:p>
                  </a:txBody>
                  <a:tcPr marL="73152" marR="54864" marT="27432" marB="27432" anchor="ctr">
                    <a:solidFill>
                      <a:srgbClr val="F0F4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60" b="0">
                          <a:solidFill>
                            <a:srgbClr val="1F2933"/>
                          </a:solidFill>
                          <a:latin typeface="Arial"/>
                        </a:rPr>
                        <a:t>30 Oct 2026</a:t>
                      </a:r>
                    </a:p>
                  </a:txBody>
                  <a:tcPr marL="73152" marR="54864" marT="27432" marB="27432" anchor="ctr">
                    <a:solidFill>
                      <a:srgbClr val="F0F4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60" b="0">
                          <a:solidFill>
                            <a:srgbClr val="1F2933"/>
                          </a:solidFill>
                          <a:latin typeface="Arial"/>
                        </a:rPr>
                        <a:t>Tanggal lampau</a:t>
                      </a:r>
                    </a:p>
                  </a:txBody>
                  <a:tcPr marL="73152" marR="54864" marT="27432" marB="27432" anchor="ctr">
                    <a:solidFill>
                      <a:srgbClr val="F0F4E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060" b="0">
                          <a:solidFill>
                            <a:srgbClr val="1F2933"/>
                          </a:solidFill>
                          <a:latin typeface="Arial"/>
                        </a:rPr>
                        <a:t>Jam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60" b="0">
                          <a:solidFill>
                            <a:srgbClr val="1F2933"/>
                          </a:solidFill>
                          <a:latin typeface="Arial"/>
                        </a:rPr>
                        <a:t>09.00–10.00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60" b="0">
                          <a:solidFill>
                            <a:srgbClr val="1F2933"/>
                          </a:solidFill>
                          <a:latin typeface="Arial"/>
                        </a:rPr>
                        <a:t>10.00–09.00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060" b="0">
                          <a:solidFill>
                            <a:srgbClr val="1F2933"/>
                          </a:solidFill>
                          <a:latin typeface="Arial"/>
                        </a:rPr>
                        <a:t>Location</a:t>
                      </a:r>
                    </a:p>
                  </a:txBody>
                  <a:tcPr marL="73152" marR="54864" marT="27432" marB="27432" anchor="ctr">
                    <a:solidFill>
                      <a:srgbClr val="F0F4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60" b="0">
                          <a:solidFill>
                            <a:srgbClr val="1F2933"/>
                          </a:solidFill>
                          <a:latin typeface="Arial"/>
                        </a:rPr>
                        <a:t>Lt 5 – Meeting Room 1</a:t>
                      </a:r>
                    </a:p>
                  </a:txBody>
                  <a:tcPr marL="73152" marR="54864" marT="27432" marB="27432" anchor="ctr">
                    <a:solidFill>
                      <a:srgbClr val="F0F4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60" b="0">
                          <a:solidFill>
                            <a:srgbClr val="1F2933"/>
                          </a:solidFill>
                          <a:latin typeface="Arial"/>
                        </a:rPr>
                        <a:t>Kosong</a:t>
                      </a:r>
                    </a:p>
                  </a:txBody>
                  <a:tcPr marL="73152" marR="54864" marT="27432" marB="27432" anchor="ctr">
                    <a:solidFill>
                      <a:srgbClr val="F0F4E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060" b="0">
                          <a:solidFill>
                            <a:srgbClr val="1F2933"/>
                          </a:solidFill>
                          <a:latin typeface="Arial"/>
                        </a:rPr>
                        <a:t>Peserta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60" b="0">
                          <a:solidFill>
                            <a:srgbClr val="1F2933"/>
                          </a:solidFill>
                          <a:latin typeface="Arial"/>
                        </a:rPr>
                        <a:t>Pilih akun / email tamu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60" b="0">
                          <a:solidFill>
                            <a:srgbClr val="1F2933"/>
                          </a:solidFill>
                          <a:latin typeface="Arial"/>
                        </a:rPr>
                        <a:t>Nama tanpa domain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594360" y="4709160"/>
            <a:ext cx="5349240" cy="914400"/>
          </a:xfrm>
          <a:prstGeom prst="roundRect">
            <a:avLst>
              <a:gd name="adj" fmla="val 8000"/>
            </a:avLst>
          </a:prstGeom>
          <a:solidFill>
            <a:srgbClr val="FBE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4360" y="4709160"/>
            <a:ext cx="64008" cy="914400"/>
          </a:xfrm>
          <a:prstGeom prst="rect">
            <a:avLst/>
          </a:prstGeom>
          <a:solidFill>
            <a:srgbClr val="C94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5528" y="4846320"/>
            <a:ext cx="498347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60" b="1" i="0">
                <a:solidFill>
                  <a:srgbClr val="8A2D28"/>
                </a:solidFill>
                <a:latin typeface="Arial"/>
              </a:rPr>
              <a:t>BENTROK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8" y="5093208"/>
            <a:ext cx="498347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40" b="0" i="0">
                <a:solidFill>
                  <a:srgbClr val="8A2D28"/>
                </a:solidFill>
                <a:latin typeface="Arial"/>
              </a:rPr>
              <a:t>Jika ruangan dipakai, pilih alternatif atau ubah jam. Jangan paksa.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4709160"/>
            <a:ext cx="5349240" cy="914400"/>
          </a:xfrm>
          <a:prstGeom prst="roundRect">
            <a:avLst>
              <a:gd name="adj" fmla="val 8000"/>
            </a:avLst>
          </a:prstGeom>
          <a:solidFill>
            <a:srgbClr val="FFF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4709160"/>
            <a:ext cx="64008" cy="914400"/>
          </a:xfrm>
          <a:prstGeom prst="rect">
            <a:avLst/>
          </a:prstGeom>
          <a:solidFill>
            <a:srgbClr val="E8A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73368" y="4846320"/>
            <a:ext cx="498347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60" b="1" i="0">
                <a:solidFill>
                  <a:srgbClr val="7A5A00"/>
                </a:solidFill>
                <a:latin typeface="Arial"/>
              </a:rPr>
              <a:t>REKURENSI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73368" y="5093208"/>
            <a:ext cx="498347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40" b="0" i="0">
                <a:solidFill>
                  <a:srgbClr val="7A5A00"/>
                </a:solidFill>
                <a:latin typeface="Arial"/>
              </a:rPr>
              <a:t>Untuk seri, isi “Ulangi sampai”; maksimal 200 occurrence.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9875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2FB46A"/>
                </a:solidFill>
                <a:latin typeface="Arial"/>
              </a:rPr>
              <a:t>CMS · PESERTA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7899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F2933"/>
                </a:solidFill>
                <a:latin typeface="Arial"/>
              </a:rPr>
              <a:t>Peserta dan tamu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61872"/>
            <a:ext cx="822960" cy="50292"/>
          </a:xfrm>
          <a:prstGeom prst="rect">
            <a:avLst/>
          </a:prstGeom>
          <a:solidFill>
            <a:srgbClr val="2FB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371600"/>
            <a:ext cx="99669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67737F"/>
                </a:solidFill>
                <a:latin typeface="Arial"/>
              </a:rPr>
              <a:t>Peserta terdaftar dipilih; tamu memakai email lengkap.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73952"/>
            <a:ext cx="11002975" cy="9144"/>
          </a:xfrm>
          <a:prstGeom prst="rect">
            <a:avLst/>
          </a:prstGeom>
          <a:solidFill>
            <a:srgbClr val="D9E2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37960"/>
            <a:ext cx="5852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0" i="0">
                <a:solidFill>
                  <a:srgbClr val="67737F"/>
                </a:solidFill>
                <a:latin typeface="Arial"/>
              </a:rPr>
              <a:t>RoomBooking · Panduan Penggunaan CMS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66760" y="6537960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19" b="0" i="0">
                <a:solidFill>
                  <a:srgbClr val="67737F"/>
                </a:solidFill>
                <a:latin typeface="Arial"/>
              </a:rPr>
              <a:t>CMS 3.13.0 · APK 1.4.5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52760" y="6519672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67737F"/>
                </a:solidFill>
                <a:latin typeface="Arial"/>
              </a:rPr>
              <a:t>09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645920"/>
            <a:ext cx="521208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2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828800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2933"/>
                </a:solidFill>
                <a:latin typeface="Arial"/>
              </a:rPr>
              <a:t>Peserta terdaftar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194560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7737F"/>
                </a:solidFill>
                <a:latin typeface="Arial"/>
              </a:rPr>
              <a:t>Ketik min. 2 huruf → pilih orang.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2697480"/>
            <a:ext cx="2926080" cy="274320"/>
          </a:xfrm>
          <a:prstGeom prst="roundRect">
            <a:avLst>
              <a:gd name="adj" fmla="val 8000"/>
            </a:avLst>
          </a:prstGeom>
          <a:solidFill>
            <a:srgbClr val="E7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2734056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1E6B3D"/>
                </a:solidFill>
                <a:latin typeface="Arial"/>
              </a:rPr>
              <a:t>Rani · rani@contoh.id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3063240"/>
            <a:ext cx="2926080" cy="274320"/>
          </a:xfrm>
          <a:prstGeom prst="roundRect">
            <a:avLst>
              <a:gd name="adj" fmla="val 8000"/>
            </a:avLst>
          </a:prstGeom>
          <a:solidFill>
            <a:srgbClr val="E7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3099816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1E6B3D"/>
                </a:solidFill>
                <a:latin typeface="Arial"/>
              </a:rPr>
              <a:t>Budi · budi@contoh.id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1645920"/>
            <a:ext cx="539496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2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182880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2933"/>
                </a:solidFill>
                <a:latin typeface="Arial"/>
              </a:rPr>
              <a:t>Tamu tanpa akun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2194560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7737F"/>
                </a:solidFill>
                <a:latin typeface="Arial"/>
              </a:rPr>
              <a:t>Tulis email lengkap, bukan nama.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55080" y="2697480"/>
            <a:ext cx="4480560" cy="329184"/>
          </a:xfrm>
          <a:prstGeom prst="roundRect">
            <a:avLst>
              <a:gd name="adj" fmla="val 8000"/>
            </a:avLst>
          </a:prstGeom>
          <a:solidFill>
            <a:srgbClr val="FFF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2743200"/>
            <a:ext cx="4206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1" i="0">
                <a:solidFill>
                  <a:srgbClr val="7A5A00"/>
                </a:solidFill>
                <a:latin typeface="Arial"/>
              </a:rPr>
              <a:t>tamu@contoh.id  ✓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55080" y="3127248"/>
            <a:ext cx="4480560" cy="329184"/>
          </a:xfrm>
          <a:prstGeom prst="roundRect">
            <a:avLst>
              <a:gd name="adj" fmla="val 8000"/>
            </a:avLst>
          </a:prstGeom>
          <a:solidFill>
            <a:srgbClr val="FBE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3172968"/>
            <a:ext cx="4206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1" i="0">
                <a:solidFill>
                  <a:srgbClr val="8A2D28"/>
                </a:solidFill>
                <a:latin typeface="Arial"/>
              </a:rPr>
              <a:t>“Pak Tamu”  ✗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" y="3977639"/>
            <a:ext cx="5349240" cy="868680"/>
          </a:xfrm>
          <a:prstGeom prst="roundRect">
            <a:avLst>
              <a:gd name="adj" fmla="val 8000"/>
            </a:avLst>
          </a:prstGeom>
          <a:solidFill>
            <a:srgbClr val="E7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94360" y="3977639"/>
            <a:ext cx="64008" cy="868680"/>
          </a:xfrm>
          <a:prstGeom prst="rect">
            <a:avLst/>
          </a:prstGeom>
          <a:solidFill>
            <a:srgbClr val="2FB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5528" y="4114800"/>
            <a:ext cx="498347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40" b="1" i="0">
                <a:solidFill>
                  <a:srgbClr val="1E6B3D"/>
                </a:solidFill>
                <a:latin typeface="Arial"/>
              </a:rPr>
              <a:t>KENAPA?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5528" y="4361688"/>
            <a:ext cx="4983479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0" b="0" i="0">
                <a:solidFill>
                  <a:srgbClr val="1E6B3D"/>
                </a:solidFill>
                <a:latin typeface="Arial"/>
              </a:rPr>
              <a:t>Peserta terdaftar bisa melihat meeting dan check-in; tamu hanya menerima informasi.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26480" y="3977639"/>
            <a:ext cx="5394960" cy="868680"/>
          </a:xfrm>
          <a:prstGeom prst="roundRect">
            <a:avLst>
              <a:gd name="adj" fmla="val 8000"/>
            </a:avLst>
          </a:prstGeom>
          <a:solidFill>
            <a:srgbClr val="FFF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26480" y="3977639"/>
            <a:ext cx="64008" cy="868680"/>
          </a:xfrm>
          <a:prstGeom prst="rect">
            <a:avLst/>
          </a:prstGeom>
          <a:solidFill>
            <a:srgbClr val="E8A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27648" y="4114800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40" b="1" i="0">
                <a:solidFill>
                  <a:srgbClr val="7A5A00"/>
                </a:solidFill>
                <a:latin typeface="Arial"/>
              </a:rPr>
              <a:t>JANGAN LUPA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27648" y="4361688"/>
            <a:ext cx="5029200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0" b="0" i="0">
                <a:solidFill>
                  <a:srgbClr val="7A5A00"/>
                </a:solidFill>
                <a:latin typeface="Arial"/>
              </a:rPr>
              <a:t>Undangan bukan check-in. Peserta tetap harus datang dan menempelkan kartu.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9875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2FB46A"/>
                </a:solidFill>
                <a:latin typeface="Arial"/>
              </a:rPr>
              <a:t>CMS · RESEPSIONIS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7899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F2933"/>
                </a:solidFill>
                <a:latin typeface="Arial"/>
              </a:rPr>
              <a:t>Booking untuk karyawan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61872"/>
            <a:ext cx="822960" cy="50292"/>
          </a:xfrm>
          <a:prstGeom prst="rect">
            <a:avLst/>
          </a:prstGeom>
          <a:solidFill>
            <a:srgbClr val="2FB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371600"/>
            <a:ext cx="99669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67737F"/>
                </a:solidFill>
                <a:latin typeface="Arial"/>
              </a:rPr>
              <a:t>Organizer = karyawan; booked by = resepsionis.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73952"/>
            <a:ext cx="11002975" cy="9144"/>
          </a:xfrm>
          <a:prstGeom prst="rect">
            <a:avLst/>
          </a:prstGeom>
          <a:solidFill>
            <a:srgbClr val="D9E2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37960"/>
            <a:ext cx="5852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0" i="0">
                <a:solidFill>
                  <a:srgbClr val="67737F"/>
                </a:solidFill>
                <a:latin typeface="Arial"/>
              </a:rPr>
              <a:t>RoomBooking · Panduan Penggunaan CMS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66760" y="6537960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19" b="0" i="0">
                <a:solidFill>
                  <a:srgbClr val="67737F"/>
                </a:solidFill>
                <a:latin typeface="Arial"/>
              </a:rPr>
              <a:t>CMS 3.13.0 · APK 1.4.5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52760" y="6519672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67737F"/>
                </a:solidFill>
                <a:latin typeface="Arial"/>
              </a:rPr>
              <a:t>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645920"/>
            <a:ext cx="342900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2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1645920"/>
            <a:ext cx="64008" cy="1554480"/>
          </a:xfrm>
          <a:prstGeom prst="rect">
            <a:avLst/>
          </a:prstGeom>
          <a:solidFill>
            <a:srgbClr val="2FB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77240" y="1828800"/>
            <a:ext cx="292608" cy="292608"/>
          </a:xfrm>
          <a:prstGeom prst="ellipse">
            <a:avLst/>
          </a:prstGeom>
          <a:solidFill>
            <a:srgbClr val="2FB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61288" y="1828800"/>
            <a:ext cx="27157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F2933"/>
                </a:solidFill>
                <a:latin typeface="Arial"/>
              </a:rPr>
              <a:t>Cari karyawan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8" y="2249424"/>
            <a:ext cx="3044952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90" b="0" i="0">
                <a:solidFill>
                  <a:srgbClr val="67737F"/>
                </a:solidFill>
                <a:latin typeface="Arial"/>
              </a:rPr>
              <a:t>Ketik min. 2 huruf, pilih orang.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24528" y="1645920"/>
            <a:ext cx="342900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2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24528" y="1645920"/>
            <a:ext cx="64008" cy="1554480"/>
          </a:xfrm>
          <a:prstGeom prst="rect">
            <a:avLst/>
          </a:prstGeom>
          <a:solidFill>
            <a:srgbClr val="2FB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407408" y="1828800"/>
            <a:ext cx="292608" cy="292608"/>
          </a:xfrm>
          <a:prstGeom prst="ellipse">
            <a:avLst/>
          </a:prstGeom>
          <a:solidFill>
            <a:srgbClr val="2FB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91456" y="1828800"/>
            <a:ext cx="27157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F2933"/>
                </a:solidFill>
                <a:latin typeface="Arial"/>
              </a:rPr>
              <a:t>Isi meeting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25696" y="2249424"/>
            <a:ext cx="3044952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90" b="0" i="0">
                <a:solidFill>
                  <a:srgbClr val="67737F"/>
                </a:solidFill>
                <a:latin typeface="Arial"/>
              </a:rPr>
              <a:t>Judul, waktu, lokasi di lantai Anda.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54696" y="1645920"/>
            <a:ext cx="342900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2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854696" y="1645920"/>
            <a:ext cx="64008" cy="1554480"/>
          </a:xfrm>
          <a:prstGeom prst="rect">
            <a:avLst/>
          </a:prstGeom>
          <a:solidFill>
            <a:srgbClr val="2FB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37575" y="1828800"/>
            <a:ext cx="292608" cy="292608"/>
          </a:xfrm>
          <a:prstGeom prst="ellipse">
            <a:avLst/>
          </a:prstGeom>
          <a:solidFill>
            <a:srgbClr val="2FB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21624" y="1828800"/>
            <a:ext cx="27157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F2933"/>
                </a:solidFill>
                <a:latin typeface="Arial"/>
              </a:rPr>
              <a:t>Simpan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55864" y="2249424"/>
            <a:ext cx="3044952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90" b="0" i="0">
                <a:solidFill>
                  <a:srgbClr val="67737F"/>
                </a:solidFill>
                <a:latin typeface="Arial"/>
              </a:rPr>
              <a:t>Karyawan melihat di kalendernya.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594360" y="3566160"/>
          <a:ext cx="10927080" cy="164592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286000"/>
                <a:gridCol w="4114800"/>
                <a:gridCol w="4526280"/>
              </a:tblGrid>
              <a:tr h="411480">
                <a:tc>
                  <a:txBody>
                    <a:bodyPr wrap="square"/>
                    <a:lstStyle/>
                    <a:p>
                      <a:r>
                        <a:rPr sz="1030" b="1">
                          <a:solidFill>
                            <a:srgbClr val="FFFFFF"/>
                          </a:solidFill>
                          <a:latin typeface="Arial"/>
                        </a:rPr>
                        <a:t>Tercatat</a:t>
                      </a:r>
                    </a:p>
                  </a:txBody>
                  <a:tcPr marL="73152" marR="54864" marT="27432" marB="27432" anchor="ctr">
                    <a:solidFill>
                      <a:srgbClr val="1115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30" b="1">
                          <a:solidFill>
                            <a:srgbClr val="FFFFFF"/>
                          </a:solidFill>
                          <a:latin typeface="Arial"/>
                        </a:rPr>
                        <a:t>Siapa</a:t>
                      </a:r>
                    </a:p>
                  </a:txBody>
                  <a:tcPr marL="73152" marR="54864" marT="27432" marB="27432" anchor="ctr">
                    <a:solidFill>
                      <a:srgbClr val="1115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30" b="1">
                          <a:solidFill>
                            <a:srgbClr val="FFFFFF"/>
                          </a:solidFill>
                          <a:latin typeface="Arial"/>
                        </a:rPr>
                        <a:t>Contoh</a:t>
                      </a:r>
                    </a:p>
                  </a:txBody>
                  <a:tcPr marL="73152" marR="54864" marT="27432" marB="27432" anchor="ctr">
                    <a:solidFill>
                      <a:srgbClr val="11151B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030" b="0">
                          <a:solidFill>
                            <a:srgbClr val="1F2933"/>
                          </a:solidFill>
                          <a:latin typeface="Arial"/>
                        </a:rPr>
                        <a:t>Organizer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30" b="0">
                          <a:solidFill>
                            <a:srgbClr val="1F2933"/>
                          </a:solidFill>
                          <a:latin typeface="Arial"/>
                        </a:rPr>
                        <a:t>Karyawan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30" b="0">
                          <a:solidFill>
                            <a:srgbClr val="1F2933"/>
                          </a:solidFill>
                          <a:latin typeface="Arial"/>
                        </a:rPr>
                        <a:t>Rani (HC)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030" b="0">
                          <a:solidFill>
                            <a:srgbClr val="1F2933"/>
                          </a:solidFill>
                          <a:latin typeface="Arial"/>
                        </a:rPr>
                        <a:t>Booked by</a:t>
                      </a:r>
                    </a:p>
                  </a:txBody>
                  <a:tcPr marL="73152" marR="54864" marT="27432" marB="27432" anchor="ctr">
                    <a:solidFill>
                      <a:srgbClr val="F0F4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30" b="0">
                          <a:solidFill>
                            <a:srgbClr val="1F2933"/>
                          </a:solidFill>
                          <a:latin typeface="Arial"/>
                        </a:rPr>
                        <a:t>Resepsionis</a:t>
                      </a:r>
                    </a:p>
                  </a:txBody>
                  <a:tcPr marL="73152" marR="54864" marT="27432" marB="27432" anchor="ctr">
                    <a:solidFill>
                      <a:srgbClr val="F0F4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30" b="0">
                          <a:solidFill>
                            <a:srgbClr val="1F2933"/>
                          </a:solidFill>
                          <a:latin typeface="Arial"/>
                        </a:rPr>
                        <a:t>Resepsionis Lt 5</a:t>
                      </a:r>
                    </a:p>
                  </a:txBody>
                  <a:tcPr marL="73152" marR="54864" marT="27432" marB="27432" anchor="ctr">
                    <a:solidFill>
                      <a:srgbClr val="F0F4E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030" b="0">
                          <a:solidFill>
                            <a:srgbClr val="1F2933"/>
                          </a:solidFill>
                          <a:latin typeface="Arial"/>
                        </a:rPr>
                        <a:t>Ruangan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30" b="0">
                          <a:solidFill>
                            <a:srgbClr val="1F2933"/>
                          </a:solidFill>
                          <a:latin typeface="Arial"/>
                        </a:rPr>
                        <a:t>Lantai resepsionis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30" b="0">
                          <a:solidFill>
                            <a:srgbClr val="1F2933"/>
                          </a:solidFill>
                          <a:latin typeface="Arial"/>
                        </a:rPr>
                        <a:t>Lt 5 MR1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Rounded Rectangle 25"/>
          <p:cNvSpPr/>
          <p:nvPr/>
        </p:nvSpPr>
        <p:spPr>
          <a:xfrm>
            <a:off x="594360" y="5120640"/>
            <a:ext cx="10927080" cy="640080"/>
          </a:xfrm>
          <a:prstGeom prst="roundRect">
            <a:avLst>
              <a:gd name="adj" fmla="val 8000"/>
            </a:avLst>
          </a:prstGeom>
          <a:solidFill>
            <a:srgbClr val="FFF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94360" y="5120640"/>
            <a:ext cx="64008" cy="640080"/>
          </a:xfrm>
          <a:prstGeom prst="rect">
            <a:avLst/>
          </a:prstGeom>
          <a:solidFill>
            <a:srgbClr val="E8A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5528" y="5257800"/>
            <a:ext cx="1056131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40" b="1" i="0">
                <a:solidFill>
                  <a:srgbClr val="7A5A00"/>
                </a:solidFill>
                <a:latin typeface="Arial"/>
              </a:rPr>
              <a:t>CREATE-ONLY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5528" y="5504688"/>
            <a:ext cx="10561319" cy="1828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40" b="0" i="0">
                <a:solidFill>
                  <a:srgbClr val="7A5A00"/>
                </a:solidFill>
                <a:latin typeface="Arial"/>
              </a:rPr>
              <a:t>Field ini hanya saat membuat. Saat edit, organizer tidak berpindah.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9875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2FB46A"/>
                </a:solidFill>
                <a:latin typeface="Arial"/>
              </a:rPr>
              <a:t>CMS · BERULANG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7899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F2933"/>
                </a:solidFill>
                <a:latin typeface="Arial"/>
              </a:rPr>
              <a:t>Meeting berulang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61872"/>
            <a:ext cx="822960" cy="50292"/>
          </a:xfrm>
          <a:prstGeom prst="rect">
            <a:avLst/>
          </a:prstGeom>
          <a:solidFill>
            <a:srgbClr val="2FB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371600"/>
            <a:ext cx="99669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67737F"/>
                </a:solidFill>
                <a:latin typeface="Arial"/>
              </a:rPr>
              <a:t>Satu pola, banyak occurrence. Jangan buat manual.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73952"/>
            <a:ext cx="11002975" cy="9144"/>
          </a:xfrm>
          <a:prstGeom prst="rect">
            <a:avLst/>
          </a:prstGeom>
          <a:solidFill>
            <a:srgbClr val="D9E2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37960"/>
            <a:ext cx="5852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0" i="0">
                <a:solidFill>
                  <a:srgbClr val="67737F"/>
                </a:solidFill>
                <a:latin typeface="Arial"/>
              </a:rPr>
              <a:t>RoomBooking · Panduan Penggunaan CMS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66760" y="6537960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19" b="0" i="0">
                <a:solidFill>
                  <a:srgbClr val="67737F"/>
                </a:solidFill>
                <a:latin typeface="Arial"/>
              </a:rPr>
              <a:t>CMS 3.13.0 · APK 1.4.5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52760" y="6519672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67737F"/>
                </a:solidFill>
                <a:latin typeface="Arial"/>
              </a:rPr>
              <a:t>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645920"/>
            <a:ext cx="342900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2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8" y="182880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0" b="1" i="0">
                <a:solidFill>
                  <a:srgbClr val="2FB46A"/>
                </a:solidFill>
                <a:latin typeface="Arial"/>
              </a:rPr>
              <a:t>Harian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2157984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2933"/>
                </a:solidFill>
                <a:latin typeface="Arial"/>
              </a:rPr>
              <a:t>1–N hari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8" y="2578608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0" b="0" i="0">
                <a:solidFill>
                  <a:srgbClr val="67737F"/>
                </a:solidFill>
                <a:latin typeface="Arial"/>
              </a:rPr>
              <a:t>Stand-up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24528" y="1645920"/>
            <a:ext cx="342900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2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25696" y="182880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0" b="1" i="0">
                <a:solidFill>
                  <a:srgbClr val="2FB46A"/>
                </a:solidFill>
                <a:latin typeface="Arial"/>
              </a:rPr>
              <a:t>Mingguan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25696" y="2157984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2933"/>
                </a:solidFill>
                <a:latin typeface="Arial"/>
              </a:rPr>
              <a:t>Pilih hari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25696" y="2578608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0" b="0" i="0">
                <a:solidFill>
                  <a:srgbClr val="67737F"/>
                </a:solidFill>
                <a:latin typeface="Arial"/>
              </a:rPr>
              <a:t>Rapat Senin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54696" y="1645920"/>
            <a:ext cx="342900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2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55864" y="182880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0" b="1" i="0">
                <a:solidFill>
                  <a:srgbClr val="2FB46A"/>
                </a:solidFill>
                <a:latin typeface="Arial"/>
              </a:rPr>
              <a:t>Bulanan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55864" y="2157984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2933"/>
                </a:solidFill>
                <a:latin typeface="Arial"/>
              </a:rPr>
              <a:t>Tanggal/hari ke-N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55864" y="2578608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0" b="0" i="0">
                <a:solidFill>
                  <a:srgbClr val="67737F"/>
                </a:solidFill>
                <a:latin typeface="Arial"/>
              </a:rPr>
              <a:t>Rapat bulanan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3703320"/>
            <a:ext cx="10927080" cy="1143000"/>
          </a:xfrm>
          <a:prstGeom prst="roundRect">
            <a:avLst>
              <a:gd name="adj" fmla="val 8000"/>
            </a:avLst>
          </a:prstGeom>
          <a:solidFill>
            <a:srgbClr val="EE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38862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1" i="0">
                <a:solidFill>
                  <a:srgbClr val="2FB46A"/>
                </a:solidFill>
                <a:latin typeface="Arial"/>
              </a:rPr>
              <a:t>CONTOH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4206240"/>
            <a:ext cx="10241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F2933"/>
                </a:solidFill>
                <a:latin typeface="Arial"/>
              </a:rPr>
              <a:t>Rapat Koordinasi • setiap Senin • 10.00–11.00 • 2 Nov–21 Des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5074920"/>
            <a:ext cx="53035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030" b="1">
                <a:solidFill>
                  <a:srgbClr val="2FB46A"/>
                </a:solidFill>
                <a:latin typeface="Arial"/>
              </a:rPr>
              <a:t>•  </a:t>
            </a:r>
            <a:r>
              <a:rPr sz="1030">
                <a:solidFill>
                  <a:srgbClr val="1F2933"/>
                </a:solidFill>
                <a:latin typeface="Arial"/>
              </a:rPr>
              <a:t>Maks. 200 occurrence / 366 hari.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030" b="1">
                <a:solidFill>
                  <a:srgbClr val="2FB46A"/>
                </a:solidFill>
                <a:latin typeface="Arial"/>
              </a:rPr>
              <a:t>•  </a:t>
            </a:r>
            <a:r>
              <a:rPr sz="1030">
                <a:solidFill>
                  <a:srgbClr val="1F2933"/>
                </a:solidFill>
                <a:latin typeface="Arial"/>
              </a:rPr>
              <a:t>Bentrok satu → semua gagal.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72200" y="5074920"/>
            <a:ext cx="53492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030" b="1">
                <a:solidFill>
                  <a:srgbClr val="2FB46A"/>
                </a:solidFill>
                <a:latin typeface="Arial"/>
              </a:rPr>
              <a:t>•  </a:t>
            </a:r>
            <a:r>
              <a:rPr sz="1030">
                <a:solidFill>
                  <a:srgbClr val="1F2933"/>
                </a:solidFill>
                <a:latin typeface="Arial"/>
              </a:rPr>
              <a:t>Ubah/batal: satu, berikutnya, seri.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030" b="1">
                <a:solidFill>
                  <a:srgbClr val="2FB46A"/>
                </a:solidFill>
                <a:latin typeface="Arial"/>
              </a:rPr>
              <a:t>•  </a:t>
            </a:r>
            <a:r>
              <a:rPr sz="1030">
                <a:solidFill>
                  <a:srgbClr val="1F2933"/>
                </a:solidFill>
                <a:latin typeface="Arial"/>
              </a:rPr>
              <a:t>Judul harus spesifik.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9875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2FB46A"/>
                </a:solidFill>
                <a:latin typeface="Arial"/>
              </a:rPr>
              <a:t>CMS · UBAH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7899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F2933"/>
                </a:solidFill>
                <a:latin typeface="Arial"/>
              </a:rPr>
              <a:t>Mengubah &amp; membatalkan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61872"/>
            <a:ext cx="822960" cy="50292"/>
          </a:xfrm>
          <a:prstGeom prst="rect">
            <a:avLst/>
          </a:prstGeom>
          <a:solidFill>
            <a:srgbClr val="2FB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371600"/>
            <a:ext cx="99669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67737F"/>
                </a:solidFill>
                <a:latin typeface="Arial"/>
              </a:rPr>
              <a:t>Klik event → Edit/Cancel. Pilih cakupan untuk seri.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73952"/>
            <a:ext cx="11002975" cy="9144"/>
          </a:xfrm>
          <a:prstGeom prst="rect">
            <a:avLst/>
          </a:prstGeom>
          <a:solidFill>
            <a:srgbClr val="D9E2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37960"/>
            <a:ext cx="5852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0" i="0">
                <a:solidFill>
                  <a:srgbClr val="67737F"/>
                </a:solidFill>
                <a:latin typeface="Arial"/>
              </a:rPr>
              <a:t>RoomBooking · Panduan Penggunaan CMS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66760" y="6537960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19" b="0" i="0">
                <a:solidFill>
                  <a:srgbClr val="67737F"/>
                </a:solidFill>
                <a:latin typeface="Arial"/>
              </a:rPr>
              <a:t>CMS 3.13.0 · APK 1.4.5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52760" y="6519672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67737F"/>
                </a:solidFill>
                <a:latin typeface="Arial"/>
              </a:rPr>
              <a:t>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645920"/>
            <a:ext cx="342900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2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1645920"/>
            <a:ext cx="64008" cy="1417320"/>
          </a:xfrm>
          <a:prstGeom prst="rect">
            <a:avLst/>
          </a:prstGeom>
          <a:solidFill>
            <a:srgbClr val="2FB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77240" y="1828800"/>
            <a:ext cx="292608" cy="292608"/>
          </a:xfrm>
          <a:prstGeom prst="ellipse">
            <a:avLst/>
          </a:prstGeom>
          <a:solidFill>
            <a:srgbClr val="2FB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61288" y="1828800"/>
            <a:ext cx="27157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F2933"/>
                </a:solidFill>
                <a:latin typeface="Arial"/>
              </a:rPr>
              <a:t>Satu kejadian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8" y="2249424"/>
            <a:ext cx="304495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80" b="0" i="0">
                <a:solidFill>
                  <a:srgbClr val="67737F"/>
                </a:solidFill>
                <a:latin typeface="Arial"/>
              </a:rPr>
              <a:t>Hanya event ini.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24528" y="1645920"/>
            <a:ext cx="342900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2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24528" y="1645920"/>
            <a:ext cx="64008" cy="1417320"/>
          </a:xfrm>
          <a:prstGeom prst="rect">
            <a:avLst/>
          </a:prstGeom>
          <a:solidFill>
            <a:srgbClr val="2FB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407408" y="1828800"/>
            <a:ext cx="292608" cy="292608"/>
          </a:xfrm>
          <a:prstGeom prst="ellipse">
            <a:avLst/>
          </a:prstGeom>
          <a:solidFill>
            <a:srgbClr val="2FB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91456" y="1828800"/>
            <a:ext cx="27157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F2933"/>
                </a:solidFill>
                <a:latin typeface="Arial"/>
              </a:rPr>
              <a:t>Ini &amp; berikutnya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25696" y="2249424"/>
            <a:ext cx="304495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80" b="0" i="0">
                <a:solidFill>
                  <a:srgbClr val="67737F"/>
                </a:solidFill>
                <a:latin typeface="Arial"/>
              </a:rPr>
              <a:t>Mulai tanggal pivot.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54696" y="1645920"/>
            <a:ext cx="342900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2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854696" y="1645920"/>
            <a:ext cx="64008" cy="1417320"/>
          </a:xfrm>
          <a:prstGeom prst="rect">
            <a:avLst/>
          </a:prstGeom>
          <a:solidFill>
            <a:srgbClr val="2FB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37575" y="1828800"/>
            <a:ext cx="292608" cy="292608"/>
          </a:xfrm>
          <a:prstGeom prst="ellipse">
            <a:avLst/>
          </a:prstGeom>
          <a:solidFill>
            <a:srgbClr val="2FB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21624" y="1828800"/>
            <a:ext cx="27157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F2933"/>
                </a:solidFill>
                <a:latin typeface="Arial"/>
              </a:rPr>
              <a:t>Seluruh seri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55864" y="2249424"/>
            <a:ext cx="304495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80" b="0" i="0">
                <a:solidFill>
                  <a:srgbClr val="67737F"/>
                </a:solidFill>
                <a:latin typeface="Arial"/>
              </a:rPr>
              <a:t>Semua occurrence.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594360" y="3337560"/>
          <a:ext cx="10927080" cy="164592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828800"/>
                <a:gridCol w="5394960"/>
                <a:gridCol w="3703320"/>
              </a:tblGrid>
              <a:tr h="411480">
                <a:tc>
                  <a:txBody>
                    <a:bodyPr wrap="square"/>
                    <a:lstStyle/>
                    <a:p>
                      <a:r>
                        <a:rPr sz="1030" b="1">
                          <a:solidFill>
                            <a:srgbClr val="FFFFFF"/>
                          </a:solidFill>
                          <a:latin typeface="Arial"/>
                        </a:rPr>
                        <a:t>Aksi</a:t>
                      </a:r>
                    </a:p>
                  </a:txBody>
                  <a:tcPr marL="73152" marR="54864" marT="27432" marB="27432" anchor="ctr">
                    <a:solidFill>
                      <a:srgbClr val="1115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30" b="1">
                          <a:solidFill>
                            <a:srgbClr val="FFFFFF"/>
                          </a:solidFill>
                          <a:latin typeface="Arial"/>
                        </a:rPr>
                        <a:t>Siapa</a:t>
                      </a:r>
                    </a:p>
                  </a:txBody>
                  <a:tcPr marL="73152" marR="54864" marT="27432" marB="27432" anchor="ctr">
                    <a:solidFill>
                      <a:srgbClr val="1115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30" b="1">
                          <a:solidFill>
                            <a:srgbClr val="FFFFFF"/>
                          </a:solidFill>
                          <a:latin typeface="Arial"/>
                        </a:rPr>
                        <a:t>Efek</a:t>
                      </a:r>
                    </a:p>
                  </a:txBody>
                  <a:tcPr marL="73152" marR="54864" marT="27432" marB="27432" anchor="ctr">
                    <a:solidFill>
                      <a:srgbClr val="11151B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030" b="0">
                          <a:solidFill>
                            <a:srgbClr val="1F2933"/>
                          </a:solidFill>
                          <a:latin typeface="Arial"/>
                        </a:rPr>
                        <a:t>Edit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30" b="0">
                          <a:solidFill>
                            <a:srgbClr val="1F2933"/>
                          </a:solidFill>
                          <a:latin typeface="Arial"/>
                        </a:rPr>
                        <a:t>Organizer/resepsionis/admin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30" b="0">
                          <a:solidFill>
                            <a:srgbClr val="1F2933"/>
                          </a:solidFill>
                          <a:latin typeface="Arial"/>
                        </a:rPr>
                        <a:t>Tablet &amp; kalender update.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030" b="0">
                          <a:solidFill>
                            <a:srgbClr val="1F2933"/>
                          </a:solidFill>
                          <a:latin typeface="Arial"/>
                        </a:rPr>
                        <a:t>Cancel</a:t>
                      </a:r>
                    </a:p>
                  </a:txBody>
                  <a:tcPr marL="73152" marR="54864" marT="27432" marB="27432" anchor="ctr">
                    <a:solidFill>
                      <a:srgbClr val="F0F4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30" b="0">
                          <a:solidFill>
                            <a:srgbClr val="1F2933"/>
                          </a:solidFill>
                          <a:latin typeface="Arial"/>
                        </a:rPr>
                        <a:t>Sama</a:t>
                      </a:r>
                    </a:p>
                  </a:txBody>
                  <a:tcPr marL="73152" marR="54864" marT="27432" marB="27432" anchor="ctr">
                    <a:solidFill>
                      <a:srgbClr val="F0F4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30" b="0">
                          <a:solidFill>
                            <a:srgbClr val="1F2933"/>
                          </a:solidFill>
                          <a:latin typeface="Arial"/>
                        </a:rPr>
                        <a:t>Ruangan bebas; event tetap tersimpan.</a:t>
                      </a:r>
                    </a:p>
                  </a:txBody>
                  <a:tcPr marL="73152" marR="54864" marT="27432" marB="27432" anchor="ctr">
                    <a:solidFill>
                      <a:srgbClr val="F0F4E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030" b="0">
                          <a:solidFill>
                            <a:srgbClr val="1F2933"/>
                          </a:solidFill>
                          <a:latin typeface="Arial"/>
                        </a:rPr>
                        <a:t>Lihat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30" b="0">
                          <a:solidFill>
                            <a:srgbClr val="1F2933"/>
                          </a:solidFill>
                          <a:latin typeface="Arial"/>
                        </a:rPr>
                        <a:t>Peserta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30" b="0">
                          <a:solidFill>
                            <a:srgbClr val="1F2933"/>
                          </a:solidFill>
                          <a:latin typeface="Arial"/>
                        </a:rPr>
                        <a:t>Hanya baca.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Rounded Rectangle 25"/>
          <p:cNvSpPr/>
          <p:nvPr/>
        </p:nvSpPr>
        <p:spPr>
          <a:xfrm>
            <a:off x="594360" y="4937760"/>
            <a:ext cx="10927080" cy="640080"/>
          </a:xfrm>
          <a:prstGeom prst="roundRect">
            <a:avLst>
              <a:gd name="adj" fmla="val 8000"/>
            </a:avLst>
          </a:prstGeom>
          <a:solidFill>
            <a:srgbClr val="FFF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94360" y="4937760"/>
            <a:ext cx="64008" cy="640080"/>
          </a:xfrm>
          <a:prstGeom prst="rect">
            <a:avLst/>
          </a:prstGeom>
          <a:solidFill>
            <a:srgbClr val="E8A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5528" y="5074920"/>
            <a:ext cx="1056131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40" b="1" i="0">
                <a:solidFill>
                  <a:srgbClr val="7A5A00"/>
                </a:solidFill>
                <a:latin typeface="Arial"/>
              </a:rPr>
              <a:t>HATI-HATI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5528" y="5321808"/>
            <a:ext cx="10561319" cy="1828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40" b="0" i="0">
                <a:solidFill>
                  <a:srgbClr val="7A5A00"/>
                </a:solidFill>
                <a:latin typeface="Arial"/>
              </a:rPr>
              <a:t>“Seluruh seri” mengubah semua occurrence. Pastikan sebelum Save.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9875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2FB46A"/>
                </a:solidFill>
                <a:latin typeface="Arial"/>
              </a:rPr>
              <a:t>CMS · 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7899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F2933"/>
                </a:solidFill>
                <a:latin typeface="Arial"/>
              </a:rPr>
              <a:t>Agenda dan lantai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61872"/>
            <a:ext cx="822960" cy="50292"/>
          </a:xfrm>
          <a:prstGeom prst="rect">
            <a:avLst/>
          </a:prstGeom>
          <a:solidFill>
            <a:srgbClr val="2FB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371600"/>
            <a:ext cx="99669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67737F"/>
                </a:solidFill>
                <a:latin typeface="Arial"/>
              </a:rPr>
              <a:t>Daftar berurutan per tanggal; lantai di kanan kartu.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73952"/>
            <a:ext cx="11002975" cy="9144"/>
          </a:xfrm>
          <a:prstGeom prst="rect">
            <a:avLst/>
          </a:prstGeom>
          <a:solidFill>
            <a:srgbClr val="D9E2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37960"/>
            <a:ext cx="5852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0" i="0">
                <a:solidFill>
                  <a:srgbClr val="67737F"/>
                </a:solidFill>
                <a:latin typeface="Arial"/>
              </a:rPr>
              <a:t>RoomBooking · Panduan Penggunaan CMS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66760" y="6537960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19" b="0" i="0">
                <a:solidFill>
                  <a:srgbClr val="67737F"/>
                </a:solidFill>
                <a:latin typeface="Arial"/>
              </a:rPr>
              <a:t>CMS 3.13.0 · APK 1.4.5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52760" y="6519672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67737F"/>
                </a:solidFill>
                <a:latin typeface="Arial"/>
              </a:rPr>
              <a:t>13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737360"/>
            <a:ext cx="6675120" cy="424932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2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shot-agenda-c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783080"/>
            <a:ext cx="6583680" cy="415788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94360" y="6016752"/>
            <a:ext cx="6583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0" i="1">
                <a:solidFill>
                  <a:srgbClr val="67737F"/>
                </a:solidFill>
                <a:latin typeface="Arial"/>
              </a:rPr>
              <a:t>Contoh agenda; data UAT disamarkan.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52360" y="1828800"/>
            <a:ext cx="4160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FB46A"/>
                </a:solidFill>
                <a:latin typeface="Arial"/>
              </a:rPr>
              <a:t>Gunakan untuk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52360" y="2194560"/>
            <a:ext cx="416052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080" b="1">
                <a:solidFill>
                  <a:srgbClr val="2FB46A"/>
                </a:solidFill>
                <a:latin typeface="Arial"/>
              </a:rPr>
              <a:t>•  </a:t>
            </a:r>
            <a:r>
              <a:rPr sz="1080" b="1">
                <a:solidFill>
                  <a:srgbClr val="1F2933"/>
                </a:solidFill>
                <a:latin typeface="Arial"/>
              </a:rPr>
              <a:t>Briefing pagi — </a:t>
            </a:r>
            <a:r>
              <a:rPr sz="1080">
                <a:solidFill>
                  <a:srgbClr val="1F2933"/>
                </a:solidFill>
                <a:latin typeface="Arial"/>
              </a:rPr>
              <a:t>3 rapat pertama.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080" b="1">
                <a:solidFill>
                  <a:srgbClr val="2FB46A"/>
                </a:solidFill>
                <a:latin typeface="Arial"/>
              </a:rPr>
              <a:t>•  </a:t>
            </a:r>
            <a:r>
              <a:rPr sz="1080" b="1">
                <a:solidFill>
                  <a:srgbClr val="1F2933"/>
                </a:solidFill>
                <a:latin typeface="Arial"/>
              </a:rPr>
              <a:t>Cek lantai — </a:t>
            </a:r>
            <a:r>
              <a:rPr sz="1080">
                <a:solidFill>
                  <a:srgbClr val="1F2933"/>
                </a:solidFill>
                <a:latin typeface="Arial"/>
              </a:rPr>
              <a:t>chip di kanan.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080" b="1">
                <a:solidFill>
                  <a:srgbClr val="2FB46A"/>
                </a:solidFill>
                <a:latin typeface="Arial"/>
              </a:rPr>
              <a:t>•  </a:t>
            </a:r>
            <a:r>
              <a:rPr sz="1080" b="1">
                <a:solidFill>
                  <a:srgbClr val="1F2933"/>
                </a:solidFill>
                <a:latin typeface="Arial"/>
              </a:rPr>
              <a:t>Siapkan ruangan — </a:t>
            </a:r>
            <a:r>
              <a:rPr sz="1080">
                <a:solidFill>
                  <a:srgbClr val="1F2933"/>
                </a:solidFill>
                <a:latin typeface="Arial"/>
              </a:rPr>
              <a:t>sebelum peserta datang.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080" b="1">
                <a:solidFill>
                  <a:srgbClr val="2FB46A"/>
                </a:solidFill>
                <a:latin typeface="Arial"/>
              </a:rPr>
              <a:t>•  </a:t>
            </a:r>
            <a:r>
              <a:rPr sz="1080" b="1">
                <a:solidFill>
                  <a:srgbClr val="1F2933"/>
                </a:solidFill>
                <a:latin typeface="Arial"/>
              </a:rPr>
              <a:t>Tutup hari — </a:t>
            </a:r>
            <a:r>
              <a:rPr sz="1080">
                <a:solidFill>
                  <a:srgbClr val="1F2933"/>
                </a:solidFill>
                <a:latin typeface="Arial"/>
              </a:rPr>
              <a:t>rapat besok.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52360" y="5074920"/>
            <a:ext cx="4160520" cy="868680"/>
          </a:xfrm>
          <a:prstGeom prst="roundRect">
            <a:avLst>
              <a:gd name="adj" fmla="val 8000"/>
            </a:avLst>
          </a:prstGeom>
          <a:solidFill>
            <a:srgbClr val="E7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452360" y="5074920"/>
            <a:ext cx="64008" cy="868680"/>
          </a:xfrm>
          <a:prstGeom prst="rect">
            <a:avLst/>
          </a:prstGeom>
          <a:solidFill>
            <a:srgbClr val="2FB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53528" y="5212080"/>
            <a:ext cx="379475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1" i="0">
                <a:solidFill>
                  <a:srgbClr val="1E6B3D"/>
                </a:solidFill>
                <a:latin typeface="Arial"/>
              </a:rPr>
              <a:t>TIPS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53528" y="5458968"/>
            <a:ext cx="3794759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19" b="0" i="0">
                <a:solidFill>
                  <a:srgbClr val="1E6B3D"/>
                </a:solidFill>
                <a:latin typeface="Arial"/>
              </a:rPr>
              <a:t>Agenda lebih nyaman di layar sempit daripada grid mingguan.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9875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2FB46A"/>
                </a:solidFill>
                <a:latin typeface="Arial"/>
              </a:rPr>
              <a:t>CMS · PENGGUNA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7899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F2933"/>
                </a:solidFill>
                <a:latin typeface="Arial"/>
              </a:rPr>
              <a:t>Users: mencari dan memfilter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61872"/>
            <a:ext cx="822960" cy="50292"/>
          </a:xfrm>
          <a:prstGeom prst="rect">
            <a:avLst/>
          </a:prstGeom>
          <a:solidFill>
            <a:srgbClr val="2FB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371600"/>
            <a:ext cx="99669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67737F"/>
                </a:solidFill>
                <a:latin typeface="Arial"/>
              </a:rPr>
              <a:t>Data pada screenshot sudah disamarkan.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73952"/>
            <a:ext cx="11002975" cy="9144"/>
          </a:xfrm>
          <a:prstGeom prst="rect">
            <a:avLst/>
          </a:prstGeom>
          <a:solidFill>
            <a:srgbClr val="D9E2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37960"/>
            <a:ext cx="5852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0" i="0">
                <a:solidFill>
                  <a:srgbClr val="67737F"/>
                </a:solidFill>
                <a:latin typeface="Arial"/>
              </a:rPr>
              <a:t>RoomBooking · Panduan Penggunaan CMS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66760" y="6537960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19" b="0" i="0">
                <a:solidFill>
                  <a:srgbClr val="67737F"/>
                </a:solidFill>
                <a:latin typeface="Arial"/>
              </a:rPr>
              <a:t>CMS 3.13.0 · APK 1.4.5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52760" y="6519672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67737F"/>
                </a:solidFill>
                <a:latin typeface="Arial"/>
              </a:rPr>
              <a:t>14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737360"/>
            <a:ext cx="7040879" cy="44936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2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shot-users-masked-c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783080"/>
            <a:ext cx="6949440" cy="440221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138160" y="1828800"/>
            <a:ext cx="3429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FB46A"/>
                </a:solidFill>
                <a:latin typeface="Arial"/>
              </a:rPr>
              <a:t>Filter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2194560"/>
            <a:ext cx="342900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40" b="1">
                <a:solidFill>
                  <a:srgbClr val="2FB46A"/>
                </a:solidFill>
                <a:latin typeface="Arial"/>
              </a:rPr>
              <a:t>•  </a:t>
            </a:r>
            <a:r>
              <a:rPr sz="1040" b="1">
                <a:solidFill>
                  <a:srgbClr val="1F2933"/>
                </a:solidFill>
                <a:latin typeface="Arial"/>
              </a:rPr>
              <a:t>Cari — </a:t>
            </a:r>
            <a:r>
              <a:rPr sz="1040">
                <a:solidFill>
                  <a:srgbClr val="1F2933"/>
                </a:solidFill>
                <a:latin typeface="Arial"/>
              </a:rPr>
              <a:t>nama, email, employee ID.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40" b="1">
                <a:solidFill>
                  <a:srgbClr val="2FB46A"/>
                </a:solidFill>
                <a:latin typeface="Arial"/>
              </a:rPr>
              <a:t>•  </a:t>
            </a:r>
            <a:r>
              <a:rPr sz="1040" b="1">
                <a:solidFill>
                  <a:srgbClr val="1F2933"/>
                </a:solidFill>
                <a:latin typeface="Arial"/>
              </a:rPr>
              <a:t>Role — </a:t>
            </a:r>
            <a:r>
              <a:rPr sz="1040">
                <a:solidFill>
                  <a:srgbClr val="1F2933"/>
                </a:solidFill>
                <a:latin typeface="Arial"/>
              </a:rPr>
              <a:t>Admin/Resepsionis/User.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40" b="1">
                <a:solidFill>
                  <a:srgbClr val="2FB46A"/>
                </a:solidFill>
                <a:latin typeface="Arial"/>
              </a:rPr>
              <a:t>•  </a:t>
            </a:r>
            <a:r>
              <a:rPr sz="1040" b="1">
                <a:solidFill>
                  <a:srgbClr val="1F2933"/>
                </a:solidFill>
                <a:latin typeface="Arial"/>
              </a:rPr>
              <a:t>Floor — </a:t>
            </a:r>
            <a:r>
              <a:rPr sz="1040">
                <a:solidFill>
                  <a:srgbClr val="1F2933"/>
                </a:solidFill>
                <a:latin typeface="Arial"/>
              </a:rPr>
              <a:t>termasuk belum diatur.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40" b="1">
                <a:solidFill>
                  <a:srgbClr val="2FB46A"/>
                </a:solidFill>
                <a:latin typeface="Arial"/>
              </a:rPr>
              <a:t>•  </a:t>
            </a:r>
            <a:r>
              <a:rPr sz="1040" b="1">
                <a:solidFill>
                  <a:srgbClr val="1F2933"/>
                </a:solidFill>
                <a:latin typeface="Arial"/>
              </a:rPr>
              <a:t>Cards — </a:t>
            </a:r>
            <a:r>
              <a:rPr sz="1040">
                <a:solidFill>
                  <a:srgbClr val="1F2933"/>
                </a:solidFill>
                <a:latin typeface="Arial"/>
              </a:rPr>
              <a:t>semua/master/…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40" b="1">
                <a:solidFill>
                  <a:srgbClr val="2FB46A"/>
                </a:solidFill>
                <a:latin typeface="Arial"/>
              </a:rPr>
              <a:t>•  </a:t>
            </a:r>
            <a:r>
              <a:rPr sz="1040" b="1">
                <a:solidFill>
                  <a:srgbClr val="1F2933"/>
                </a:solidFill>
                <a:latin typeface="Arial"/>
              </a:rPr>
              <a:t>Import CSV — </a:t>
            </a:r>
            <a:r>
              <a:rPr sz="1040">
                <a:solidFill>
                  <a:srgbClr val="1F2933"/>
                </a:solidFill>
                <a:latin typeface="Arial"/>
              </a:rPr>
              <a:t>bulk user.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40" b="1">
                <a:solidFill>
                  <a:srgbClr val="2FB46A"/>
                </a:solidFill>
                <a:latin typeface="Arial"/>
              </a:rPr>
              <a:t>•  </a:t>
            </a:r>
            <a:r>
              <a:rPr sz="1040" b="1">
                <a:solidFill>
                  <a:srgbClr val="1F2933"/>
                </a:solidFill>
                <a:latin typeface="Arial"/>
              </a:rPr>
              <a:t>Add User — </a:t>
            </a:r>
            <a:r>
              <a:rPr sz="1040">
                <a:solidFill>
                  <a:srgbClr val="1F2933"/>
                </a:solidFill>
                <a:latin typeface="Arial"/>
              </a:rPr>
              <a:t>satu akun.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9875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2FB46A"/>
                </a:solidFill>
                <a:latin typeface="Arial"/>
              </a:rPr>
              <a:t>CMS · PENGGUNA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7899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F2933"/>
                </a:solidFill>
                <a:latin typeface="Arial"/>
              </a:rPr>
              <a:t>Role dan lantai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61872"/>
            <a:ext cx="822960" cy="50292"/>
          </a:xfrm>
          <a:prstGeom prst="rect">
            <a:avLst/>
          </a:prstGeom>
          <a:solidFill>
            <a:srgbClr val="2FB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371600"/>
            <a:ext cx="99669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67737F"/>
                </a:solidFill>
                <a:latin typeface="Arial"/>
              </a:rPr>
              <a:t>Role menentukan akses; lantai menentukan ruangan yang boleh dipesan.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73952"/>
            <a:ext cx="11002975" cy="9144"/>
          </a:xfrm>
          <a:prstGeom prst="rect">
            <a:avLst/>
          </a:prstGeom>
          <a:solidFill>
            <a:srgbClr val="D9E2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37960"/>
            <a:ext cx="5852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0" i="0">
                <a:solidFill>
                  <a:srgbClr val="67737F"/>
                </a:solidFill>
                <a:latin typeface="Arial"/>
              </a:rPr>
              <a:t>RoomBooking · Panduan Penggunaan CMS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66760" y="6537960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19" b="0" i="0">
                <a:solidFill>
                  <a:srgbClr val="67737F"/>
                </a:solidFill>
                <a:latin typeface="Arial"/>
              </a:rPr>
              <a:t>CMS 3.13.0 · APK 1.4.5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52760" y="6519672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67737F"/>
                </a:solidFill>
                <a:latin typeface="Arial"/>
              </a:rPr>
              <a:t>15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94360" y="1600200"/>
          <a:ext cx="10927080" cy="25146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103120"/>
                <a:gridCol w="5577840"/>
                <a:gridCol w="3246120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Role</a:t>
                      </a:r>
                    </a:p>
                  </a:txBody>
                  <a:tcPr marL="73152" marR="54864" marT="27432" marB="27432" anchor="ctr">
                    <a:solidFill>
                      <a:srgbClr val="1115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Akses utama</a:t>
                      </a:r>
                    </a:p>
                  </a:txBody>
                  <a:tcPr marL="73152" marR="54864" marT="27432" marB="27432" anchor="ctr">
                    <a:solidFill>
                      <a:srgbClr val="1115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Lantai</a:t>
                      </a:r>
                    </a:p>
                  </a:txBody>
                  <a:tcPr marL="73152" marR="54864" marT="27432" marB="27432" anchor="ctr">
                    <a:solidFill>
                      <a:srgbClr val="11151B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933"/>
                          </a:solidFill>
                          <a:latin typeface="Arial"/>
                        </a:rPr>
                        <a:t>Super Admin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933"/>
                          </a:solidFill>
                          <a:latin typeface="Arial"/>
                        </a:rPr>
                        <a:t>Semua menu, matrix, audit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933"/>
                          </a:solidFill>
                          <a:latin typeface="Arial"/>
                        </a:rPr>
                        <a:t>Semua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933"/>
                          </a:solidFill>
                          <a:latin typeface="Arial"/>
                        </a:rPr>
                        <a:t>Admin</a:t>
                      </a:r>
                    </a:p>
                  </a:txBody>
                  <a:tcPr marL="73152" marR="54864" marT="27432" marB="27432" anchor="ctr">
                    <a:solidFill>
                      <a:srgbClr val="F0F4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933"/>
                          </a:solidFill>
                          <a:latin typeface="Arial"/>
                        </a:rPr>
                        <a:t>Semua menu (matrix)</a:t>
                      </a:r>
                    </a:p>
                  </a:txBody>
                  <a:tcPr marL="73152" marR="54864" marT="27432" marB="27432" anchor="ctr">
                    <a:solidFill>
                      <a:srgbClr val="F0F4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933"/>
                          </a:solidFill>
                          <a:latin typeface="Arial"/>
                        </a:rPr>
                        <a:t>Semua</a:t>
                      </a:r>
                    </a:p>
                  </a:txBody>
                  <a:tcPr marL="73152" marR="54864" marT="27432" marB="27432" anchor="ctr">
                    <a:solidFill>
                      <a:srgbClr val="F0F4E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933"/>
                          </a:solidFill>
                          <a:latin typeface="Arial"/>
                        </a:rPr>
                        <a:t>Resepsionis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933"/>
                          </a:solidFill>
                          <a:latin typeface="Arial"/>
                        </a:rPr>
                        <a:t>Booking atas nama, lihat/ubah lantai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933"/>
                          </a:solidFill>
                          <a:latin typeface="Arial"/>
                        </a:rPr>
                        <a:t>Lantai yang dipegang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933"/>
                          </a:solidFill>
                          <a:latin typeface="Arial"/>
                        </a:rPr>
                        <a:t>User</a:t>
                      </a:r>
                    </a:p>
                  </a:txBody>
                  <a:tcPr marL="73152" marR="54864" marT="27432" marB="27432" anchor="ctr">
                    <a:solidFill>
                      <a:srgbClr val="F0F4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933"/>
                          </a:solidFill>
                          <a:latin typeface="Arial"/>
                        </a:rPr>
                        <a:t>Booking sendiri</a:t>
                      </a:r>
                    </a:p>
                  </a:txBody>
                  <a:tcPr marL="73152" marR="54864" marT="27432" marB="27432" anchor="ctr">
                    <a:solidFill>
                      <a:srgbClr val="F0F4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933"/>
                          </a:solidFill>
                          <a:latin typeface="Arial"/>
                        </a:rPr>
                        <a:t>Lantai akun</a:t>
                      </a:r>
                    </a:p>
                  </a:txBody>
                  <a:tcPr marL="73152" marR="54864" marT="27432" marB="27432" anchor="ctr">
                    <a:solidFill>
                      <a:srgbClr val="F0F4EF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594360" y="4251960"/>
            <a:ext cx="5349240" cy="868680"/>
          </a:xfrm>
          <a:prstGeom prst="roundRect">
            <a:avLst>
              <a:gd name="adj" fmla="val 8000"/>
            </a:avLst>
          </a:prstGeom>
          <a:solidFill>
            <a:srgbClr val="FFF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4360" y="4251960"/>
            <a:ext cx="64008" cy="868680"/>
          </a:xfrm>
          <a:prstGeom prst="rect">
            <a:avLst/>
          </a:prstGeom>
          <a:solidFill>
            <a:srgbClr val="E8A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5528" y="4389120"/>
            <a:ext cx="498347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7A5A00"/>
                </a:solidFill>
                <a:latin typeface="Arial"/>
              </a:rPr>
              <a:t>LANTAI WAJIB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8" y="4636008"/>
            <a:ext cx="4983479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40" b="0" i="0">
                <a:solidFill>
                  <a:srgbClr val="7A5A00"/>
                </a:solidFill>
                <a:latin typeface="Arial"/>
              </a:rPr>
              <a:t>Akun tanpa lantai mendapat FLOOR_REQUIRED dan tidak bisa memesan.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4251960"/>
            <a:ext cx="5349240" cy="868680"/>
          </a:xfrm>
          <a:prstGeom prst="roundRect">
            <a:avLst>
              <a:gd name="adj" fmla="val 8000"/>
            </a:avLst>
          </a:prstGeom>
          <a:solidFill>
            <a:srgbClr val="E7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4251960"/>
            <a:ext cx="64008" cy="868680"/>
          </a:xfrm>
          <a:prstGeom prst="rect">
            <a:avLst/>
          </a:prstGeom>
          <a:solidFill>
            <a:srgbClr val="2FB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73368" y="4389120"/>
            <a:ext cx="498347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E6B3D"/>
                </a:solidFill>
                <a:latin typeface="Arial"/>
              </a:rPr>
              <a:t>MULTI-LANTAI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73368" y="4636008"/>
            <a:ext cx="4983479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40" b="0" i="0">
                <a:solidFill>
                  <a:srgbClr val="1E6B3D"/>
                </a:solidFill>
                <a:latin typeface="Arial"/>
              </a:rPr>
              <a:t>Satu akun boleh memegang beberapa lantai; “all” berarti semua.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539496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60" b="0" i="1">
                <a:solidFill>
                  <a:srgbClr val="67737F"/>
                </a:solidFill>
                <a:latin typeface="Arial"/>
              </a:rPr>
              <a:t>Ubah role/lantai hanya lewat Users. Jangan mengubah lewat SQL agar tercatat di audit.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9875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2FB46A"/>
                </a:solidFill>
                <a:latin typeface="Arial"/>
              </a:rPr>
              <a:t>CMS · KARTU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7899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F2933"/>
                </a:solidFill>
                <a:latin typeface="Arial"/>
              </a:rPr>
              <a:t>Kartu: aturan yang sering ditanya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61872"/>
            <a:ext cx="822960" cy="50292"/>
          </a:xfrm>
          <a:prstGeom prst="rect">
            <a:avLst/>
          </a:prstGeom>
          <a:solidFill>
            <a:srgbClr val="2FB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371600"/>
            <a:ext cx="99669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67737F"/>
                </a:solidFill>
                <a:latin typeface="Arial"/>
              </a:rPr>
              <a:t>Maksimal 2 aktif; kartu hilang ditandai, bukan dihapus.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73952"/>
            <a:ext cx="11002975" cy="9144"/>
          </a:xfrm>
          <a:prstGeom prst="rect">
            <a:avLst/>
          </a:prstGeom>
          <a:solidFill>
            <a:srgbClr val="D9E2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37960"/>
            <a:ext cx="5852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0" i="0">
                <a:solidFill>
                  <a:srgbClr val="67737F"/>
                </a:solidFill>
                <a:latin typeface="Arial"/>
              </a:rPr>
              <a:t>RoomBooking · Panduan Penggunaan CMS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66760" y="6537960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19" b="0" i="0">
                <a:solidFill>
                  <a:srgbClr val="67737F"/>
                </a:solidFill>
                <a:latin typeface="Arial"/>
              </a:rPr>
              <a:t>CMS 3.13.0 · APK 1.4.5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52760" y="6519672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67737F"/>
                </a:solidFill>
                <a:latin typeface="Arial"/>
              </a:rPr>
              <a:t>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645920"/>
            <a:ext cx="342900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2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1645920"/>
            <a:ext cx="64008" cy="1691640"/>
          </a:xfrm>
          <a:prstGeom prst="rect">
            <a:avLst/>
          </a:prstGeom>
          <a:solidFill>
            <a:srgbClr val="2FB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77240" y="1828800"/>
            <a:ext cx="292608" cy="292608"/>
          </a:xfrm>
          <a:prstGeom prst="ellipse">
            <a:avLst/>
          </a:prstGeom>
          <a:solidFill>
            <a:srgbClr val="2FB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61288" y="1828800"/>
            <a:ext cx="27157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F2933"/>
                </a:solidFill>
                <a:latin typeface="Arial"/>
              </a:rPr>
              <a:t>Maksimal 2 aktif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8" y="2249424"/>
            <a:ext cx="304495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70" b="0" i="0">
                <a:solidFill>
                  <a:srgbClr val="67737F"/>
                </a:solidFill>
                <a:latin typeface="Arial"/>
              </a:rPr>
              <a:t>Kartu lost tidak dihitung; pengganti bisa ditambah.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24528" y="1645920"/>
            <a:ext cx="342900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2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24528" y="1645920"/>
            <a:ext cx="64008" cy="1691640"/>
          </a:xfrm>
          <a:prstGeom prst="rect">
            <a:avLst/>
          </a:prstGeom>
          <a:solidFill>
            <a:srgbClr val="2FB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407408" y="1828800"/>
            <a:ext cx="292608" cy="292608"/>
          </a:xfrm>
          <a:prstGeom prst="ellipse">
            <a:avLst/>
          </a:prstGeom>
          <a:solidFill>
            <a:srgbClr val="2FB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91456" y="1828800"/>
            <a:ext cx="27157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F2933"/>
                </a:solidFill>
                <a:latin typeface="Arial"/>
              </a:rPr>
              <a:t>Kartu hilang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25696" y="2249424"/>
            <a:ext cx="304495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70" b="0" i="0">
                <a:solidFill>
                  <a:srgbClr val="67737F"/>
                </a:solidFill>
                <a:latin typeface="Arial"/>
              </a:rPr>
              <a:t>Tandai lost. Aktifkan kembali bila ditemukan.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54696" y="1645920"/>
            <a:ext cx="342900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2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854696" y="1645920"/>
            <a:ext cx="64008" cy="1691640"/>
          </a:xfrm>
          <a:prstGeom prst="rect">
            <a:avLst/>
          </a:prstGeom>
          <a:solidFill>
            <a:srgbClr val="2FB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37575" y="1828800"/>
            <a:ext cx="292608" cy="292608"/>
          </a:xfrm>
          <a:prstGeom prst="ellipse">
            <a:avLst/>
          </a:prstGeom>
          <a:solidFill>
            <a:srgbClr val="2FB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21624" y="1828800"/>
            <a:ext cx="27157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F2933"/>
                </a:solidFill>
                <a:latin typeface="Arial"/>
              </a:rPr>
              <a:t>Kartu master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55864" y="2249424"/>
            <a:ext cx="304495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70" b="0" i="0">
                <a:solidFill>
                  <a:srgbClr val="67737F"/>
                </a:solidFill>
                <a:latin typeface="Arial"/>
              </a:rPr>
              <a:t>Hanya untuk orang berwenang; bisa buka semua pintu.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594360" y="3611880"/>
          <a:ext cx="10927080" cy="192024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926080"/>
                <a:gridCol w="800100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019" b="1">
                          <a:solidFill>
                            <a:srgbClr val="FFFFFF"/>
                          </a:solidFill>
                          <a:latin typeface="Arial"/>
                        </a:rPr>
                        <a:t>Aksi</a:t>
                      </a:r>
                    </a:p>
                  </a:txBody>
                  <a:tcPr marL="73152" marR="54864" marT="27432" marB="27432" anchor="ctr">
                    <a:solidFill>
                      <a:srgbClr val="1115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1">
                          <a:solidFill>
                            <a:srgbClr val="FFFFFF"/>
                          </a:solidFill>
                          <a:latin typeface="Arial"/>
                        </a:rPr>
                        <a:t>Efek</a:t>
                      </a:r>
                    </a:p>
                  </a:txBody>
                  <a:tcPr marL="73152" marR="54864" marT="27432" marB="27432" anchor="ctr">
                    <a:solidFill>
                      <a:srgbClr val="11151B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1F2933"/>
                          </a:solidFill>
                          <a:latin typeface="Arial"/>
                        </a:rPr>
                        <a:t>Tambah kartu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1F2933"/>
                          </a:solidFill>
                          <a:latin typeface="Arial"/>
                        </a:rPr>
                        <a:t>Cek duplikat &amp; batas 2 aktif.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1F2933"/>
                          </a:solidFill>
                          <a:latin typeface="Arial"/>
                        </a:rPr>
                        <a:t>Tandai hilang</a:t>
                      </a:r>
                    </a:p>
                  </a:txBody>
                  <a:tcPr marL="73152" marR="54864" marT="27432" marB="27432" anchor="ctr">
                    <a:solidFill>
                      <a:srgbClr val="F0F4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1F2933"/>
                          </a:solidFill>
                          <a:latin typeface="Arial"/>
                        </a:rPr>
                        <a:t>Kartu tidak berlaku untuk kiosk/pintu.</a:t>
                      </a:r>
                    </a:p>
                  </a:txBody>
                  <a:tcPr marL="73152" marR="54864" marT="27432" marB="27432" anchor="ctr">
                    <a:solidFill>
                      <a:srgbClr val="F0F4E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1F2933"/>
                          </a:solidFill>
                          <a:latin typeface="Arial"/>
                        </a:rPr>
                        <a:t>Aktifkan kembali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1F2933"/>
                          </a:solidFill>
                          <a:latin typeface="Arial"/>
                        </a:rPr>
                        <a:t>Berlaku lagi bila slot &lt;2.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1F2933"/>
                          </a:solidFill>
                          <a:latin typeface="Arial"/>
                        </a:rPr>
                        <a:t>Ganti nomor</a:t>
                      </a:r>
                    </a:p>
                  </a:txBody>
                  <a:tcPr marL="73152" marR="54864" marT="27432" marB="27432" anchor="ctr">
                    <a:solidFill>
                      <a:srgbClr val="F0F4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1F2933"/>
                          </a:solidFill>
                          <a:latin typeface="Arial"/>
                        </a:rPr>
                        <a:t>Kartu lama dicabut; status master dipindah.</a:t>
                      </a:r>
                    </a:p>
                  </a:txBody>
                  <a:tcPr marL="73152" marR="54864" marT="27432" marB="27432" anchor="ctr">
                    <a:solidFill>
                      <a:srgbClr val="F0F4EF"/>
                    </a:solidFill>
                  </a:tcPr>
                </a:tc>
              </a:tr>
            </a:tbl>
          </a:graphicData>
        </a:graphic>
      </p:graphicFrame>
      <p:sp>
        <p:nvSpPr>
          <p:cNvPr id="26" name="Rounded Rectangle 25"/>
          <p:cNvSpPr/>
          <p:nvPr/>
        </p:nvSpPr>
        <p:spPr>
          <a:xfrm>
            <a:off x="594360" y="5669280"/>
            <a:ext cx="10927080" cy="365760"/>
          </a:xfrm>
          <a:prstGeom prst="roundRect">
            <a:avLst>
              <a:gd name="adj" fmla="val 8000"/>
            </a:avLst>
          </a:prstGeom>
          <a:solidFill>
            <a:srgbClr val="FBE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94360" y="5669280"/>
            <a:ext cx="64008" cy="365760"/>
          </a:xfrm>
          <a:prstGeom prst="rect">
            <a:avLst/>
          </a:prstGeom>
          <a:solidFill>
            <a:srgbClr val="C94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5528" y="5806440"/>
            <a:ext cx="1056131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19" b="1" i="0">
                <a:solidFill>
                  <a:srgbClr val="8A2D28"/>
                </a:solidFill>
                <a:latin typeface="Arial"/>
              </a:rPr>
              <a:t>JANGAN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5528" y="6053328"/>
            <a:ext cx="10561319" cy="-914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19" b="0" i="0">
                <a:solidFill>
                  <a:srgbClr val="8A2D28"/>
                </a:solidFill>
                <a:latin typeface="Arial"/>
              </a:rPr>
              <a:t>Jangan mencatat nomor kartu/UID di dokumen atau chat.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9875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2FB46A"/>
                </a:solidFill>
                <a:latin typeface="Arial"/>
              </a:rPr>
              <a:t>CMS · RUANGAN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7899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F2933"/>
                </a:solidFill>
                <a:latin typeface="Arial"/>
              </a:rPr>
              <a:t>Rooms: data dan status tablet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61872"/>
            <a:ext cx="822960" cy="50292"/>
          </a:xfrm>
          <a:prstGeom prst="rect">
            <a:avLst/>
          </a:prstGeom>
          <a:solidFill>
            <a:srgbClr val="2FB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371600"/>
            <a:ext cx="99669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67737F"/>
                </a:solidFill>
                <a:latin typeface="Arial"/>
              </a:rPr>
              <a:t>Nama, gedung, kapasitas, lantai, email, dan status tablet.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73952"/>
            <a:ext cx="11002975" cy="9144"/>
          </a:xfrm>
          <a:prstGeom prst="rect">
            <a:avLst/>
          </a:prstGeom>
          <a:solidFill>
            <a:srgbClr val="D9E2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37960"/>
            <a:ext cx="5852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0" i="0">
                <a:solidFill>
                  <a:srgbClr val="67737F"/>
                </a:solidFill>
                <a:latin typeface="Arial"/>
              </a:rPr>
              <a:t>RoomBooking · Panduan Penggunaan CMS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66760" y="6537960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19" b="0" i="0">
                <a:solidFill>
                  <a:srgbClr val="67737F"/>
                </a:solidFill>
                <a:latin typeface="Arial"/>
              </a:rPr>
              <a:t>CMS 3.13.0 · APK 1.4.5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52760" y="6519672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67737F"/>
                </a:solidFill>
                <a:latin typeface="Arial"/>
              </a:rPr>
              <a:t>17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737360"/>
            <a:ext cx="7040879" cy="44936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2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shot-rooms-c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783080"/>
            <a:ext cx="6949440" cy="440221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138160" y="1828800"/>
            <a:ext cx="3429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FB46A"/>
                </a:solidFill>
                <a:latin typeface="Arial"/>
              </a:rPr>
              <a:t>Yang penting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2194560"/>
            <a:ext cx="3429000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040" b="1">
                <a:solidFill>
                  <a:srgbClr val="2FB46A"/>
                </a:solidFill>
                <a:latin typeface="Arial"/>
              </a:rPr>
              <a:t>•  </a:t>
            </a:r>
            <a:r>
              <a:rPr sz="1040" b="1">
                <a:solidFill>
                  <a:srgbClr val="1F2933"/>
                </a:solidFill>
                <a:latin typeface="Arial"/>
              </a:rPr>
              <a:t>Lantai — </a:t>
            </a:r>
            <a:r>
              <a:rPr sz="1040">
                <a:solidFill>
                  <a:srgbClr val="1F2933"/>
                </a:solidFill>
                <a:latin typeface="Arial"/>
              </a:rPr>
              <a:t>menentukan akses booking.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040" b="1">
                <a:solidFill>
                  <a:srgbClr val="2FB46A"/>
                </a:solidFill>
                <a:latin typeface="Arial"/>
              </a:rPr>
              <a:t>•  </a:t>
            </a:r>
            <a:r>
              <a:rPr sz="1040" b="1">
                <a:solidFill>
                  <a:srgbClr val="1F2933"/>
                </a:solidFill>
                <a:latin typeface="Arial"/>
              </a:rPr>
              <a:t>Kapasitas — </a:t>
            </a:r>
            <a:r>
              <a:rPr sz="1040">
                <a:solidFill>
                  <a:srgbClr val="1F2933"/>
                </a:solidFill>
                <a:latin typeface="Arial"/>
              </a:rPr>
              <a:t>untuk memilih ruangan.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040" b="1">
                <a:solidFill>
                  <a:srgbClr val="2FB46A"/>
                </a:solidFill>
                <a:latin typeface="Arial"/>
              </a:rPr>
              <a:t>•  </a:t>
            </a:r>
            <a:r>
              <a:rPr sz="1040" b="1">
                <a:solidFill>
                  <a:srgbClr val="1F2933"/>
                </a:solidFill>
                <a:latin typeface="Arial"/>
              </a:rPr>
              <a:t>Email — </a:t>
            </a:r>
            <a:r>
              <a:rPr sz="1040">
                <a:solidFill>
                  <a:srgbClr val="1F2933"/>
                </a:solidFill>
                <a:latin typeface="Arial"/>
              </a:rPr>
              <a:t>akun ruangan/tablet.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040" b="1">
                <a:solidFill>
                  <a:srgbClr val="2FB46A"/>
                </a:solidFill>
                <a:latin typeface="Arial"/>
              </a:rPr>
              <a:t>•  </a:t>
            </a:r>
            <a:r>
              <a:rPr sz="1040" b="1">
                <a:solidFill>
                  <a:srgbClr val="1F2933"/>
                </a:solidFill>
                <a:latin typeface="Arial"/>
              </a:rPr>
              <a:t>Tablet — </a:t>
            </a:r>
            <a:r>
              <a:rPr sz="1040">
                <a:solidFill>
                  <a:srgbClr val="1F2933"/>
                </a:solidFill>
                <a:latin typeface="Arial"/>
              </a:rPr>
              <a:t>Online/Offline/none.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040" b="1">
                <a:solidFill>
                  <a:srgbClr val="2FB46A"/>
                </a:solidFill>
                <a:latin typeface="Arial"/>
              </a:rPr>
              <a:t>•  </a:t>
            </a:r>
            <a:r>
              <a:rPr sz="1040" b="1">
                <a:solidFill>
                  <a:srgbClr val="1F2933"/>
                </a:solidFill>
                <a:latin typeface="Arial"/>
              </a:rPr>
              <a:t>Add Room — </a:t>
            </a:r>
            <a:r>
              <a:rPr sz="1040">
                <a:solidFill>
                  <a:srgbClr val="1F2933"/>
                </a:solidFill>
                <a:latin typeface="Arial"/>
              </a:rPr>
              <a:t>buat ruangan baru.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5074920"/>
            <a:ext cx="3429000" cy="868680"/>
          </a:xfrm>
          <a:prstGeom prst="roundRect">
            <a:avLst>
              <a:gd name="adj" fmla="val 8000"/>
            </a:avLst>
          </a:prstGeom>
          <a:solidFill>
            <a:srgbClr val="FBE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5074920"/>
            <a:ext cx="64008" cy="868680"/>
          </a:xfrm>
          <a:prstGeom prst="rect">
            <a:avLst/>
          </a:prstGeom>
          <a:solidFill>
            <a:srgbClr val="C94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39328" y="5212080"/>
            <a:ext cx="3063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19" b="1" i="0">
                <a:solidFill>
                  <a:srgbClr val="8A2D28"/>
                </a:solidFill>
                <a:latin typeface="Arial"/>
              </a:rPr>
              <a:t>HAPUS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9328" y="5458968"/>
            <a:ext cx="3063240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10" b="0" i="0">
                <a:solidFill>
                  <a:srgbClr val="8A2D28"/>
                </a:solidFill>
                <a:latin typeface="Arial"/>
              </a:rPr>
              <a:t>Soft delete; tablet ruangan dicabut dan harus pairing ulang.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9875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2FB46A"/>
                </a:solidFill>
                <a:latin typeface="Arial"/>
              </a:rPr>
              <a:t>CMS · PERANGKAT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7899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F2933"/>
                </a:solidFill>
                <a:latin typeface="Arial"/>
              </a:rPr>
              <a:t>Tablet Devices: pairing &amp; revoke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61872"/>
            <a:ext cx="822960" cy="50292"/>
          </a:xfrm>
          <a:prstGeom prst="rect">
            <a:avLst/>
          </a:prstGeom>
          <a:solidFill>
            <a:srgbClr val="2FB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371600"/>
            <a:ext cx="99669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67737F"/>
                </a:solidFill>
                <a:latin typeface="Arial"/>
              </a:rPr>
              <a:t>Satu ruangan hanya satu tablet aktif.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73952"/>
            <a:ext cx="11002975" cy="9144"/>
          </a:xfrm>
          <a:prstGeom prst="rect">
            <a:avLst/>
          </a:prstGeom>
          <a:solidFill>
            <a:srgbClr val="D9E2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37960"/>
            <a:ext cx="5852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0" i="0">
                <a:solidFill>
                  <a:srgbClr val="67737F"/>
                </a:solidFill>
                <a:latin typeface="Arial"/>
              </a:rPr>
              <a:t>RoomBooking · Panduan Penggunaan CMS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66760" y="6537960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19" b="0" i="0">
                <a:solidFill>
                  <a:srgbClr val="67737F"/>
                </a:solidFill>
                <a:latin typeface="Arial"/>
              </a:rPr>
              <a:t>CMS 3.13.0 · APK 1.4.5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52760" y="6519672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67737F"/>
                </a:solidFill>
                <a:latin typeface="Arial"/>
              </a:rPr>
              <a:t>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737360"/>
            <a:ext cx="6858000" cy="437780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2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shot-devices-c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783080"/>
            <a:ext cx="6766560" cy="428636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863840" y="1828800"/>
            <a:ext cx="3703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FB46A"/>
                </a:solidFill>
                <a:latin typeface="Arial"/>
              </a:rPr>
              <a:t>Alur ganti tablet</a:t>
            </a:r>
          </a:p>
        </p:txBody>
      </p:sp>
      <p:sp>
        <p:nvSpPr>
          <p:cNvPr id="13" name="Oval 12"/>
          <p:cNvSpPr/>
          <p:nvPr/>
        </p:nvSpPr>
        <p:spPr>
          <a:xfrm>
            <a:off x="7863840" y="2212848"/>
            <a:ext cx="292608" cy="292608"/>
          </a:xfrm>
          <a:prstGeom prst="ellipse">
            <a:avLst/>
          </a:prstGeom>
          <a:solidFill>
            <a:srgbClr val="2FB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02752" y="2194560"/>
            <a:ext cx="3264408" cy="5943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80" b="0" i="0">
                <a:solidFill>
                  <a:srgbClr val="1F2933"/>
                </a:solidFill>
                <a:latin typeface="Arial"/>
              </a:rPr>
              <a:t>Revoke perangkat lama.</a:t>
            </a:r>
          </a:p>
        </p:txBody>
      </p:sp>
      <p:sp>
        <p:nvSpPr>
          <p:cNvPr id="15" name="Oval 14"/>
          <p:cNvSpPr/>
          <p:nvPr/>
        </p:nvSpPr>
        <p:spPr>
          <a:xfrm>
            <a:off x="7863840" y="2852927"/>
            <a:ext cx="292608" cy="292608"/>
          </a:xfrm>
          <a:prstGeom prst="ellipse">
            <a:avLst/>
          </a:prstGeom>
          <a:solidFill>
            <a:srgbClr val="2FB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02752" y="2834639"/>
            <a:ext cx="3264408" cy="5943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80" b="0" i="0">
                <a:solidFill>
                  <a:srgbClr val="1F2933"/>
                </a:solidFill>
                <a:latin typeface="Arial"/>
              </a:rPr>
              <a:t>Pairing tablet baru dari layar kiosk.</a:t>
            </a:r>
          </a:p>
        </p:txBody>
      </p:sp>
      <p:sp>
        <p:nvSpPr>
          <p:cNvPr id="17" name="Oval 16"/>
          <p:cNvSpPr/>
          <p:nvPr/>
        </p:nvSpPr>
        <p:spPr>
          <a:xfrm>
            <a:off x="7863840" y="3493008"/>
            <a:ext cx="292608" cy="292608"/>
          </a:xfrm>
          <a:prstGeom prst="ellipse">
            <a:avLst/>
          </a:prstGeom>
          <a:solidFill>
            <a:srgbClr val="2FB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02752" y="3474720"/>
            <a:ext cx="3264408" cy="5943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80" b="0" i="0">
                <a:solidFill>
                  <a:srgbClr val="1F2933"/>
                </a:solidFill>
                <a:latin typeface="Arial"/>
              </a:rPr>
              <a:t>Cek Online &amp; last seen.</a:t>
            </a:r>
          </a:p>
        </p:txBody>
      </p:sp>
      <p:sp>
        <p:nvSpPr>
          <p:cNvPr id="19" name="Oval 18"/>
          <p:cNvSpPr/>
          <p:nvPr/>
        </p:nvSpPr>
        <p:spPr>
          <a:xfrm>
            <a:off x="7863840" y="4133087"/>
            <a:ext cx="292608" cy="292608"/>
          </a:xfrm>
          <a:prstGeom prst="ellipse">
            <a:avLst/>
          </a:prstGeom>
          <a:solidFill>
            <a:srgbClr val="2FB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02752" y="4114800"/>
            <a:ext cx="3264408" cy="5943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80" b="0" i="0">
                <a:solidFill>
                  <a:srgbClr val="1F2933"/>
                </a:solidFill>
                <a:latin typeface="Arial"/>
              </a:rPr>
              <a:t>Uji check-in + pintu.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63840" y="4892040"/>
            <a:ext cx="3703320" cy="822960"/>
          </a:xfrm>
          <a:prstGeom prst="roundRect">
            <a:avLst>
              <a:gd name="adj" fmla="val 8000"/>
            </a:avLst>
          </a:prstGeom>
          <a:solidFill>
            <a:srgbClr val="E7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863840" y="4892040"/>
            <a:ext cx="64008" cy="822960"/>
          </a:xfrm>
          <a:prstGeom prst="rect">
            <a:avLst/>
          </a:prstGeom>
          <a:solidFill>
            <a:srgbClr val="2FB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65008" y="5029200"/>
            <a:ext cx="3337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19" b="1" i="0">
                <a:solidFill>
                  <a:srgbClr val="1E6B3D"/>
                </a:solidFill>
                <a:latin typeface="Arial"/>
              </a:rPr>
              <a:t>LED &amp; SUBJECT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65008" y="5276088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10" b="0" i="0">
                <a:solidFill>
                  <a:srgbClr val="1E6B3D"/>
                </a:solidFill>
                <a:latin typeface="Arial"/>
              </a:rPr>
              <a:t>LED opsional; Subject menampilkan/menyembunyikan judul meeting.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9875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2FB46A"/>
                </a:solidFill>
                <a:latin typeface="Arial"/>
              </a:rPr>
              <a:t>CMS · PENGATURAN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7899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F2933"/>
                </a:solidFill>
                <a:latin typeface="Arial"/>
              </a:rPr>
              <a:t>Settings: timer &amp; backup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61872"/>
            <a:ext cx="822960" cy="50292"/>
          </a:xfrm>
          <a:prstGeom prst="rect">
            <a:avLst/>
          </a:prstGeom>
          <a:solidFill>
            <a:srgbClr val="2FB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371600"/>
            <a:ext cx="99669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67737F"/>
                </a:solidFill>
                <a:latin typeface="Arial"/>
              </a:rPr>
              <a:t>Berlaku global untuk semua ruangan.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73952"/>
            <a:ext cx="11002975" cy="9144"/>
          </a:xfrm>
          <a:prstGeom prst="rect">
            <a:avLst/>
          </a:prstGeom>
          <a:solidFill>
            <a:srgbClr val="D9E2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37960"/>
            <a:ext cx="5852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0" i="0">
                <a:solidFill>
                  <a:srgbClr val="67737F"/>
                </a:solidFill>
                <a:latin typeface="Arial"/>
              </a:rPr>
              <a:t>RoomBooking · Panduan Penggunaan CMS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66760" y="6537960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19" b="0" i="0">
                <a:solidFill>
                  <a:srgbClr val="67737F"/>
                </a:solidFill>
                <a:latin typeface="Arial"/>
              </a:rPr>
              <a:t>CMS 3.13.0 · APK 1.4.5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52760" y="6519672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67737F"/>
                </a:solidFill>
                <a:latin typeface="Arial"/>
              </a:rPr>
              <a:t>19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737360"/>
            <a:ext cx="6492240" cy="4146113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2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shot-settings-c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783080"/>
            <a:ext cx="6400800" cy="405467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498079" y="1828800"/>
            <a:ext cx="4069080" cy="37490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30" b="1">
                <a:solidFill>
                  <a:srgbClr val="2FB46A"/>
                </a:solidFill>
                <a:latin typeface="Arial"/>
              </a:rPr>
              <a:t>•  </a:t>
            </a:r>
            <a:r>
              <a:rPr sz="1030" b="1">
                <a:solidFill>
                  <a:srgbClr val="1F2933"/>
                </a:solidFill>
                <a:latin typeface="Arial"/>
              </a:rPr>
              <a:t>Check-in deadline — </a:t>
            </a:r>
            <a:r>
              <a:rPr sz="1030">
                <a:solidFill>
                  <a:srgbClr val="1F2933"/>
                </a:solidFill>
                <a:latin typeface="Arial"/>
              </a:rPr>
              <a:t>auto-release no-show.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30" b="1">
                <a:solidFill>
                  <a:srgbClr val="2FB46A"/>
                </a:solidFill>
                <a:latin typeface="Arial"/>
              </a:rPr>
              <a:t>•  </a:t>
            </a:r>
            <a:r>
              <a:rPr sz="1030" b="1">
                <a:solidFill>
                  <a:srgbClr val="1F2933"/>
                </a:solidFill>
                <a:latin typeface="Arial"/>
              </a:rPr>
              <a:t>Check-in opens — </a:t>
            </a:r>
            <a:r>
              <a:rPr sz="1030">
                <a:solidFill>
                  <a:srgbClr val="1F2933"/>
                </a:solidFill>
                <a:latin typeface="Arial"/>
              </a:rPr>
              <a:t>jendela sebelum mulai.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30" b="1">
                <a:solidFill>
                  <a:srgbClr val="2FB46A"/>
                </a:solidFill>
                <a:latin typeface="Arial"/>
              </a:rPr>
              <a:t>•  </a:t>
            </a:r>
            <a:r>
              <a:rPr sz="1030" b="1">
                <a:solidFill>
                  <a:srgbClr val="1F2933"/>
                </a:solidFill>
                <a:latin typeface="Arial"/>
              </a:rPr>
              <a:t>Kiosk lock — </a:t>
            </a:r>
            <a:r>
              <a:rPr sz="1030">
                <a:solidFill>
                  <a:srgbClr val="1F2933"/>
                </a:solidFill>
                <a:latin typeface="Arial"/>
              </a:rPr>
              <a:t>kembali ke idle.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30" b="1">
                <a:solidFill>
                  <a:srgbClr val="2FB46A"/>
                </a:solidFill>
                <a:latin typeface="Arial"/>
              </a:rPr>
              <a:t>•  </a:t>
            </a:r>
            <a:r>
              <a:rPr sz="1030" b="1">
                <a:solidFill>
                  <a:srgbClr val="1F2933"/>
                </a:solidFill>
                <a:latin typeface="Arial"/>
              </a:rPr>
              <a:t>LED timer — </a:t>
            </a:r>
            <a:r>
              <a:rPr sz="1030">
                <a:solidFill>
                  <a:srgbClr val="1F2933"/>
                </a:solidFill>
                <a:latin typeface="Arial"/>
              </a:rPr>
              <a:t>lampu ruangan.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30" b="1">
                <a:solidFill>
                  <a:srgbClr val="2FB46A"/>
                </a:solidFill>
                <a:latin typeface="Arial"/>
              </a:rPr>
              <a:t>•  </a:t>
            </a:r>
            <a:r>
              <a:rPr sz="1030" b="1">
                <a:solidFill>
                  <a:srgbClr val="1F2933"/>
                </a:solidFill>
                <a:latin typeface="Arial"/>
              </a:rPr>
              <a:t>Week start — </a:t>
            </a:r>
            <a:r>
              <a:rPr sz="1030">
                <a:solidFill>
                  <a:srgbClr val="1F2933"/>
                </a:solidFill>
                <a:latin typeface="Arial"/>
              </a:rPr>
              <a:t>Senin default.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30" b="1">
                <a:solidFill>
                  <a:srgbClr val="2FB46A"/>
                </a:solidFill>
                <a:latin typeface="Arial"/>
              </a:rPr>
              <a:t>•  </a:t>
            </a:r>
            <a:r>
              <a:rPr sz="1030" b="1">
                <a:solidFill>
                  <a:srgbClr val="1F2933"/>
                </a:solidFill>
                <a:latin typeface="Arial"/>
              </a:rPr>
              <a:t>Backup — </a:t>
            </a:r>
            <a:r>
              <a:rPr sz="1030">
                <a:solidFill>
                  <a:srgbClr val="1F2933"/>
                </a:solidFill>
                <a:latin typeface="Arial"/>
              </a:rPr>
              <a:t>path, jam, retensi.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79" y="5074920"/>
            <a:ext cx="4069080" cy="868680"/>
          </a:xfrm>
          <a:prstGeom prst="roundRect">
            <a:avLst>
              <a:gd name="adj" fmla="val 8000"/>
            </a:avLst>
          </a:prstGeom>
          <a:solidFill>
            <a:srgbClr val="FFF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98079" y="5074920"/>
            <a:ext cx="64008" cy="868680"/>
          </a:xfrm>
          <a:prstGeom prst="rect">
            <a:avLst/>
          </a:prstGeom>
          <a:solidFill>
            <a:srgbClr val="E8A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99248" y="5212080"/>
            <a:ext cx="3703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19" b="1" i="0">
                <a:solidFill>
                  <a:srgbClr val="7A5A00"/>
                </a:solidFill>
                <a:latin typeface="Arial"/>
              </a:rPr>
              <a:t>BACKUP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99248" y="5458968"/>
            <a:ext cx="3703320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10" b="0" i="0">
                <a:solidFill>
                  <a:srgbClr val="7A5A00"/>
                </a:solidFill>
                <a:latin typeface="Arial"/>
              </a:rPr>
              <a:t>Aktifkan, isi path absolut, lalu uji restore. “Last: ok” bukan bukti restore.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9875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2FB46A"/>
                </a:solidFill>
                <a:latin typeface="Arial"/>
              </a:rPr>
              <a:t>CMS · BRANDING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7899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F2933"/>
                </a:solidFill>
                <a:latin typeface="Arial"/>
              </a:rPr>
              <a:t>Branding tanpa build ulang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61872"/>
            <a:ext cx="822960" cy="50292"/>
          </a:xfrm>
          <a:prstGeom prst="rect">
            <a:avLst/>
          </a:prstGeom>
          <a:solidFill>
            <a:srgbClr val="2FB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371600"/>
            <a:ext cx="99669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67737F"/>
                </a:solidFill>
                <a:latin typeface="Arial"/>
              </a:rPr>
              <a:t>Nama, judul tab, ikon, logo, favicon.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73952"/>
            <a:ext cx="11002975" cy="9144"/>
          </a:xfrm>
          <a:prstGeom prst="rect">
            <a:avLst/>
          </a:prstGeom>
          <a:solidFill>
            <a:srgbClr val="D9E2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37960"/>
            <a:ext cx="5852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0" i="0">
                <a:solidFill>
                  <a:srgbClr val="67737F"/>
                </a:solidFill>
                <a:latin typeface="Arial"/>
              </a:rPr>
              <a:t>RoomBooking · Panduan Penggunaan CMS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66760" y="6537960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19" b="0" i="0">
                <a:solidFill>
                  <a:srgbClr val="67737F"/>
                </a:solidFill>
                <a:latin typeface="Arial"/>
              </a:rPr>
              <a:t>CMS 3.13.0 · APK 1.4.5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52760" y="6519672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67737F"/>
                </a:solidFill>
                <a:latin typeface="Arial"/>
              </a:rPr>
              <a:t>20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645920"/>
            <a:ext cx="525780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2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1645920"/>
            <a:ext cx="64008" cy="1417320"/>
          </a:xfrm>
          <a:prstGeom prst="rect">
            <a:avLst/>
          </a:prstGeom>
          <a:solidFill>
            <a:srgbClr val="2FB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77240" y="1828800"/>
            <a:ext cx="292608" cy="292608"/>
          </a:xfrm>
          <a:prstGeom prst="ellipse">
            <a:avLst/>
          </a:prstGeom>
          <a:solidFill>
            <a:srgbClr val="2FB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61288" y="1828800"/>
            <a:ext cx="45445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F2933"/>
                </a:solidFill>
                <a:latin typeface="Arial"/>
              </a:rPr>
              <a:t>Nama &amp; tab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8" y="2249424"/>
            <a:ext cx="487375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7737F"/>
                </a:solidFill>
                <a:latin typeface="Arial"/>
              </a:rPr>
              <a:t>Nama branding dan judul tab browser.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62472" y="1645920"/>
            <a:ext cx="525780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2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62472" y="1645920"/>
            <a:ext cx="64008" cy="1417320"/>
          </a:xfrm>
          <a:prstGeom prst="rect">
            <a:avLst/>
          </a:prstGeom>
          <a:solidFill>
            <a:srgbClr val="2FB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245352" y="1828800"/>
            <a:ext cx="292608" cy="292608"/>
          </a:xfrm>
          <a:prstGeom prst="ellipse">
            <a:avLst/>
          </a:prstGeom>
          <a:solidFill>
            <a:srgbClr val="2FB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1828800"/>
            <a:ext cx="45445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F2933"/>
                </a:solidFill>
                <a:latin typeface="Arial"/>
              </a:rPr>
              <a:t>Ikon &amp; favicon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2249424"/>
            <a:ext cx="487375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7737F"/>
                </a:solidFill>
                <a:latin typeface="Arial"/>
              </a:rPr>
              <a:t>PNG/JPEG/WebP/ICO, maks. 512 KB.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3291840"/>
            <a:ext cx="525780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2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94360" y="3291840"/>
            <a:ext cx="64008" cy="1417320"/>
          </a:xfrm>
          <a:prstGeom prst="rect">
            <a:avLst/>
          </a:prstGeom>
          <a:solidFill>
            <a:srgbClr val="2FB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77240" y="3474720"/>
            <a:ext cx="292608" cy="292608"/>
          </a:xfrm>
          <a:prstGeom prst="ellipse">
            <a:avLst/>
          </a:prstGeom>
          <a:solidFill>
            <a:srgbClr val="2FB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61288" y="3474720"/>
            <a:ext cx="45445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F2933"/>
                </a:solidFill>
                <a:latin typeface="Arial"/>
              </a:rPr>
              <a:t>Logo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5528" y="3895344"/>
            <a:ext cx="487375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7737F"/>
                </a:solidFill>
                <a:latin typeface="Arial"/>
              </a:rPr>
              <a:t>Tampil di login, navbar, footer.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062472" y="3291840"/>
            <a:ext cx="525780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2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062472" y="3291840"/>
            <a:ext cx="64008" cy="1417320"/>
          </a:xfrm>
          <a:prstGeom prst="rect">
            <a:avLst/>
          </a:prstGeom>
          <a:solidFill>
            <a:srgbClr val="2FB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245352" y="3474720"/>
            <a:ext cx="292608" cy="292608"/>
          </a:xfrm>
          <a:prstGeom prst="ellipse">
            <a:avLst/>
          </a:prstGeom>
          <a:solidFill>
            <a:srgbClr val="2FB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29400" y="3474720"/>
            <a:ext cx="45445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F2933"/>
                </a:solidFill>
                <a:latin typeface="Arial"/>
              </a:rPr>
              <a:t>Reset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63640" y="3895344"/>
            <a:ext cx="487375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7737F"/>
                </a:solidFill>
                <a:latin typeface="Arial"/>
              </a:rPr>
              <a:t>Kembali ke aset default.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360" y="5074920"/>
            <a:ext cx="10927080" cy="640080"/>
          </a:xfrm>
          <a:prstGeom prst="roundRect">
            <a:avLst>
              <a:gd name="adj" fmla="val 8000"/>
            </a:avLst>
          </a:prstGeom>
          <a:solidFill>
            <a:srgbClr val="E7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94360" y="5074920"/>
            <a:ext cx="64008" cy="640080"/>
          </a:xfrm>
          <a:prstGeom prst="rect">
            <a:avLst/>
          </a:prstGeom>
          <a:solidFill>
            <a:srgbClr val="2FB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5528" y="5212080"/>
            <a:ext cx="1056131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40" b="1" i="0">
                <a:solidFill>
                  <a:srgbClr val="1E6B3D"/>
                </a:solidFill>
                <a:latin typeface="Arial"/>
              </a:rPr>
              <a:t>BERLAKU LANGSUNG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5528" y="5458968"/>
            <a:ext cx="10561319" cy="1828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0" b="0" i="0">
                <a:solidFill>
                  <a:srgbClr val="1E6B3D"/>
                </a:solidFill>
                <a:latin typeface="Arial"/>
              </a:rPr>
              <a:t>Setelah upload, perubahan langsung terlihat. Pastikan gambar tidak pecah dan tetap terbaca di tema gelap.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9875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2FB46A"/>
                </a:solidFill>
                <a:latin typeface="Arial"/>
              </a:rPr>
              <a:t>CMS · AKSES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7899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F2933"/>
                </a:solidFill>
                <a:latin typeface="Arial"/>
              </a:rPr>
              <a:t>Matrix peran &amp; Super Admin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61872"/>
            <a:ext cx="822960" cy="50292"/>
          </a:xfrm>
          <a:prstGeom prst="rect">
            <a:avLst/>
          </a:prstGeom>
          <a:solidFill>
            <a:srgbClr val="2FB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371600"/>
            <a:ext cx="99669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67737F"/>
                </a:solidFill>
                <a:latin typeface="Arial"/>
              </a:rPr>
              <a:t>Hanya Super Admin yang boleh mengubah matrix dan melihat audit.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73952"/>
            <a:ext cx="11002975" cy="9144"/>
          </a:xfrm>
          <a:prstGeom prst="rect">
            <a:avLst/>
          </a:prstGeom>
          <a:solidFill>
            <a:srgbClr val="D9E2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37960"/>
            <a:ext cx="5852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0" i="0">
                <a:solidFill>
                  <a:srgbClr val="67737F"/>
                </a:solidFill>
                <a:latin typeface="Arial"/>
              </a:rPr>
              <a:t>RoomBooking · Panduan Penggunaan CMS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66760" y="6537960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19" b="0" i="0">
                <a:solidFill>
                  <a:srgbClr val="67737F"/>
                </a:solidFill>
                <a:latin typeface="Arial"/>
              </a:rPr>
              <a:t>CMS 3.13.0 · APK 1.4.5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52760" y="6519672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67737F"/>
                </a:solidFill>
                <a:latin typeface="Arial"/>
              </a:rPr>
              <a:t>21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94360" y="1600200"/>
          <a:ext cx="10927080" cy="275234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474720"/>
                <a:gridCol w="2011680"/>
                <a:gridCol w="1828800"/>
                <a:gridCol w="1828800"/>
                <a:gridCol w="1783080"/>
              </a:tblGrid>
              <a:tr h="393192">
                <a:tc>
                  <a:txBody>
                    <a:bodyPr wrap="square"/>
                    <a:lstStyle/>
                    <a:p>
                      <a:r>
                        <a:rPr sz="1019" b="1">
                          <a:solidFill>
                            <a:srgbClr val="FFFFFF"/>
                          </a:solidFill>
                          <a:latin typeface="Arial"/>
                        </a:rPr>
                        <a:t>Menu</a:t>
                      </a:r>
                    </a:p>
                  </a:txBody>
                  <a:tcPr marL="73152" marR="54864" marT="27432" marB="27432" anchor="ctr">
                    <a:solidFill>
                      <a:srgbClr val="1115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1">
                          <a:solidFill>
                            <a:srgbClr val="FFFFFF"/>
                          </a:solidFill>
                          <a:latin typeface="Arial"/>
                        </a:rPr>
                        <a:t>Super Admin</a:t>
                      </a:r>
                    </a:p>
                  </a:txBody>
                  <a:tcPr marL="73152" marR="54864" marT="27432" marB="27432" anchor="ctr">
                    <a:solidFill>
                      <a:srgbClr val="1115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1">
                          <a:solidFill>
                            <a:srgbClr val="FFFFFF"/>
                          </a:solidFill>
                          <a:latin typeface="Arial"/>
                        </a:rPr>
                        <a:t>Admin</a:t>
                      </a:r>
                    </a:p>
                  </a:txBody>
                  <a:tcPr marL="73152" marR="54864" marT="27432" marB="27432" anchor="ctr">
                    <a:solidFill>
                      <a:srgbClr val="1115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1">
                          <a:solidFill>
                            <a:srgbClr val="FFFFFF"/>
                          </a:solidFill>
                          <a:latin typeface="Arial"/>
                        </a:rPr>
                        <a:t>Resepsionis</a:t>
                      </a:r>
                    </a:p>
                  </a:txBody>
                  <a:tcPr marL="73152" marR="54864" marT="27432" marB="27432" anchor="ctr">
                    <a:solidFill>
                      <a:srgbClr val="1115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1">
                          <a:solidFill>
                            <a:srgbClr val="FFFFFF"/>
                          </a:solidFill>
                          <a:latin typeface="Arial"/>
                        </a:rPr>
                        <a:t>User</a:t>
                      </a:r>
                    </a:p>
                  </a:txBody>
                  <a:tcPr marL="73152" marR="54864" marT="27432" marB="27432" anchor="ctr">
                    <a:solidFill>
                      <a:srgbClr val="11151B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019" b="1">
                          <a:solidFill>
                            <a:srgbClr val="1F2933"/>
                          </a:solidFill>
                          <a:latin typeface="Arial"/>
                        </a:rPr>
                        <a:t>Kalender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1F2933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1F2933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1F2933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1F2933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019" b="1">
                          <a:solidFill>
                            <a:srgbClr val="1F2933"/>
                          </a:solidFill>
                          <a:latin typeface="Arial"/>
                        </a:rPr>
                        <a:t>Laporan</a:t>
                      </a:r>
                    </a:p>
                  </a:txBody>
                  <a:tcPr marL="73152" marR="54864" marT="27432" marB="27432" anchor="ctr">
                    <a:solidFill>
                      <a:srgbClr val="F0F4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1F2933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marL="73152" marR="54864" marT="27432" marB="27432" anchor="ctr">
                    <a:solidFill>
                      <a:srgbClr val="F0F4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1F2933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marL="73152" marR="54864" marT="27432" marB="27432" anchor="ctr">
                    <a:solidFill>
                      <a:srgbClr val="F0F4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1F2933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73152" marR="54864" marT="27432" marB="27432" anchor="ctr">
                    <a:solidFill>
                      <a:srgbClr val="F0F4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1F2933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73152" marR="54864" marT="27432" marB="27432" anchor="ctr">
                    <a:solidFill>
                      <a:srgbClr val="F0F4E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019" b="1">
                          <a:solidFill>
                            <a:srgbClr val="1F2933"/>
                          </a:solidFill>
                          <a:latin typeface="Arial"/>
                        </a:rPr>
                        <a:t>Pengguna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1F2933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1F2933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1F2933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1F2933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019" b="1">
                          <a:solidFill>
                            <a:srgbClr val="1F2933"/>
                          </a:solidFill>
                          <a:latin typeface="Arial"/>
                        </a:rPr>
                        <a:t>Ruangan</a:t>
                      </a:r>
                    </a:p>
                  </a:txBody>
                  <a:tcPr marL="73152" marR="54864" marT="27432" marB="27432" anchor="ctr">
                    <a:solidFill>
                      <a:srgbClr val="F0F4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1F2933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marL="73152" marR="54864" marT="27432" marB="27432" anchor="ctr">
                    <a:solidFill>
                      <a:srgbClr val="F0F4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1F2933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marL="73152" marR="54864" marT="27432" marB="27432" anchor="ctr">
                    <a:solidFill>
                      <a:srgbClr val="F0F4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1F2933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73152" marR="54864" marT="27432" marB="27432" anchor="ctr">
                    <a:solidFill>
                      <a:srgbClr val="F0F4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1F2933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73152" marR="54864" marT="27432" marB="27432" anchor="ctr">
                    <a:solidFill>
                      <a:srgbClr val="F0F4E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019" b="1">
                          <a:solidFill>
                            <a:srgbClr val="1F2933"/>
                          </a:solidFill>
                          <a:latin typeface="Arial"/>
                        </a:rPr>
                        <a:t>Perangkat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1F2933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1F2933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1F2933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1F2933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019" b="1">
                          <a:solidFill>
                            <a:srgbClr val="1F2933"/>
                          </a:solidFill>
                          <a:latin typeface="Arial"/>
                        </a:rPr>
                        <a:t>Pengaturan</a:t>
                      </a:r>
                    </a:p>
                  </a:txBody>
                  <a:tcPr marL="73152" marR="54864" marT="27432" marB="27432" anchor="ctr">
                    <a:solidFill>
                      <a:srgbClr val="F0F4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1F2933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marL="73152" marR="54864" marT="27432" marB="27432" anchor="ctr">
                    <a:solidFill>
                      <a:srgbClr val="F0F4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1F2933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marL="73152" marR="54864" marT="27432" marB="27432" anchor="ctr">
                    <a:solidFill>
                      <a:srgbClr val="F0F4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1F2933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73152" marR="54864" marT="27432" marB="27432" anchor="ctr">
                    <a:solidFill>
                      <a:srgbClr val="F0F4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1F2933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73152" marR="54864" marT="27432" marB="27432" anchor="ctr">
                    <a:solidFill>
                      <a:srgbClr val="F0F4EF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594360" y="4434840"/>
            <a:ext cx="5349240" cy="868680"/>
          </a:xfrm>
          <a:prstGeom prst="roundRect">
            <a:avLst>
              <a:gd name="adj" fmla="val 8000"/>
            </a:avLst>
          </a:prstGeom>
          <a:solidFill>
            <a:srgbClr val="FFF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4360" y="4434840"/>
            <a:ext cx="64008" cy="868680"/>
          </a:xfrm>
          <a:prstGeom prst="rect">
            <a:avLst/>
          </a:prstGeom>
          <a:solidFill>
            <a:srgbClr val="E8A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5528" y="4572000"/>
            <a:ext cx="498347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1" i="0">
                <a:solidFill>
                  <a:srgbClr val="7A5A00"/>
                </a:solidFill>
                <a:latin typeface="Arial"/>
              </a:rPr>
              <a:t>SUPER ADMIN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8" y="4818888"/>
            <a:ext cx="4983479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19" b="0" i="0">
                <a:solidFill>
                  <a:srgbClr val="7A5A00"/>
                </a:solidFill>
                <a:latin typeface="Arial"/>
              </a:rPr>
              <a:t>Akun /setup, dilindungi; tidak bisa dihapus/diturunkan. Jangan untuk harian.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4434840"/>
            <a:ext cx="5349240" cy="868680"/>
          </a:xfrm>
          <a:prstGeom prst="roundRect">
            <a:avLst>
              <a:gd name="adj" fmla="val 8000"/>
            </a:avLst>
          </a:prstGeom>
          <a:solidFill>
            <a:srgbClr val="FBE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4434840"/>
            <a:ext cx="64008" cy="868680"/>
          </a:xfrm>
          <a:prstGeom prst="rect">
            <a:avLst/>
          </a:prstGeom>
          <a:solidFill>
            <a:srgbClr val="C94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73368" y="4572000"/>
            <a:ext cx="498347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1" i="0">
                <a:solidFill>
                  <a:srgbClr val="8A2D28"/>
                </a:solidFill>
                <a:latin typeface="Arial"/>
              </a:rPr>
              <a:t>MATRIX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73368" y="4818888"/>
            <a:ext cx="4983479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19" b="0" i="0">
                <a:solidFill>
                  <a:srgbClr val="8A2D28"/>
                </a:solidFill>
                <a:latin typeface="Arial"/>
              </a:rPr>
              <a:t>Mencabut menu juga menolak endpoint, bukan hanya menyembunyikan navigasi.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9875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2FB46A"/>
                </a:solidFill>
                <a:latin typeface="Arial"/>
              </a:rPr>
              <a:t>CMS ·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7899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F2933"/>
                </a:solidFill>
                <a:latin typeface="Arial"/>
              </a:rPr>
              <a:t>Audit: siapa mengubah apa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61872"/>
            <a:ext cx="822960" cy="50292"/>
          </a:xfrm>
          <a:prstGeom prst="rect">
            <a:avLst/>
          </a:prstGeom>
          <a:solidFill>
            <a:srgbClr val="2FB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371600"/>
            <a:ext cx="99669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67737F"/>
                </a:solidFill>
                <a:latin typeface="Arial"/>
              </a:rPr>
              <a:t>100 entri terbaru; hanya Super Admin.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73952"/>
            <a:ext cx="11002975" cy="9144"/>
          </a:xfrm>
          <a:prstGeom prst="rect">
            <a:avLst/>
          </a:prstGeom>
          <a:solidFill>
            <a:srgbClr val="D9E2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37960"/>
            <a:ext cx="5852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0" i="0">
                <a:solidFill>
                  <a:srgbClr val="67737F"/>
                </a:solidFill>
                <a:latin typeface="Arial"/>
              </a:rPr>
              <a:t>RoomBooking · Panduan Penggunaan CMS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66760" y="6537960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19" b="0" i="0">
                <a:solidFill>
                  <a:srgbClr val="67737F"/>
                </a:solidFill>
                <a:latin typeface="Arial"/>
              </a:rPr>
              <a:t>CMS 3.13.0 · APK 1.4.5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52760" y="6519672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67737F"/>
                </a:solidFill>
                <a:latin typeface="Arial"/>
              </a:rPr>
              <a:t>22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94360" y="1645920"/>
          <a:ext cx="10927080" cy="25146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6766560"/>
                <a:gridCol w="4160520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1060" b="1">
                          <a:solidFill>
                            <a:srgbClr val="FFFFFF"/>
                          </a:solidFill>
                          <a:latin typeface="Arial"/>
                        </a:rPr>
                        <a:t>Dicatat</a:t>
                      </a:r>
                    </a:p>
                  </a:txBody>
                  <a:tcPr marL="73152" marR="54864" marT="27432" marB="27432" anchor="ctr">
                    <a:solidFill>
                      <a:srgbClr val="1115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60" b="1">
                          <a:solidFill>
                            <a:srgbClr val="FFFFFF"/>
                          </a:solidFill>
                          <a:latin typeface="Arial"/>
                        </a:rPr>
                        <a:t>Tidak dicatat</a:t>
                      </a:r>
                    </a:p>
                  </a:txBody>
                  <a:tcPr marL="73152" marR="54864" marT="27432" marB="27432" anchor="ctr">
                    <a:solidFill>
                      <a:srgbClr val="11151B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060" b="0">
                          <a:solidFill>
                            <a:srgbClr val="1F2933"/>
                          </a:solidFill>
                          <a:latin typeface="Arial"/>
                        </a:rPr>
                        <a:t>User: buat/ubah/hapus, role, lantai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60" b="0">
                          <a:solidFill>
                            <a:srgbClr val="1F2933"/>
                          </a:solidFill>
                          <a:latin typeface="Arial"/>
                        </a:rPr>
                        <a:t>Login/logout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060" b="0">
                          <a:solidFill>
                            <a:srgbClr val="1F2933"/>
                          </a:solidFill>
                          <a:latin typeface="Arial"/>
                        </a:rPr>
                        <a:t>Kartu: tambah, hilang/aktif, master</a:t>
                      </a:r>
                    </a:p>
                  </a:txBody>
                  <a:tcPr marL="73152" marR="54864" marT="27432" marB="27432" anchor="ctr">
                    <a:solidFill>
                      <a:srgbClr val="F0F4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60" b="0">
                          <a:solidFill>
                            <a:srgbClr val="1F2933"/>
                          </a:solidFill>
                          <a:latin typeface="Arial"/>
                        </a:rPr>
                        <a:t>Buat/ubah/batal meeting</a:t>
                      </a:r>
                    </a:p>
                  </a:txBody>
                  <a:tcPr marL="73152" marR="54864" marT="27432" marB="27432" anchor="ctr">
                    <a:solidFill>
                      <a:srgbClr val="F0F4E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060" b="0">
                          <a:solidFill>
                            <a:srgbClr val="1F2933"/>
                          </a:solidFill>
                          <a:latin typeface="Arial"/>
                        </a:rPr>
                        <a:t>Reset sandi, settings, backup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60" b="0">
                          <a:solidFill>
                            <a:srgbClr val="1F2933"/>
                          </a:solidFill>
                          <a:latin typeface="Arial"/>
                        </a:rPr>
                        <a:t>Check-in, +15, buka pintu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060" b="0">
                          <a:solidFill>
                            <a:srgbClr val="1F2933"/>
                          </a:solidFill>
                          <a:latin typeface="Arial"/>
                        </a:rPr>
                        <a:t>Matrix akses</a:t>
                      </a:r>
                    </a:p>
                  </a:txBody>
                  <a:tcPr marL="73152" marR="54864" marT="27432" marB="27432" anchor="ctr">
                    <a:solidFill>
                      <a:srgbClr val="F0F4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60" b="0">
                          <a:solidFill>
                            <a:srgbClr val="1F2933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73152" marR="54864" marT="27432" marB="27432" anchor="ctr">
                    <a:solidFill>
                      <a:srgbClr val="F0F4EF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594360" y="4526280"/>
            <a:ext cx="10927080" cy="731520"/>
          </a:xfrm>
          <a:prstGeom prst="roundRect">
            <a:avLst>
              <a:gd name="adj" fmla="val 8000"/>
            </a:avLst>
          </a:prstGeom>
          <a:solidFill>
            <a:srgbClr val="E7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4360" y="4526280"/>
            <a:ext cx="64008" cy="731520"/>
          </a:xfrm>
          <a:prstGeom prst="rect">
            <a:avLst/>
          </a:prstGeom>
          <a:solidFill>
            <a:srgbClr val="2FB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5528" y="4663440"/>
            <a:ext cx="1056131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40" b="1" i="0">
                <a:solidFill>
                  <a:srgbClr val="1E6B3D"/>
                </a:solidFill>
                <a:latin typeface="Arial"/>
              </a:rPr>
              <a:t>KARTU DISAMARKAN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8" y="4910328"/>
            <a:ext cx="1056131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40" b="0" i="0">
                <a:solidFill>
                  <a:srgbClr val="1E6B3D"/>
                </a:solidFill>
                <a:latin typeface="Arial"/>
              </a:rPr>
              <a:t>Hanya 4 digit terakhir. Nama pelaku disalin saat kejadian; audit tidak bisa diubah dari CMS.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9875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2FB46A"/>
                </a:solidFill>
                <a:latin typeface="Arial"/>
              </a:rPr>
              <a:t>CMS · LAPORAN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7899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F2933"/>
                </a:solidFill>
                <a:latin typeface="Arial"/>
              </a:rPr>
              <a:t>Report: pemakaian ruangan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61872"/>
            <a:ext cx="822960" cy="50292"/>
          </a:xfrm>
          <a:prstGeom prst="rect">
            <a:avLst/>
          </a:prstGeom>
          <a:solidFill>
            <a:srgbClr val="2FB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371600"/>
            <a:ext cx="99669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67737F"/>
                </a:solidFill>
                <a:latin typeface="Arial"/>
              </a:rPr>
              <a:t>Pilih periode, lihat total per ruangan, ekspor Excel.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73952"/>
            <a:ext cx="11002975" cy="9144"/>
          </a:xfrm>
          <a:prstGeom prst="rect">
            <a:avLst/>
          </a:prstGeom>
          <a:solidFill>
            <a:srgbClr val="D9E2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37960"/>
            <a:ext cx="5852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0" i="0">
                <a:solidFill>
                  <a:srgbClr val="67737F"/>
                </a:solidFill>
                <a:latin typeface="Arial"/>
              </a:rPr>
              <a:t>RoomBooking · Panduan Penggunaan CMS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66760" y="6537960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19" b="0" i="0">
                <a:solidFill>
                  <a:srgbClr val="67737F"/>
                </a:solidFill>
                <a:latin typeface="Arial"/>
              </a:rPr>
              <a:t>CMS 3.13.0 · APK 1.4.5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52760" y="6519672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67737F"/>
                </a:solidFill>
                <a:latin typeface="Arial"/>
              </a:rPr>
              <a:t>23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737360"/>
            <a:ext cx="7040879" cy="44936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2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shot-report-c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783080"/>
            <a:ext cx="6949440" cy="440221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138160" y="1828800"/>
            <a:ext cx="342900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070" b="1">
                <a:solidFill>
                  <a:srgbClr val="2FB46A"/>
                </a:solidFill>
                <a:latin typeface="Arial"/>
              </a:rPr>
              <a:t>•  </a:t>
            </a:r>
            <a:r>
              <a:rPr sz="1070" b="1">
                <a:solidFill>
                  <a:srgbClr val="1F2933"/>
                </a:solidFill>
                <a:latin typeface="Arial"/>
              </a:rPr>
              <a:t>Periode — </a:t>
            </a:r>
            <a:r>
              <a:rPr sz="1070">
                <a:solidFill>
                  <a:srgbClr val="1F2933"/>
                </a:solidFill>
                <a:latin typeface="Arial"/>
              </a:rPr>
              <a:t>mulai–selesai.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070" b="1">
                <a:solidFill>
                  <a:srgbClr val="2FB46A"/>
                </a:solidFill>
                <a:latin typeface="Arial"/>
              </a:rPr>
              <a:t>•  </a:t>
            </a:r>
            <a:r>
              <a:rPr sz="1070" b="1">
                <a:solidFill>
                  <a:srgbClr val="1F2933"/>
                </a:solidFill>
                <a:latin typeface="Arial"/>
              </a:rPr>
              <a:t>Total — </a:t>
            </a:r>
            <a:r>
              <a:rPr sz="1070">
                <a:solidFill>
                  <a:srgbClr val="1F2933"/>
                </a:solidFill>
                <a:latin typeface="Arial"/>
              </a:rPr>
              <a:t>durasi pemakaian.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070" b="1">
                <a:solidFill>
                  <a:srgbClr val="2FB46A"/>
                </a:solidFill>
                <a:latin typeface="Arial"/>
              </a:rPr>
              <a:t>•  </a:t>
            </a:r>
            <a:r>
              <a:rPr sz="1070" b="1">
                <a:solidFill>
                  <a:srgbClr val="1F2933"/>
                </a:solidFill>
                <a:latin typeface="Arial"/>
              </a:rPr>
              <a:t>Ekspor — </a:t>
            </a:r>
            <a:r>
              <a:rPr sz="1070">
                <a:solidFill>
                  <a:srgbClr val="1F2933"/>
                </a:solidFill>
                <a:latin typeface="Arial"/>
              </a:rPr>
              <a:t>riwayat ke Excel.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070" b="1">
                <a:solidFill>
                  <a:srgbClr val="2FB46A"/>
                </a:solidFill>
                <a:latin typeface="Arial"/>
              </a:rPr>
              <a:t>•  </a:t>
            </a:r>
            <a:r>
              <a:rPr sz="1070" b="1">
                <a:solidFill>
                  <a:srgbClr val="1F2933"/>
                </a:solidFill>
                <a:latin typeface="Arial"/>
              </a:rPr>
              <a:t>Batas — </a:t>
            </a:r>
            <a:r>
              <a:rPr sz="1070">
                <a:solidFill>
                  <a:srgbClr val="1F2933"/>
                </a:solidFill>
                <a:latin typeface="Arial"/>
              </a:rPr>
              <a:t>366 hari.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5029200"/>
            <a:ext cx="3429000" cy="868680"/>
          </a:xfrm>
          <a:prstGeom prst="roundRect">
            <a:avLst>
              <a:gd name="adj" fmla="val 8000"/>
            </a:avLst>
          </a:prstGeom>
          <a:solidFill>
            <a:srgbClr val="E7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5029200"/>
            <a:ext cx="64008" cy="868680"/>
          </a:xfrm>
          <a:prstGeom prst="rect">
            <a:avLst/>
          </a:prstGeom>
          <a:solidFill>
            <a:srgbClr val="2FB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9328" y="5166360"/>
            <a:ext cx="3063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19" b="1" i="0">
                <a:solidFill>
                  <a:srgbClr val="1E6B3D"/>
                </a:solidFill>
                <a:latin typeface="Arial"/>
              </a:rPr>
              <a:t>HANYA AKTIF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9328" y="5413248"/>
            <a:ext cx="3063240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10" b="0" i="0">
                <a:solidFill>
                  <a:srgbClr val="1E6B3D"/>
                </a:solidFill>
                <a:latin typeface="Arial"/>
              </a:rPr>
              <a:t>Event batal tidak dihitung; laporan membaca booking aktif.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9875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2FB46A"/>
                </a:solidFill>
                <a:latin typeface="Arial"/>
              </a:rPr>
              <a:t>RUTINITAS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7899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F2933"/>
                </a:solidFill>
                <a:latin typeface="Arial"/>
              </a:rPr>
              <a:t>Checklist admin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61872"/>
            <a:ext cx="822960" cy="50292"/>
          </a:xfrm>
          <a:prstGeom prst="rect">
            <a:avLst/>
          </a:prstGeom>
          <a:solidFill>
            <a:srgbClr val="2FB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371600"/>
            <a:ext cx="99669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67737F"/>
                </a:solidFill>
                <a:latin typeface="Arial"/>
              </a:rPr>
              <a:t>Harian, mingguan, bulanan.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73952"/>
            <a:ext cx="11002975" cy="9144"/>
          </a:xfrm>
          <a:prstGeom prst="rect">
            <a:avLst/>
          </a:prstGeom>
          <a:solidFill>
            <a:srgbClr val="D9E2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37960"/>
            <a:ext cx="5852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0" i="0">
                <a:solidFill>
                  <a:srgbClr val="67737F"/>
                </a:solidFill>
                <a:latin typeface="Arial"/>
              </a:rPr>
              <a:t>RoomBooking · Panduan Penggunaan CMS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66760" y="6537960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19" b="0" i="0">
                <a:solidFill>
                  <a:srgbClr val="67737F"/>
                </a:solidFill>
                <a:latin typeface="Arial"/>
              </a:rPr>
              <a:t>CMS 3.13.0 · APK 1.4.5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52760" y="6519672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67737F"/>
                </a:solidFill>
                <a:latin typeface="Arial"/>
              </a:rPr>
              <a:t>24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645920"/>
            <a:ext cx="3429000" cy="3520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2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95528" y="1828800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E7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/>
            <a:r>
              <a:rPr sz="919" b="1">
                <a:solidFill>
                  <a:srgbClr val="2FB46A"/>
                </a:solidFill>
                <a:latin typeface="Arial"/>
              </a:rPr>
              <a:t>HARIAN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2331720"/>
            <a:ext cx="3017520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050" b="1">
                <a:solidFill>
                  <a:srgbClr val="2FB46A"/>
                </a:solidFill>
                <a:latin typeface="Arial"/>
              </a:rPr>
              <a:t>•  </a:t>
            </a:r>
            <a:r>
              <a:rPr sz="1050">
                <a:solidFill>
                  <a:srgbClr val="1F2933"/>
                </a:solidFill>
                <a:latin typeface="Arial"/>
              </a:rPr>
              <a:t>Cek tablet offline.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050" b="1">
                <a:solidFill>
                  <a:srgbClr val="2FB46A"/>
                </a:solidFill>
                <a:latin typeface="Arial"/>
              </a:rPr>
              <a:t>•  </a:t>
            </a:r>
            <a:r>
              <a:rPr sz="1050">
                <a:solidFill>
                  <a:srgbClr val="1F2933"/>
                </a:solidFill>
                <a:latin typeface="Arial"/>
              </a:rPr>
              <a:t>Cek booking hari ini.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050" b="1">
                <a:solidFill>
                  <a:srgbClr val="2FB46A"/>
                </a:solidFill>
                <a:latin typeface="Arial"/>
              </a:rPr>
              <a:t>•  </a:t>
            </a:r>
            <a:r>
              <a:rPr sz="1050">
                <a:solidFill>
                  <a:srgbClr val="1F2933"/>
                </a:solidFill>
                <a:latin typeface="Arial"/>
              </a:rPr>
              <a:t>Respons kartu/user.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050" b="1">
                <a:solidFill>
                  <a:srgbClr val="2FB46A"/>
                </a:solidFill>
                <a:latin typeface="Arial"/>
              </a:rPr>
              <a:t>•  </a:t>
            </a:r>
            <a:r>
              <a:rPr sz="1050">
                <a:solidFill>
                  <a:srgbClr val="1F2933"/>
                </a:solidFill>
                <a:latin typeface="Arial"/>
              </a:rPr>
              <a:t>Cek backup (jika aktif).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24528" y="1645920"/>
            <a:ext cx="3429000" cy="3520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2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425696" y="1828800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E7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/>
            <a:r>
              <a:rPr sz="919" b="1">
                <a:solidFill>
                  <a:srgbClr val="2FB46A"/>
                </a:solidFill>
                <a:latin typeface="Arial"/>
              </a:rPr>
              <a:t>MINGGUAN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25696" y="2331720"/>
            <a:ext cx="3017520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050" b="1">
                <a:solidFill>
                  <a:srgbClr val="2FB46A"/>
                </a:solidFill>
                <a:latin typeface="Arial"/>
              </a:rPr>
              <a:t>•  </a:t>
            </a:r>
            <a:r>
              <a:rPr sz="1050">
                <a:solidFill>
                  <a:srgbClr val="1F2933"/>
                </a:solidFill>
                <a:latin typeface="Arial"/>
              </a:rPr>
              <a:t>Cek user tanpa lantai.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050" b="1">
                <a:solidFill>
                  <a:srgbClr val="2FB46A"/>
                </a:solidFill>
                <a:latin typeface="Arial"/>
              </a:rPr>
              <a:t>•  </a:t>
            </a:r>
            <a:r>
              <a:rPr sz="1050">
                <a:solidFill>
                  <a:srgbClr val="1F2933"/>
                </a:solidFill>
                <a:latin typeface="Arial"/>
              </a:rPr>
              <a:t>Cek kartu hilang/master.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050" b="1">
                <a:solidFill>
                  <a:srgbClr val="2FB46A"/>
                </a:solidFill>
                <a:latin typeface="Arial"/>
              </a:rPr>
              <a:t>•  </a:t>
            </a:r>
            <a:r>
              <a:rPr sz="1050">
                <a:solidFill>
                  <a:srgbClr val="1F2933"/>
                </a:solidFill>
                <a:latin typeface="Arial"/>
              </a:rPr>
              <a:t>Cek ruangan &amp; kapasitas.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050" b="1">
                <a:solidFill>
                  <a:srgbClr val="2FB46A"/>
                </a:solidFill>
                <a:latin typeface="Arial"/>
              </a:rPr>
              <a:t>•  </a:t>
            </a:r>
            <a:r>
              <a:rPr sz="1050">
                <a:solidFill>
                  <a:srgbClr val="1F2933"/>
                </a:solidFill>
                <a:latin typeface="Arial"/>
              </a:rPr>
              <a:t>Cek audit anomali.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54696" y="1645920"/>
            <a:ext cx="3429000" cy="3520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2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055864" y="1828800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E7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/>
            <a:r>
              <a:rPr sz="919" b="1">
                <a:solidFill>
                  <a:srgbClr val="2FB46A"/>
                </a:solidFill>
                <a:latin typeface="Arial"/>
              </a:rPr>
              <a:t>BULANAN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55864" y="2331720"/>
            <a:ext cx="3017520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050" b="1">
                <a:solidFill>
                  <a:srgbClr val="2FB46A"/>
                </a:solidFill>
                <a:latin typeface="Arial"/>
              </a:rPr>
              <a:t>•  </a:t>
            </a:r>
            <a:r>
              <a:rPr sz="1050">
                <a:solidFill>
                  <a:srgbClr val="1F2933"/>
                </a:solidFill>
                <a:latin typeface="Arial"/>
              </a:rPr>
              <a:t>Uji restore backup.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050" b="1">
                <a:solidFill>
                  <a:srgbClr val="2FB46A"/>
                </a:solidFill>
                <a:latin typeface="Arial"/>
              </a:rPr>
              <a:t>•  </a:t>
            </a:r>
            <a:r>
              <a:rPr sz="1050">
                <a:solidFill>
                  <a:srgbClr val="1F2933"/>
                </a:solidFill>
                <a:latin typeface="Arial"/>
              </a:rPr>
              <a:t>Review matrix role.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050" b="1">
                <a:solidFill>
                  <a:srgbClr val="2FB46A"/>
                </a:solidFill>
                <a:latin typeface="Arial"/>
              </a:rPr>
              <a:t>•  </a:t>
            </a:r>
            <a:r>
              <a:rPr sz="1050">
                <a:solidFill>
                  <a:srgbClr val="1F2933"/>
                </a:solidFill>
                <a:latin typeface="Arial"/>
              </a:rPr>
              <a:t>Bersihkan akun/event uji.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050" b="1">
                <a:solidFill>
                  <a:srgbClr val="2FB46A"/>
                </a:solidFill>
                <a:latin typeface="Arial"/>
              </a:rPr>
              <a:t>•  </a:t>
            </a:r>
            <a:r>
              <a:rPr sz="1050">
                <a:solidFill>
                  <a:srgbClr val="1F2933"/>
                </a:solidFill>
                <a:latin typeface="Arial"/>
              </a:rPr>
              <a:t>Cek update APK.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5394960"/>
            <a:ext cx="10927080" cy="548640"/>
          </a:xfrm>
          <a:prstGeom prst="roundRect">
            <a:avLst>
              <a:gd name="adj" fmla="val 8000"/>
            </a:avLst>
          </a:prstGeom>
          <a:solidFill>
            <a:srgbClr val="E7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94360" y="5394960"/>
            <a:ext cx="64008" cy="548640"/>
          </a:xfrm>
          <a:prstGeom prst="rect">
            <a:avLst/>
          </a:prstGeom>
          <a:solidFill>
            <a:srgbClr val="2FB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5528" y="5532120"/>
            <a:ext cx="1056131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40" b="1" i="0">
                <a:solidFill>
                  <a:srgbClr val="1E6B3D"/>
                </a:solidFill>
                <a:latin typeface="Arial"/>
              </a:rPr>
              <a:t>PRINSIP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5528" y="5779008"/>
            <a:ext cx="10561319" cy="914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40" b="0" i="0">
                <a:solidFill>
                  <a:srgbClr val="1E6B3D"/>
                </a:solidFill>
                <a:latin typeface="Arial"/>
              </a:rPr>
              <a:t>Lebih baik mencegah daripada memulihkan. Backup yang belum diuji restore belum bisa diandalkan.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9875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2FB46A"/>
                </a:solidFill>
                <a:latin typeface="Arial"/>
              </a:rPr>
              <a:t>BANTUAN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7899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F2933"/>
                </a:solidFill>
                <a:latin typeface="Arial"/>
              </a:rPr>
              <a:t>Troubleshooting CMS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61872"/>
            <a:ext cx="822960" cy="50292"/>
          </a:xfrm>
          <a:prstGeom prst="rect">
            <a:avLst/>
          </a:prstGeom>
          <a:solidFill>
            <a:srgbClr val="2FB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371600"/>
            <a:ext cx="99669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67737F"/>
                </a:solidFill>
                <a:latin typeface="Arial"/>
              </a:rPr>
              <a:t>Cek konfigurasi sebelum mengubah data.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73952"/>
            <a:ext cx="11002975" cy="9144"/>
          </a:xfrm>
          <a:prstGeom prst="rect">
            <a:avLst/>
          </a:prstGeom>
          <a:solidFill>
            <a:srgbClr val="D9E2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37960"/>
            <a:ext cx="5852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0" i="0">
                <a:solidFill>
                  <a:srgbClr val="67737F"/>
                </a:solidFill>
                <a:latin typeface="Arial"/>
              </a:rPr>
              <a:t>RoomBooking · Panduan Penggunaan CMS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66760" y="6537960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19" b="0" i="0">
                <a:solidFill>
                  <a:srgbClr val="67737F"/>
                </a:solidFill>
                <a:latin typeface="Arial"/>
              </a:rPr>
              <a:t>CMS 3.13.0 · APK 1.4.5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52760" y="6519672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67737F"/>
                </a:solidFill>
                <a:latin typeface="Arial"/>
              </a:rPr>
              <a:t>25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94360" y="1600200"/>
          <a:ext cx="10927080" cy="352044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834640"/>
                <a:gridCol w="4206240"/>
                <a:gridCol w="3886200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Gejala</a:t>
                      </a:r>
                    </a:p>
                  </a:txBody>
                  <a:tcPr marL="73152" marR="54864" marT="27432" marB="27432" anchor="ctr">
                    <a:solidFill>
                      <a:srgbClr val="1115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Penyebab umum</a:t>
                      </a:r>
                    </a:p>
                  </a:txBody>
                  <a:tcPr marL="73152" marR="54864" marT="27432" marB="27432" anchor="ctr">
                    <a:solidFill>
                      <a:srgbClr val="1115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Tindakan</a:t>
                      </a:r>
                    </a:p>
                  </a:txBody>
                  <a:tcPr marL="73152" marR="54864" marT="27432" marB="27432" anchor="ctr">
                    <a:solidFill>
                      <a:srgbClr val="11151B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3"/>
                          </a:solidFill>
                          <a:latin typeface="Arial"/>
                        </a:rPr>
                        <a:t>Menu hilang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3"/>
                          </a:solidFill>
                          <a:latin typeface="Arial"/>
                        </a:rPr>
                        <a:t>Matrix role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3"/>
                          </a:solidFill>
                          <a:latin typeface="Arial"/>
                        </a:rPr>
                        <a:t>Cek matrix; login ulang.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3"/>
                          </a:solidFill>
                          <a:latin typeface="Arial"/>
                        </a:rPr>
                        <a:t>Tidak bisa booking</a:t>
                      </a:r>
                    </a:p>
                  </a:txBody>
                  <a:tcPr marL="73152" marR="54864" marT="27432" marB="27432" anchor="ctr">
                    <a:solidFill>
                      <a:srgbClr val="F0F4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3"/>
                          </a:solidFill>
                          <a:latin typeface="Arial"/>
                        </a:rPr>
                        <a:t>Lantai/akun</a:t>
                      </a:r>
                    </a:p>
                  </a:txBody>
                  <a:tcPr marL="73152" marR="54864" marT="27432" marB="27432" anchor="ctr">
                    <a:solidFill>
                      <a:srgbClr val="F0F4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3"/>
                          </a:solidFill>
                          <a:latin typeface="Arial"/>
                        </a:rPr>
                        <a:t>Isi lantai; pilih ruangan lantai.</a:t>
                      </a:r>
                    </a:p>
                  </a:txBody>
                  <a:tcPr marL="73152" marR="54864" marT="27432" marB="27432" anchor="ctr">
                    <a:solidFill>
                      <a:srgbClr val="F0F4E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3"/>
                          </a:solidFill>
                          <a:latin typeface="Arial"/>
                        </a:rPr>
                        <a:t>Bentrok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3"/>
                          </a:solidFill>
                          <a:latin typeface="Arial"/>
                        </a:rPr>
                        <a:t>Slot dipakai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3"/>
                          </a:solidFill>
                          <a:latin typeface="Arial"/>
                        </a:rPr>
                        <a:t>Pilih alternatif/ubah jam.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3"/>
                          </a:solidFill>
                          <a:latin typeface="Arial"/>
                        </a:rPr>
                        <a:t>User tidak muncul</a:t>
                      </a:r>
                    </a:p>
                  </a:txBody>
                  <a:tcPr marL="73152" marR="54864" marT="27432" marB="27432" anchor="ctr">
                    <a:solidFill>
                      <a:srgbClr val="F0F4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3"/>
                          </a:solidFill>
                          <a:latin typeface="Arial"/>
                        </a:rPr>
                        <a:t>Filter/cari</a:t>
                      </a:r>
                    </a:p>
                  </a:txBody>
                  <a:tcPr marL="73152" marR="54864" marT="27432" marB="27432" anchor="ctr">
                    <a:solidFill>
                      <a:srgbClr val="F0F4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3"/>
                          </a:solidFill>
                          <a:latin typeface="Arial"/>
                        </a:rPr>
                        <a:t>Reset filter; cek role/lantai.</a:t>
                      </a:r>
                    </a:p>
                  </a:txBody>
                  <a:tcPr marL="73152" marR="54864" marT="27432" marB="27432" anchor="ctr">
                    <a:solidFill>
                      <a:srgbClr val="F0F4E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3"/>
                          </a:solidFill>
                          <a:latin typeface="Arial"/>
                        </a:rPr>
                        <a:t>Tablet offline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3"/>
                          </a:solidFill>
                          <a:latin typeface="Arial"/>
                        </a:rPr>
                        <a:t>Jaringan/URL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3"/>
                          </a:solidFill>
                          <a:latin typeface="Arial"/>
                        </a:rPr>
                        <a:t>Cek last seen; revoke/pairing.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3"/>
                          </a:solidFill>
                          <a:latin typeface="Arial"/>
                        </a:rPr>
                        <a:t>Backup gagal</a:t>
                      </a:r>
                    </a:p>
                  </a:txBody>
                  <a:tcPr marL="73152" marR="54864" marT="27432" marB="27432" anchor="ctr">
                    <a:solidFill>
                      <a:srgbClr val="F0F4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3"/>
                          </a:solidFill>
                          <a:latin typeface="Arial"/>
                        </a:rPr>
                        <a:t>Path/permission</a:t>
                      </a:r>
                    </a:p>
                  </a:txBody>
                  <a:tcPr marL="73152" marR="54864" marT="27432" marB="27432" anchor="ctr">
                    <a:solidFill>
                      <a:srgbClr val="F0F4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3"/>
                          </a:solidFill>
                          <a:latin typeface="Arial"/>
                        </a:rPr>
                        <a:t>Cek path writable; log server.</a:t>
                      </a:r>
                    </a:p>
                  </a:txBody>
                  <a:tcPr marL="73152" marR="54864" marT="27432" marB="27432" anchor="ctr">
                    <a:solidFill>
                      <a:srgbClr val="F0F4EF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594360" y="5623560"/>
            <a:ext cx="10927080" cy="777240"/>
          </a:xfrm>
          <a:prstGeom prst="roundRect">
            <a:avLst>
              <a:gd name="adj" fmla="val 8000"/>
            </a:avLst>
          </a:prstGeom>
          <a:solidFill>
            <a:srgbClr val="FFF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4360" y="5623560"/>
            <a:ext cx="64008" cy="777240"/>
          </a:xfrm>
          <a:prstGeom prst="rect">
            <a:avLst/>
          </a:prstGeom>
          <a:solidFill>
            <a:srgbClr val="E8A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5528" y="5760720"/>
            <a:ext cx="1056131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19" b="1" i="0">
                <a:solidFill>
                  <a:srgbClr val="7A5A00"/>
                </a:solidFill>
                <a:latin typeface="Arial"/>
              </a:rPr>
              <a:t>ESKALASI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8" y="6007608"/>
            <a:ext cx="1056131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19" b="0" i="0">
                <a:solidFill>
                  <a:srgbClr val="7A5A00"/>
                </a:solidFill>
                <a:latin typeface="Arial"/>
              </a:rPr>
              <a:t>Sertakan ruangan, waktu, user, dan screenshot. Jangan kirim sandi/kartu.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9875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2FB46A"/>
                </a:solidFill>
                <a:latin typeface="Arial"/>
              </a:rPr>
              <a:t>KEAMANAN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7899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F2933"/>
                </a:solidFill>
                <a:latin typeface="Arial"/>
              </a:rPr>
              <a:t>Keamanan akun &amp; data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61872"/>
            <a:ext cx="822960" cy="50292"/>
          </a:xfrm>
          <a:prstGeom prst="rect">
            <a:avLst/>
          </a:prstGeom>
          <a:solidFill>
            <a:srgbClr val="2FB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371600"/>
            <a:ext cx="99669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67737F"/>
                </a:solidFill>
                <a:latin typeface="Arial"/>
              </a:rPr>
              <a:t>Akses admin adalah akses fisik dan digital.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73952"/>
            <a:ext cx="11002975" cy="9144"/>
          </a:xfrm>
          <a:prstGeom prst="rect">
            <a:avLst/>
          </a:prstGeom>
          <a:solidFill>
            <a:srgbClr val="D9E2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37960"/>
            <a:ext cx="5852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0" i="0">
                <a:solidFill>
                  <a:srgbClr val="67737F"/>
                </a:solidFill>
                <a:latin typeface="Arial"/>
              </a:rPr>
              <a:t>RoomBooking · Panduan Penggunaan CMS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66760" y="6537960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19" b="0" i="0">
                <a:solidFill>
                  <a:srgbClr val="67737F"/>
                </a:solidFill>
                <a:latin typeface="Arial"/>
              </a:rPr>
              <a:t>CMS 3.13.0 · APK 1.4.5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52760" y="6519672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67737F"/>
                </a:solidFill>
                <a:latin typeface="Arial"/>
              </a:rPr>
              <a:t>26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94360" y="1645920"/>
          <a:ext cx="10881360" cy="301752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440680"/>
                <a:gridCol w="5440680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1070" b="1">
                          <a:solidFill>
                            <a:srgbClr val="FFFFFF"/>
                          </a:solidFill>
                          <a:latin typeface="Arial"/>
                        </a:rPr>
                        <a:t>Lakukan</a:t>
                      </a:r>
                    </a:p>
                  </a:txBody>
                  <a:tcPr marL="73152" marR="54864" marT="27432" marB="27432" anchor="ctr">
                    <a:solidFill>
                      <a:srgbClr val="1115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70" b="1">
                          <a:solidFill>
                            <a:srgbClr val="FFFFFF"/>
                          </a:solidFill>
                          <a:latin typeface="Arial"/>
                        </a:rPr>
                        <a:t>Jangan</a:t>
                      </a:r>
                    </a:p>
                  </a:txBody>
                  <a:tcPr marL="73152" marR="54864" marT="27432" marB="27432" anchor="ctr">
                    <a:solidFill>
                      <a:srgbClr val="11151B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070" b="0">
                          <a:solidFill>
                            <a:srgbClr val="1F2933"/>
                          </a:solidFill>
                          <a:latin typeface="Arial"/>
                        </a:rPr>
                        <a:t>Akun terpisah per orang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70" b="0">
                          <a:solidFill>
                            <a:srgbClr val="1F2933"/>
                          </a:solidFill>
                          <a:latin typeface="Arial"/>
                        </a:rPr>
                        <a:t>Meminjam akun admin/resepsionis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070" b="0">
                          <a:solidFill>
                            <a:srgbClr val="1F2933"/>
                          </a:solidFill>
                          <a:latin typeface="Arial"/>
                        </a:rPr>
                        <a:t>Logout di komputer bersama</a:t>
                      </a:r>
                    </a:p>
                  </a:txBody>
                  <a:tcPr marL="73152" marR="54864" marT="27432" marB="27432" anchor="ctr">
                    <a:solidFill>
                      <a:srgbClr val="F0F4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70" b="0">
                          <a:solidFill>
                            <a:srgbClr val="1F2933"/>
                          </a:solidFill>
                          <a:latin typeface="Arial"/>
                        </a:rPr>
                        <a:t>Menyimpan sandi di browser bersama</a:t>
                      </a:r>
                    </a:p>
                  </a:txBody>
                  <a:tcPr marL="73152" marR="54864" marT="27432" marB="27432" anchor="ctr">
                    <a:solidFill>
                      <a:srgbClr val="F0F4E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070" b="0">
                          <a:solidFill>
                            <a:srgbClr val="1F2933"/>
                          </a:solidFill>
                          <a:latin typeface="Arial"/>
                        </a:rPr>
                        <a:t>Laporkan kartu hilang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70" b="0">
                          <a:solidFill>
                            <a:srgbClr val="1F2933"/>
                          </a:solidFill>
                          <a:latin typeface="Arial"/>
                        </a:rPr>
                        <a:t>Memakai kartu lost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070" b="0">
                          <a:solidFill>
                            <a:srgbClr val="1F2933"/>
                          </a:solidFill>
                          <a:latin typeface="Arial"/>
                        </a:rPr>
                        <a:t>Cek audit perubahan sensitif</a:t>
                      </a:r>
                    </a:p>
                  </a:txBody>
                  <a:tcPr marL="73152" marR="54864" marT="27432" marB="27432" anchor="ctr">
                    <a:solidFill>
                      <a:srgbClr val="F0F4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70" b="0">
                          <a:solidFill>
                            <a:srgbClr val="1F2933"/>
                          </a:solidFill>
                          <a:latin typeface="Arial"/>
                        </a:rPr>
                        <a:t>Mengubah matrix lewat SQL</a:t>
                      </a:r>
                    </a:p>
                  </a:txBody>
                  <a:tcPr marL="73152" marR="54864" marT="27432" marB="27432" anchor="ctr">
                    <a:solidFill>
                      <a:srgbClr val="F0F4E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070" b="0">
                          <a:solidFill>
                            <a:srgbClr val="1F2933"/>
                          </a:solidFill>
                          <a:latin typeface="Arial"/>
                        </a:rPr>
                        <a:t>Simpan kartu master aman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70" b="0">
                          <a:solidFill>
                            <a:srgbClr val="1F2933"/>
                          </a:solidFill>
                          <a:latin typeface="Arial"/>
                        </a:rPr>
                        <a:t>Mengirim UID lewat chat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594360" y="4937760"/>
            <a:ext cx="10927080" cy="777240"/>
          </a:xfrm>
          <a:prstGeom prst="roundRect">
            <a:avLst>
              <a:gd name="adj" fmla="val 8000"/>
            </a:avLst>
          </a:prstGeom>
          <a:solidFill>
            <a:srgbClr val="E7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4360" y="4937760"/>
            <a:ext cx="64008" cy="777240"/>
          </a:xfrm>
          <a:prstGeom prst="rect">
            <a:avLst/>
          </a:prstGeom>
          <a:solidFill>
            <a:srgbClr val="2FB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5528" y="5074920"/>
            <a:ext cx="1056131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40" b="1" i="0">
                <a:solidFill>
                  <a:srgbClr val="1E6B3D"/>
                </a:solidFill>
                <a:latin typeface="Arial"/>
              </a:rPr>
              <a:t>PRIVASI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8" y="5321808"/>
            <a:ext cx="1056131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40" b="0" i="0">
                <a:solidFill>
                  <a:srgbClr val="1E6B3D"/>
                </a:solidFill>
                <a:latin typeface="Arial"/>
              </a:rPr>
              <a:t>Tablet hanya menampilkan nama depan + jam. Subjek lengkap hanya jika diaktifkan admin.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9875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2FB46A"/>
                </a:solidFill>
                <a:latin typeface="Arial"/>
              </a:rPr>
              <a:t>SERAH TERIMA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7899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F2933"/>
                </a:solidFill>
                <a:latin typeface="Arial"/>
              </a:rPr>
              <a:t>Sebelum CMS dipakai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61872"/>
            <a:ext cx="822960" cy="50292"/>
          </a:xfrm>
          <a:prstGeom prst="rect">
            <a:avLst/>
          </a:prstGeom>
          <a:solidFill>
            <a:srgbClr val="2FB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371600"/>
            <a:ext cx="99669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67737F"/>
                </a:solidFill>
                <a:latin typeface="Arial"/>
              </a:rPr>
              <a:t>Checklist singkat.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73952"/>
            <a:ext cx="11002975" cy="9144"/>
          </a:xfrm>
          <a:prstGeom prst="rect">
            <a:avLst/>
          </a:prstGeom>
          <a:solidFill>
            <a:srgbClr val="D9E2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37960"/>
            <a:ext cx="5852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0" i="0">
                <a:solidFill>
                  <a:srgbClr val="67737F"/>
                </a:solidFill>
                <a:latin typeface="Arial"/>
              </a:rPr>
              <a:t>RoomBooking · Panduan Penggunaan CMS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66760" y="6537960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19" b="0" i="0">
                <a:solidFill>
                  <a:srgbClr val="67737F"/>
                </a:solidFill>
                <a:latin typeface="Arial"/>
              </a:rPr>
              <a:t>CMS 3.13.0 · APK 1.4.5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52760" y="6519672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67737F"/>
                </a:solidFill>
                <a:latin typeface="Arial"/>
              </a:rPr>
              <a:t>27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645920"/>
            <a:ext cx="342900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2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1645920"/>
            <a:ext cx="64008" cy="1280160"/>
          </a:xfrm>
          <a:prstGeom prst="rect">
            <a:avLst/>
          </a:prstGeom>
          <a:solidFill>
            <a:srgbClr val="2FB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77240" y="1828800"/>
            <a:ext cx="292608" cy="292608"/>
          </a:xfrm>
          <a:prstGeom prst="ellipse">
            <a:avLst/>
          </a:prstGeom>
          <a:solidFill>
            <a:srgbClr val="2FB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61288" y="1828800"/>
            <a:ext cx="27157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F2933"/>
                </a:solidFill>
                <a:latin typeface="Arial"/>
              </a:rPr>
              <a:t>Akun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8" y="2249424"/>
            <a:ext cx="3044952" cy="5943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19" b="0" i="0">
                <a:solidFill>
                  <a:srgbClr val="67737F"/>
                </a:solidFill>
                <a:latin typeface="Arial"/>
              </a:rPr>
              <a:t>Super Admin/Admin/Resepsionis; lantai benar.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24528" y="1645920"/>
            <a:ext cx="342900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2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24528" y="1645920"/>
            <a:ext cx="64008" cy="1280160"/>
          </a:xfrm>
          <a:prstGeom prst="rect">
            <a:avLst/>
          </a:prstGeom>
          <a:solidFill>
            <a:srgbClr val="2FB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407408" y="1828800"/>
            <a:ext cx="292608" cy="292608"/>
          </a:xfrm>
          <a:prstGeom prst="ellipse">
            <a:avLst/>
          </a:prstGeom>
          <a:solidFill>
            <a:srgbClr val="2FB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91456" y="1828800"/>
            <a:ext cx="27157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F2933"/>
                </a:solidFill>
                <a:latin typeface="Arial"/>
              </a:rPr>
              <a:t>Ruangan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25696" y="2249424"/>
            <a:ext cx="3044952" cy="5943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19" b="0" i="0">
                <a:solidFill>
                  <a:srgbClr val="67737F"/>
                </a:solidFill>
                <a:latin typeface="Arial"/>
              </a:rPr>
              <a:t>Data &amp; kapasitas; tablet pairing.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54696" y="1645920"/>
            <a:ext cx="342900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2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854696" y="1645920"/>
            <a:ext cx="64008" cy="1280160"/>
          </a:xfrm>
          <a:prstGeom prst="rect">
            <a:avLst/>
          </a:prstGeom>
          <a:solidFill>
            <a:srgbClr val="2FB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37575" y="1828800"/>
            <a:ext cx="292608" cy="292608"/>
          </a:xfrm>
          <a:prstGeom prst="ellipse">
            <a:avLst/>
          </a:prstGeom>
          <a:solidFill>
            <a:srgbClr val="2FB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21624" y="1828800"/>
            <a:ext cx="27157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F2933"/>
                </a:solidFill>
                <a:latin typeface="Arial"/>
              </a:rPr>
              <a:t>Kartu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55864" y="2249424"/>
            <a:ext cx="3044952" cy="5943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19" b="0" i="0">
                <a:solidFill>
                  <a:srgbClr val="67737F"/>
                </a:solidFill>
                <a:latin typeface="Arial"/>
              </a:rPr>
              <a:t>Maks. 2 aktif; master aman.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3154680"/>
            <a:ext cx="342900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2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94360" y="3154680"/>
            <a:ext cx="64008" cy="1280160"/>
          </a:xfrm>
          <a:prstGeom prst="rect">
            <a:avLst/>
          </a:prstGeom>
          <a:solidFill>
            <a:srgbClr val="2FB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77240" y="3337560"/>
            <a:ext cx="292608" cy="292608"/>
          </a:xfrm>
          <a:prstGeom prst="ellipse">
            <a:avLst/>
          </a:prstGeom>
          <a:solidFill>
            <a:srgbClr val="2FB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61288" y="3337560"/>
            <a:ext cx="27157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F2933"/>
                </a:solidFill>
                <a:latin typeface="Arial"/>
              </a:rPr>
              <a:t>Pengaturan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5528" y="3758184"/>
            <a:ext cx="3044952" cy="5943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19" b="0" i="0">
                <a:solidFill>
                  <a:srgbClr val="67737F"/>
                </a:solidFill>
                <a:latin typeface="Arial"/>
              </a:rPr>
              <a:t>Timer, week start, backup, branding.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224528" y="3154680"/>
            <a:ext cx="342900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2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224528" y="3154680"/>
            <a:ext cx="64008" cy="1280160"/>
          </a:xfrm>
          <a:prstGeom prst="rect">
            <a:avLst/>
          </a:prstGeom>
          <a:solidFill>
            <a:srgbClr val="2FB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407408" y="3337560"/>
            <a:ext cx="292608" cy="292608"/>
          </a:xfrm>
          <a:prstGeom prst="ellipse">
            <a:avLst/>
          </a:prstGeom>
          <a:solidFill>
            <a:srgbClr val="2FB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91456" y="3337560"/>
            <a:ext cx="27157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F2933"/>
                </a:solidFill>
                <a:latin typeface="Arial"/>
              </a:rPr>
              <a:t>Matrix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25696" y="3758184"/>
            <a:ext cx="3044952" cy="5943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19" b="0" i="0">
                <a:solidFill>
                  <a:srgbClr val="67737F"/>
                </a:solidFill>
                <a:latin typeface="Arial"/>
              </a:rPr>
              <a:t>Menu per role sesuai.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854696" y="3154680"/>
            <a:ext cx="342900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2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854696" y="3154680"/>
            <a:ext cx="64008" cy="1280160"/>
          </a:xfrm>
          <a:prstGeom prst="rect">
            <a:avLst/>
          </a:prstGeom>
          <a:solidFill>
            <a:srgbClr val="2FB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8037575" y="3337560"/>
            <a:ext cx="292608" cy="292608"/>
          </a:xfrm>
          <a:prstGeom prst="ellipse">
            <a:avLst/>
          </a:prstGeom>
          <a:solidFill>
            <a:srgbClr val="2FB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21624" y="3337560"/>
            <a:ext cx="27157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F2933"/>
                </a:solidFill>
                <a:latin typeface="Arial"/>
              </a:rPr>
              <a:t>Uji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55864" y="3758184"/>
            <a:ext cx="3044952" cy="5943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19" b="0" i="0">
                <a:solidFill>
                  <a:srgbClr val="67737F"/>
                </a:solidFill>
                <a:latin typeface="Arial"/>
              </a:rPr>
              <a:t>Booking → check-in → report.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94360" y="4983480"/>
            <a:ext cx="10927080" cy="685800"/>
          </a:xfrm>
          <a:prstGeom prst="roundRect">
            <a:avLst>
              <a:gd name="adj" fmla="val 8000"/>
            </a:avLst>
          </a:prstGeom>
          <a:solidFill>
            <a:srgbClr val="E7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94360" y="4983480"/>
            <a:ext cx="64008" cy="685800"/>
          </a:xfrm>
          <a:prstGeom prst="rect">
            <a:avLst/>
          </a:prstGeom>
          <a:solidFill>
            <a:srgbClr val="2FB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95528" y="5120640"/>
            <a:ext cx="1056131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40" b="1" i="0">
                <a:solidFill>
                  <a:srgbClr val="1E6B3D"/>
                </a:solidFill>
                <a:latin typeface="Arial"/>
              </a:rPr>
              <a:t>LATIHAN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95528" y="5367528"/>
            <a:ext cx="1056131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40" b="0" i="0">
                <a:solidFill>
                  <a:srgbClr val="1E6B3D"/>
                </a:solidFill>
                <a:latin typeface="Arial"/>
              </a:rPr>
              <a:t>Minta admin/resepsionis mempraktikkan booking, edit/cancel, dan cari user.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5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822960"/>
            <a:ext cx="914400" cy="45720"/>
          </a:xfrm>
          <a:prstGeom prst="rect">
            <a:avLst/>
          </a:prstGeom>
          <a:solidFill>
            <a:srgbClr val="2FB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3DDC84"/>
                </a:solidFill>
                <a:latin typeface="Arial"/>
              </a:rPr>
              <a:t>PENUTUP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554480"/>
            <a:ext cx="8229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FFFFFF"/>
                </a:solidFill>
                <a:latin typeface="Arial"/>
              </a:rPr>
              <a:t>CMS siap dipakai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468880"/>
            <a:ext cx="76809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C9D3CC"/>
                </a:solidFill>
                <a:latin typeface="Arial"/>
              </a:rPr>
              <a:t>Simpan panduan ini di dekat meja admin/resepsionis.
Perbarui versi setiap ada rilis baru.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3657600"/>
            <a:ext cx="1325880" cy="274320"/>
          </a:xfrm>
          <a:prstGeom prst="roundRect">
            <a:avLst>
              <a:gd name="adj" fmla="val 50000"/>
            </a:avLst>
          </a:prstGeom>
          <a:solidFill>
            <a:srgbClr val="1E3B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/>
            <a:r>
              <a:rPr sz="950" b="1">
                <a:solidFill>
                  <a:srgbClr val="3DDC84"/>
                </a:solidFill>
                <a:latin typeface="Arial"/>
              </a:rPr>
              <a:t>CMS 3.13.0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39112" y="3657600"/>
            <a:ext cx="1600200" cy="274320"/>
          </a:xfrm>
          <a:prstGeom prst="roundRect">
            <a:avLst>
              <a:gd name="adj" fmla="val 50000"/>
            </a:avLst>
          </a:prstGeom>
          <a:solidFill>
            <a:srgbClr val="1E3B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/>
            <a:r>
              <a:rPr sz="950" b="1">
                <a:solidFill>
                  <a:srgbClr val="3DDC84"/>
                </a:solidFill>
                <a:latin typeface="Arial"/>
              </a:rPr>
              <a:t>APK 1.4.5 (26)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3657600"/>
            <a:ext cx="1691640" cy="274320"/>
          </a:xfrm>
          <a:prstGeom prst="roundRect">
            <a:avLst>
              <a:gd name="adj" fmla="val 50000"/>
            </a:avLst>
          </a:prstGeom>
          <a:solidFill>
            <a:srgbClr val="1E3B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/>
            <a:r>
              <a:rPr sz="950" b="1">
                <a:solidFill>
                  <a:srgbClr val="C9D3CC"/>
                </a:solidFill>
                <a:latin typeface="Arial"/>
              </a:rPr>
              <a:t>30 Oktober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466344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FFFFFF"/>
                </a:solidFill>
                <a:latin typeface="Arial"/>
              </a:rPr>
              <a:t>Pertanyaan: Administrator RoomBooking atau tim IT kantor.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26364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EA195"/>
                </a:solidFill>
                <a:latin typeface="Arial"/>
              </a:rPr>
              <a:t>The Prasada · RoomBooking</a:t>
            </a:r>
          </a:p>
        </p:txBody>
      </p:sp>
      <p:pic>
        <p:nvPicPr>
          <p:cNvPr id="11" name="Picture 10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0" y="5349240"/>
            <a:ext cx="1920240" cy="93603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